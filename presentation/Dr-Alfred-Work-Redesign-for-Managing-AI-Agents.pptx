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0:00-0:35
Open with the premise: the newest team member is software. The leadership question is no longer whether people will use AI, but how work, decision rights and accountability must change when AI can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0:35-1:25
This is not a future prediction. In roughly three months, healthcare professionals created more than 12,000 agents. The official speech is explicit: professionals build, deploy and manage them, and the doctor still owns the clinical decision. That is job redesign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1:25-2:25
WEF does not say every job becomes an agent manager. It says 86 percent of employers expect AI transformation, 77 percent plan to upskill, while 41 percent also anticipate reductions. My practitioner thesis is that directing, checking and governing agents will be added to many existing jobs. That transition has to be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2:25-3:15
In our own company, agents help with websites and software. We also support clients using agents in their software workflows. The reliable pattern is not hands-off automation. It is human framing, agent execution, human challenge and named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3:15-4:10
Our implementation tension is staff resistance. If we answer fear with a product demo or say "just upskill", we make it worse. The objection may be about accuracy, but the deeper questions are: am I still valued, what do I own, can I stop the system, and will I be blamed?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4:10-5:10
The redesigned role is not "watch the machine". It has explicit authority. The human sets intent, challenges evidence, approves consequential actions, handles exceptions and improves the workflow. This makes accountability visible and gives the employee a more meaningful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5:10-6:10
We created a simulator around GROW. The coaching move is to validate the emotion, explore reality and strengths, co-create a specific role, and finish with a safe experiment. Empathy is not decoration. It is what allows a threatened employee to engage with the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6:10-7:20
Show the six scenarios. They span fear, anger, anxiety, scepticism, accountability and ethical purpose. Demo one exchange: choose a person, respond as manager, and show how the staff member opens up only after empathy and a concrete redesign. The no-key demo mode makes this reliable in a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7:20-8:35
Sarah begins with the identity question: what do you still need me for? The turning point is not saying AI cannot replace her. It is acknowledging the rushed rollout, drawing out her market strengths and co-creating a role where she directs, challenges and approves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8:35-10:00
Close with three actions: map the work, set human accountability, and coach one person through a small experiment. The headline is the takeaway: do not deploy agents into yesterday's jobs. End on the question: if an AI agent joined your team tomorrow, who would coach the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straitstimes.com/tech/new-platform-to-create-ai-agents-available-to-all-public-healthcare-professionals" TargetMode="External"/><Relationship Id="rId3" Type="http://schemas.openxmlformats.org/officeDocument/2006/relationships/hyperlink" Target="https://www.moh.gov.sg/newsroom/speech-by-mr-tan-kiat-how--senior-minister-of-state--ministry-of-digital-development-and-information---ministry-of-health--at-himss26-apac-health-conference-and-exhibition--24-august-2026/" TargetMode="External"/><Relationship Id="rId1" Type="http://schemas.openxmlformats.org/officeDocument/2006/relationships/image" Target="../media/image-2-1.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weforum.org/publications/the-future-of-jobs-report-2025/in-full/4-workforce-strategies/"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tertiaryinfotech.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lfredang.github.io/AICoahcing/"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lfredang.github.io/AICoahcing/"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performanceconsultants.com/grow-model"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lfredang.github.io/AICoahcing/" TargetMode="External"/><Relationship Id="rId2" Type="http://schemas.openxmlformats.org/officeDocument/2006/relationships/hyperlink" Target="https://alfredang.github.io/AICoahcing/" TargetMode="External"/><Relationship Id="rId3" Type="http://schemas.openxmlformats.org/officeDocument/2006/relationships/hyperlink" Target="https://alfredang.github.io/AICoahcing/" TargetMode="External"/><Relationship Id="rId5" Type="http://schemas.openxmlformats.org/officeDocument/2006/relationships/hyperlink" Target="https://alfredang.github.io/AICoahcing/" TargetMode="External"/><Relationship Id="rId6" Type="http://schemas.openxmlformats.org/officeDocument/2006/relationships/hyperlink" Target="https://alfredang.github.io/AICoahcing/" TargetMode="External"/><Relationship Id="rId7" Type="http://schemas.openxmlformats.org/officeDocument/2006/relationships/hyperlink" Target="https://alfredang.github.io/AICoahcing/" TargetMode="External"/><Relationship Id="rId4" Type="http://schemas.openxmlformats.org/officeDocument/2006/relationships/image" Target="../media/image-8-1.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lfredang.github.io/AICoahcing/"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alfredang.github.io/AICoahcing/" TargetMode="External"/><Relationship Id="rId3" Type="http://schemas.openxmlformats.org/officeDocument/2006/relationships/hyperlink" Target="https://alfredang.github.io/AICoahcing/" TargetMode="External"/><Relationship Id="rId4" Type="http://schemas.openxmlformats.org/officeDocument/2006/relationships/hyperlink" Target="https://github.com/alfredang/AICoahcing" TargetMode="External"/><Relationship Id="rId1" Type="http://schemas.openxmlformats.org/officeDocument/2006/relationships/image" Target="../media/image-10-1.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2F57"/>
        </a:solidFill>
      </p:bgPr>
    </p:bg>
    <p:spTree>
      <p:nvGrpSpPr>
        <p:cNvPr id="1" name=""/>
        <p:cNvGrpSpPr/>
        <p:nvPr/>
      </p:nvGrpSpPr>
      <p:grpSpPr>
        <a:xfrm>
          <a:off x="0" y="0"/>
          <a:ext cx="0" cy="0"/>
          <a:chOff x="0" y="0"/>
          <a:chExt cx="0" cy="0"/>
        </a:xfrm>
      </p:grpSpPr>
      <p:sp>
        <p:nvSpPr>
          <p:cNvPr id="2" name="Text 0"/>
          <p:cNvSpPr/>
          <p:nvPr/>
        </p:nvSpPr>
        <p:spPr>
          <a:xfrm>
            <a:off x="658368" y="228600"/>
            <a:ext cx="3474720" cy="219456"/>
          </a:xfrm>
          <a:prstGeom prst="rect">
            <a:avLst/>
          </a:prstGeom>
          <a:noFill/>
          <a:ln/>
        </p:spPr>
        <p:txBody>
          <a:bodyPr wrap="square" lIns="0" tIns="0" rIns="0" bIns="0" rtlCol="0" anchor="ctr"/>
          <a:lstStyle/>
          <a:p>
            <a:pPr indent="0" marL="0">
              <a:buNone/>
            </a:pPr>
            <a:r>
              <a:rPr lang="en-US" sz="900" b="1" spc="170" kern="0" dirty="0">
                <a:solidFill>
                  <a:srgbClr val="55D6BE"/>
                </a:solidFill>
                <a:latin typeface="Arial" pitchFamily="34" charset="0"/>
                <a:ea typeface="Arial" pitchFamily="34" charset="-122"/>
                <a:cs typeface="Arial" pitchFamily="34" charset="-120"/>
              </a:rPr>
              <a:t>COP@MAKERSPACE - PRACTITIONER SHARING</a:t>
            </a:r>
            <a:endParaRPr lang="en-US" sz="900" dirty="0"/>
          </a:p>
        </p:txBody>
      </p:sp>
      <p:sp>
        <p:nvSpPr>
          <p:cNvPr id="3" name="Text 1"/>
          <p:cNvSpPr/>
          <p:nvPr/>
        </p:nvSpPr>
        <p:spPr>
          <a:xfrm>
            <a:off x="11109960" y="219456"/>
            <a:ext cx="530352" cy="219456"/>
          </a:xfrm>
          <a:prstGeom prst="rect">
            <a:avLst/>
          </a:prstGeom>
          <a:noFill/>
          <a:ln/>
        </p:spPr>
        <p:txBody>
          <a:bodyPr wrap="square" lIns="0" tIns="0" rIns="0" bIns="0" rtlCol="0" anchor="ctr"/>
          <a:lstStyle/>
          <a:p>
            <a:pPr algn="r" indent="0" marL="0">
              <a:buNone/>
            </a:pPr>
            <a:r>
              <a:rPr lang="en-US" sz="1000" b="1" dirty="0">
                <a:solidFill>
                  <a:srgbClr val="A7C9D2"/>
                </a:solidFill>
                <a:latin typeface="Arial" pitchFamily="34" charset="0"/>
                <a:ea typeface="Arial" pitchFamily="34" charset="-122"/>
                <a:cs typeface="Arial" pitchFamily="34" charset="-120"/>
              </a:rPr>
              <a:t>01</a:t>
            </a:r>
            <a:endParaRPr lang="en-US" sz="1000" dirty="0"/>
          </a:p>
        </p:txBody>
      </p:sp>
      <p:sp>
        <p:nvSpPr>
          <p:cNvPr id="4" name="Text 2"/>
          <p:cNvSpPr/>
          <p:nvPr/>
        </p:nvSpPr>
        <p:spPr>
          <a:xfrm>
            <a:off x="621792" y="1051560"/>
            <a:ext cx="5303520" cy="411480"/>
          </a:xfrm>
          <a:prstGeom prst="rect">
            <a:avLst/>
          </a:prstGeom>
          <a:noFill/>
          <a:ln/>
        </p:spPr>
        <p:txBody>
          <a:bodyPr wrap="square" lIns="0" tIns="0" rIns="0" bIns="0" rtlCol="0" anchor="ctr"/>
          <a:lstStyle/>
          <a:p>
            <a:pPr indent="0" marL="0">
              <a:buNone/>
            </a:pPr>
            <a:r>
              <a:rPr lang="en-US" sz="1800" b="1" spc="280" kern="0" dirty="0">
                <a:solidFill>
                  <a:srgbClr val="55D6BE"/>
                </a:solidFill>
              </a:rPr>
              <a:t>WORK REDESIGN FOR</a:t>
            </a:r>
            <a:endParaRPr lang="en-US" sz="1800" dirty="0"/>
          </a:p>
        </p:txBody>
      </p:sp>
      <p:sp>
        <p:nvSpPr>
          <p:cNvPr id="5" name="Text 3"/>
          <p:cNvSpPr/>
          <p:nvPr/>
        </p:nvSpPr>
        <p:spPr>
          <a:xfrm>
            <a:off x="594360" y="1508760"/>
            <a:ext cx="6035040" cy="1920240"/>
          </a:xfrm>
          <a:prstGeom prst="rect">
            <a:avLst/>
          </a:prstGeom>
          <a:noFill/>
          <a:ln/>
        </p:spPr>
        <p:txBody>
          <a:bodyPr wrap="square" lIns="0" tIns="0" rIns="0" bIns="0" rtlCol="0" anchor="ctr">
            <a:normAutofit/>
          </a:bodyPr>
          <a:lstStyle/>
          <a:p>
            <a:pPr indent="0" marL="0">
              <a:buNone/>
            </a:pPr>
            <a:r>
              <a:rPr lang="en-US" sz="5000" b="1" dirty="0">
                <a:solidFill>
                  <a:srgbClr val="FFFFFF"/>
                </a:solidFill>
              </a:rPr>
              <a:t>Managing</a:t>
            </a:r>
            <a:endParaRPr lang="en-US" sz="5000" dirty="0"/>
          </a:p>
          <a:p>
            <a:pPr indent="0" marL="0">
              <a:buNone/>
            </a:pPr>
            <a:r>
              <a:rPr lang="en-US" sz="5000" b="1" dirty="0">
                <a:solidFill>
                  <a:srgbClr val="FFFFFF"/>
                </a:solidFill>
              </a:rPr>
              <a:t>AI Agents</a:t>
            </a:r>
            <a:endParaRPr lang="en-US" sz="5000" dirty="0"/>
          </a:p>
        </p:txBody>
      </p:sp>
      <p:sp>
        <p:nvSpPr>
          <p:cNvPr id="6" name="Text 4"/>
          <p:cNvSpPr/>
          <p:nvPr/>
        </p:nvSpPr>
        <p:spPr>
          <a:xfrm>
            <a:off x="621792" y="3657600"/>
            <a:ext cx="5394960" cy="384048"/>
          </a:xfrm>
          <a:prstGeom prst="rect">
            <a:avLst/>
          </a:prstGeom>
          <a:noFill/>
          <a:ln/>
        </p:spPr>
        <p:txBody>
          <a:bodyPr wrap="square" lIns="0" tIns="0" rIns="0" bIns="0" rtlCol="0" anchor="ctr"/>
          <a:lstStyle/>
          <a:p>
            <a:pPr indent="0" marL="0">
              <a:buNone/>
            </a:pPr>
            <a:r>
              <a:rPr lang="en-US" sz="2000" dirty="0">
                <a:solidFill>
                  <a:srgbClr val="D8EDF1"/>
                </a:solidFill>
              </a:rPr>
              <a:t>From AI assistant to digital co-worker</a:t>
            </a:r>
            <a:endParaRPr lang="en-US" sz="2000" dirty="0"/>
          </a:p>
        </p:txBody>
      </p:sp>
      <p:sp>
        <p:nvSpPr>
          <p:cNvPr id="7" name="Text 5"/>
          <p:cNvSpPr/>
          <p:nvPr/>
        </p:nvSpPr>
        <p:spPr>
          <a:xfrm>
            <a:off x="621792" y="4828032"/>
            <a:ext cx="5394960" cy="685800"/>
          </a:xfrm>
          <a:prstGeom prst="rect">
            <a:avLst/>
          </a:prstGeom>
          <a:noFill/>
          <a:ln/>
        </p:spPr>
        <p:txBody>
          <a:bodyPr wrap="square" lIns="0" tIns="0" rIns="0" bIns="0" rtlCol="0" anchor="ctr">
            <a:normAutofit/>
          </a:bodyPr>
          <a:lstStyle/>
          <a:p>
            <a:pPr indent="0" marL="0">
              <a:buNone/>
            </a:pPr>
            <a:r>
              <a:rPr lang="en-US" sz="1450" dirty="0">
                <a:solidFill>
                  <a:srgbClr val="B9D7DE"/>
                </a:solidFill>
              </a:rPr>
              <a:t>Dr Alfred Ang  |  Tertiary Infotech Academy Pte Ltd</a:t>
            </a:r>
            <a:endParaRPr lang="en-US" sz="1450" dirty="0"/>
          </a:p>
          <a:p>
            <a:pPr indent="0" marL="0">
              <a:buNone/>
            </a:pPr>
            <a:r>
              <a:rPr lang="en-US" sz="1450" dirty="0">
                <a:solidFill>
                  <a:srgbClr val="B9D7DE"/>
                </a:solidFill>
              </a:rPr>
              <a:t>27 August 2026  |  Institute for Adult Learning</a:t>
            </a:r>
            <a:endParaRPr lang="en-US" sz="1450" dirty="0"/>
          </a:p>
        </p:txBody>
      </p:sp>
      <p:sp>
        <p:nvSpPr>
          <p:cNvPr id="8" name="Shape 6"/>
          <p:cNvSpPr/>
          <p:nvPr/>
        </p:nvSpPr>
        <p:spPr>
          <a:xfrm>
            <a:off x="8823960" y="3246120"/>
            <a:ext cx="-1645920" cy="-1783080"/>
          </a:xfrm>
          <a:prstGeom prst="line">
            <a:avLst/>
          </a:prstGeom>
          <a:noFill/>
          <a:ln w="17780">
            <a:solidFill>
              <a:srgbClr val="3FAF9E">
                <a:alpha val="85000"/>
              </a:srgbClr>
            </a:solidFill>
            <a:prstDash val="solid"/>
            <a:headEnd type="none"/>
            <a:tailEnd type="none"/>
          </a:ln>
        </p:spPr>
      </p:sp>
      <p:sp>
        <p:nvSpPr>
          <p:cNvPr id="9" name="Shape 7"/>
          <p:cNvSpPr/>
          <p:nvPr/>
        </p:nvSpPr>
        <p:spPr>
          <a:xfrm>
            <a:off x="6903720" y="1188720"/>
            <a:ext cx="548640" cy="548640"/>
          </a:xfrm>
          <a:prstGeom prst="ellipse">
            <a:avLst/>
          </a:prstGeom>
          <a:solidFill>
            <a:srgbClr val="15647A"/>
          </a:solidFill>
          <a:ln w="12700">
            <a:solidFill>
              <a:srgbClr val="15647A"/>
            </a:solidFill>
            <a:prstDash val="solid"/>
          </a:ln>
        </p:spPr>
      </p:sp>
      <p:sp>
        <p:nvSpPr>
          <p:cNvPr id="10" name="Text 8"/>
          <p:cNvSpPr/>
          <p:nvPr/>
        </p:nvSpPr>
        <p:spPr>
          <a:xfrm>
            <a:off x="6903720" y="1325880"/>
            <a:ext cx="548640" cy="21945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11" name="Shape 9"/>
          <p:cNvSpPr/>
          <p:nvPr/>
        </p:nvSpPr>
        <p:spPr>
          <a:xfrm>
            <a:off x="8823960" y="3246120"/>
            <a:ext cx="-137160" cy="-2103120"/>
          </a:xfrm>
          <a:prstGeom prst="line">
            <a:avLst/>
          </a:prstGeom>
          <a:noFill/>
          <a:ln w="17780">
            <a:solidFill>
              <a:srgbClr val="3FAF9E">
                <a:alpha val="85000"/>
              </a:srgbClr>
            </a:solidFill>
            <a:prstDash val="solid"/>
            <a:headEnd type="none"/>
            <a:tailEnd type="none"/>
          </a:ln>
        </p:spPr>
      </p:sp>
      <p:sp>
        <p:nvSpPr>
          <p:cNvPr id="12" name="Shape 10"/>
          <p:cNvSpPr/>
          <p:nvPr/>
        </p:nvSpPr>
        <p:spPr>
          <a:xfrm>
            <a:off x="8412480" y="868680"/>
            <a:ext cx="548640" cy="548640"/>
          </a:xfrm>
          <a:prstGeom prst="ellipse">
            <a:avLst/>
          </a:prstGeom>
          <a:solidFill>
            <a:srgbClr val="0C8A78"/>
          </a:solidFill>
          <a:ln w="12700">
            <a:solidFill>
              <a:srgbClr val="0C8A78"/>
            </a:solidFill>
            <a:prstDash val="solid"/>
          </a:ln>
        </p:spPr>
      </p:sp>
      <p:sp>
        <p:nvSpPr>
          <p:cNvPr id="13" name="Text 11"/>
          <p:cNvSpPr/>
          <p:nvPr/>
        </p:nvSpPr>
        <p:spPr>
          <a:xfrm>
            <a:off x="8412480" y="1005840"/>
            <a:ext cx="548640" cy="21945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14" name="Shape 12"/>
          <p:cNvSpPr/>
          <p:nvPr/>
        </p:nvSpPr>
        <p:spPr>
          <a:xfrm>
            <a:off x="8823960" y="3246120"/>
            <a:ext cx="1691640" cy="-1645920"/>
          </a:xfrm>
          <a:prstGeom prst="line">
            <a:avLst/>
          </a:prstGeom>
          <a:noFill/>
          <a:ln w="17780">
            <a:solidFill>
              <a:srgbClr val="3FAF9E">
                <a:alpha val="85000"/>
              </a:srgbClr>
            </a:solidFill>
            <a:prstDash val="solid"/>
            <a:headEnd type="none"/>
            <a:tailEnd type="none"/>
          </a:ln>
        </p:spPr>
      </p:sp>
      <p:sp>
        <p:nvSpPr>
          <p:cNvPr id="15" name="Shape 13"/>
          <p:cNvSpPr/>
          <p:nvPr/>
        </p:nvSpPr>
        <p:spPr>
          <a:xfrm>
            <a:off x="10241280" y="1325880"/>
            <a:ext cx="548640" cy="548640"/>
          </a:xfrm>
          <a:prstGeom prst="ellipse">
            <a:avLst/>
          </a:prstGeom>
          <a:solidFill>
            <a:srgbClr val="15647A"/>
          </a:solidFill>
          <a:ln w="12700">
            <a:solidFill>
              <a:srgbClr val="15647A"/>
            </a:solidFill>
            <a:prstDash val="solid"/>
          </a:ln>
        </p:spPr>
      </p:sp>
      <p:sp>
        <p:nvSpPr>
          <p:cNvPr id="16" name="Text 14"/>
          <p:cNvSpPr/>
          <p:nvPr/>
        </p:nvSpPr>
        <p:spPr>
          <a:xfrm>
            <a:off x="10241280" y="1463040"/>
            <a:ext cx="548640" cy="21945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17" name="Shape 15"/>
          <p:cNvSpPr/>
          <p:nvPr/>
        </p:nvSpPr>
        <p:spPr>
          <a:xfrm>
            <a:off x="8823960" y="3246120"/>
            <a:ext cx="2423160" cy="-182880"/>
          </a:xfrm>
          <a:prstGeom prst="line">
            <a:avLst/>
          </a:prstGeom>
          <a:noFill/>
          <a:ln w="17780">
            <a:solidFill>
              <a:srgbClr val="3FAF9E">
                <a:alpha val="85000"/>
              </a:srgbClr>
            </a:solidFill>
            <a:prstDash val="solid"/>
            <a:headEnd type="none"/>
            <a:tailEnd type="none"/>
          </a:ln>
        </p:spPr>
      </p:sp>
      <p:sp>
        <p:nvSpPr>
          <p:cNvPr id="18" name="Shape 16"/>
          <p:cNvSpPr/>
          <p:nvPr/>
        </p:nvSpPr>
        <p:spPr>
          <a:xfrm>
            <a:off x="10972800" y="2788920"/>
            <a:ext cx="548640" cy="548640"/>
          </a:xfrm>
          <a:prstGeom prst="ellipse">
            <a:avLst/>
          </a:prstGeom>
          <a:solidFill>
            <a:srgbClr val="0C8A78"/>
          </a:solidFill>
          <a:ln w="12700">
            <a:solidFill>
              <a:srgbClr val="0C8A78"/>
            </a:solidFill>
            <a:prstDash val="solid"/>
          </a:ln>
        </p:spPr>
      </p:sp>
      <p:sp>
        <p:nvSpPr>
          <p:cNvPr id="19" name="Text 17"/>
          <p:cNvSpPr/>
          <p:nvPr/>
        </p:nvSpPr>
        <p:spPr>
          <a:xfrm>
            <a:off x="10972800" y="2926080"/>
            <a:ext cx="548640" cy="21945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20" name="Shape 18"/>
          <p:cNvSpPr/>
          <p:nvPr/>
        </p:nvSpPr>
        <p:spPr>
          <a:xfrm>
            <a:off x="8823960" y="3246120"/>
            <a:ext cx="2011680" cy="1828800"/>
          </a:xfrm>
          <a:prstGeom prst="line">
            <a:avLst/>
          </a:prstGeom>
          <a:noFill/>
          <a:ln w="17780">
            <a:solidFill>
              <a:srgbClr val="3FAF9E">
                <a:alpha val="85000"/>
              </a:srgbClr>
            </a:solidFill>
            <a:prstDash val="solid"/>
            <a:headEnd type="none"/>
            <a:tailEnd type="none"/>
          </a:ln>
        </p:spPr>
      </p:sp>
      <p:sp>
        <p:nvSpPr>
          <p:cNvPr id="21" name="Shape 19"/>
          <p:cNvSpPr/>
          <p:nvPr/>
        </p:nvSpPr>
        <p:spPr>
          <a:xfrm>
            <a:off x="10561320" y="4800600"/>
            <a:ext cx="548640" cy="548640"/>
          </a:xfrm>
          <a:prstGeom prst="ellipse">
            <a:avLst/>
          </a:prstGeom>
          <a:solidFill>
            <a:srgbClr val="15647A"/>
          </a:solidFill>
          <a:ln w="12700">
            <a:solidFill>
              <a:srgbClr val="15647A"/>
            </a:solidFill>
            <a:prstDash val="solid"/>
          </a:ln>
        </p:spPr>
      </p:sp>
      <p:sp>
        <p:nvSpPr>
          <p:cNvPr id="22" name="Text 20"/>
          <p:cNvSpPr/>
          <p:nvPr/>
        </p:nvSpPr>
        <p:spPr>
          <a:xfrm>
            <a:off x="10561320" y="4937760"/>
            <a:ext cx="548640" cy="21945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23" name="Shape 21"/>
          <p:cNvSpPr/>
          <p:nvPr/>
        </p:nvSpPr>
        <p:spPr>
          <a:xfrm>
            <a:off x="8823960" y="3246120"/>
            <a:ext cx="365760" cy="2514600"/>
          </a:xfrm>
          <a:prstGeom prst="line">
            <a:avLst/>
          </a:prstGeom>
          <a:noFill/>
          <a:ln w="17780">
            <a:solidFill>
              <a:srgbClr val="3FAF9E">
                <a:alpha val="85000"/>
              </a:srgbClr>
            </a:solidFill>
            <a:prstDash val="solid"/>
            <a:headEnd type="none"/>
            <a:tailEnd type="none"/>
          </a:ln>
        </p:spPr>
      </p:sp>
      <p:sp>
        <p:nvSpPr>
          <p:cNvPr id="24" name="Shape 22"/>
          <p:cNvSpPr/>
          <p:nvPr/>
        </p:nvSpPr>
        <p:spPr>
          <a:xfrm>
            <a:off x="8915400" y="5486400"/>
            <a:ext cx="548640" cy="548640"/>
          </a:xfrm>
          <a:prstGeom prst="ellipse">
            <a:avLst/>
          </a:prstGeom>
          <a:solidFill>
            <a:srgbClr val="0C8A78"/>
          </a:solidFill>
          <a:ln w="12700">
            <a:solidFill>
              <a:srgbClr val="0C8A78"/>
            </a:solidFill>
            <a:prstDash val="solid"/>
          </a:ln>
        </p:spPr>
      </p:sp>
      <p:sp>
        <p:nvSpPr>
          <p:cNvPr id="25" name="Text 23"/>
          <p:cNvSpPr/>
          <p:nvPr/>
        </p:nvSpPr>
        <p:spPr>
          <a:xfrm>
            <a:off x="8915400" y="5623560"/>
            <a:ext cx="548640" cy="21945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26" name="Shape 24"/>
          <p:cNvSpPr/>
          <p:nvPr/>
        </p:nvSpPr>
        <p:spPr>
          <a:xfrm>
            <a:off x="8823960" y="3246120"/>
            <a:ext cx="-1645920" cy="1783080"/>
          </a:xfrm>
          <a:prstGeom prst="line">
            <a:avLst/>
          </a:prstGeom>
          <a:noFill/>
          <a:ln w="17780">
            <a:solidFill>
              <a:srgbClr val="3FAF9E">
                <a:alpha val="85000"/>
              </a:srgbClr>
            </a:solidFill>
            <a:prstDash val="solid"/>
            <a:headEnd type="none"/>
            <a:tailEnd type="none"/>
          </a:ln>
        </p:spPr>
      </p:sp>
      <p:sp>
        <p:nvSpPr>
          <p:cNvPr id="27" name="Shape 25"/>
          <p:cNvSpPr/>
          <p:nvPr/>
        </p:nvSpPr>
        <p:spPr>
          <a:xfrm>
            <a:off x="6903720" y="4754880"/>
            <a:ext cx="548640" cy="548640"/>
          </a:xfrm>
          <a:prstGeom prst="ellipse">
            <a:avLst/>
          </a:prstGeom>
          <a:solidFill>
            <a:srgbClr val="15647A"/>
          </a:solidFill>
          <a:ln w="12700">
            <a:solidFill>
              <a:srgbClr val="15647A"/>
            </a:solidFill>
            <a:prstDash val="solid"/>
          </a:ln>
        </p:spPr>
      </p:sp>
      <p:sp>
        <p:nvSpPr>
          <p:cNvPr id="28" name="Text 26"/>
          <p:cNvSpPr/>
          <p:nvPr/>
        </p:nvSpPr>
        <p:spPr>
          <a:xfrm>
            <a:off x="6903720" y="4892040"/>
            <a:ext cx="548640" cy="21945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29" name="Shape 27"/>
          <p:cNvSpPr/>
          <p:nvPr/>
        </p:nvSpPr>
        <p:spPr>
          <a:xfrm>
            <a:off x="8823960" y="3246120"/>
            <a:ext cx="-2194560" cy="-228600"/>
          </a:xfrm>
          <a:prstGeom prst="line">
            <a:avLst/>
          </a:prstGeom>
          <a:noFill/>
          <a:ln w="17780">
            <a:solidFill>
              <a:srgbClr val="3FAF9E">
                <a:alpha val="85000"/>
              </a:srgbClr>
            </a:solidFill>
            <a:prstDash val="solid"/>
            <a:headEnd type="none"/>
            <a:tailEnd type="none"/>
          </a:ln>
        </p:spPr>
      </p:sp>
      <p:sp>
        <p:nvSpPr>
          <p:cNvPr id="30" name="Shape 28"/>
          <p:cNvSpPr/>
          <p:nvPr/>
        </p:nvSpPr>
        <p:spPr>
          <a:xfrm>
            <a:off x="6355080" y="2743200"/>
            <a:ext cx="548640" cy="548640"/>
          </a:xfrm>
          <a:prstGeom prst="ellipse">
            <a:avLst/>
          </a:prstGeom>
          <a:solidFill>
            <a:srgbClr val="0C8A78"/>
          </a:solidFill>
          <a:ln w="12700">
            <a:solidFill>
              <a:srgbClr val="0C8A78"/>
            </a:solidFill>
            <a:prstDash val="solid"/>
          </a:ln>
        </p:spPr>
      </p:sp>
      <p:sp>
        <p:nvSpPr>
          <p:cNvPr id="31" name="Text 29"/>
          <p:cNvSpPr/>
          <p:nvPr/>
        </p:nvSpPr>
        <p:spPr>
          <a:xfrm>
            <a:off x="6355080" y="2880360"/>
            <a:ext cx="548640" cy="21945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32" name="Shape 30"/>
          <p:cNvSpPr/>
          <p:nvPr/>
        </p:nvSpPr>
        <p:spPr>
          <a:xfrm>
            <a:off x="8220456" y="2642616"/>
            <a:ext cx="1207008" cy="1207008"/>
          </a:xfrm>
          <a:prstGeom prst="ellipse">
            <a:avLst/>
          </a:prstGeom>
          <a:solidFill>
            <a:srgbClr val="FFFFFF"/>
          </a:solidFill>
          <a:ln w="50800">
            <a:solidFill>
              <a:srgbClr val="F4B942"/>
            </a:solidFill>
            <a:prstDash val="solid"/>
          </a:ln>
        </p:spPr>
      </p:sp>
      <p:sp>
        <p:nvSpPr>
          <p:cNvPr id="33" name="Text 31"/>
          <p:cNvSpPr/>
          <p:nvPr/>
        </p:nvSpPr>
        <p:spPr>
          <a:xfrm>
            <a:off x="8321040" y="3026664"/>
            <a:ext cx="1005840" cy="502920"/>
          </a:xfrm>
          <a:prstGeom prst="rect">
            <a:avLst/>
          </a:prstGeom>
          <a:noFill/>
          <a:ln/>
        </p:spPr>
        <p:txBody>
          <a:bodyPr wrap="square" lIns="0" tIns="0" rIns="0" bIns="0" rtlCol="0" anchor="ctr">
            <a:normAutofit/>
          </a:bodyPr>
          <a:lstStyle/>
          <a:p>
            <a:pPr algn="ctr" indent="0" marL="0">
              <a:buNone/>
            </a:pPr>
            <a:r>
              <a:rPr lang="en-US" sz="1300" b="1" dirty="0">
                <a:solidFill>
                  <a:srgbClr val="092F57"/>
                </a:solidFill>
              </a:rPr>
              <a:t>HUMAN</a:t>
            </a:r>
            <a:endParaRPr lang="en-US" sz="1300" dirty="0"/>
          </a:p>
          <a:p>
            <a:pPr algn="ctr" indent="0" marL="0">
              <a:buNone/>
            </a:pPr>
            <a:r>
              <a:rPr lang="en-US" sz="1300" b="1" dirty="0">
                <a:solidFill>
                  <a:srgbClr val="092F57"/>
                </a:solidFill>
              </a:rPr>
              <a:t>OWNER</a:t>
            </a:r>
            <a:endParaRPr lang="en-US" sz="1300" dirty="0"/>
          </a:p>
        </p:txBody>
      </p:sp>
      <p:sp>
        <p:nvSpPr>
          <p:cNvPr id="34" name="Text 32"/>
          <p:cNvSpPr/>
          <p:nvPr/>
        </p:nvSpPr>
        <p:spPr>
          <a:xfrm>
            <a:off x="6446520" y="6080760"/>
            <a:ext cx="4800600" cy="256032"/>
          </a:xfrm>
          <a:prstGeom prst="rect">
            <a:avLst/>
          </a:prstGeom>
          <a:noFill/>
          <a:ln/>
        </p:spPr>
        <p:txBody>
          <a:bodyPr wrap="square" lIns="0" tIns="0" rIns="0" bIns="0" rtlCol="0" anchor="ctr"/>
          <a:lstStyle/>
          <a:p>
            <a:pPr algn="ctr" indent="0" marL="0">
              <a:buNone/>
            </a:pPr>
            <a:r>
              <a:rPr lang="en-US" sz="1100" b="1" spc="120" kern="0" dirty="0">
                <a:solidFill>
                  <a:srgbClr val="55D6BE"/>
                </a:solidFill>
              </a:rPr>
              <a:t>SCOPE  &gt;  CHALLENGE  &gt;  DECIDE</a:t>
            </a:r>
            <a:endParaRPr lang="en-US" sz="1100" dirty="0"/>
          </a:p>
        </p:txBody>
      </p:sp>
      <p:sp>
        <p:nvSpPr>
          <p:cNvPr id="35" name="Text 33"/>
          <p:cNvSpPr/>
          <p:nvPr/>
        </p:nvSpPr>
        <p:spPr>
          <a:xfrm>
            <a:off x="9464040" y="6446520"/>
            <a:ext cx="2176272" cy="201168"/>
          </a:xfrm>
          <a:prstGeom prst="rect">
            <a:avLst/>
          </a:prstGeom>
          <a:noFill/>
          <a:ln/>
        </p:spPr>
        <p:txBody>
          <a:bodyPr wrap="square" lIns="0" tIns="0" rIns="0" bIns="0" rtlCol="0" anchor="ctr"/>
          <a:lstStyle/>
          <a:p>
            <a:pPr algn="r" indent="0" marL="0">
              <a:buNone/>
            </a:pPr>
            <a:r>
              <a:rPr lang="en-US" sz="850" b="1" spc="60" kern="0" dirty="0">
                <a:solidFill>
                  <a:srgbClr val="55D6BE"/>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sp>
      <p:sp>
        <p:nvSpPr>
          <p:cNvPr id="3" name="Text 1"/>
          <p:cNvSpPr/>
          <p:nvPr/>
        </p:nvSpPr>
        <p:spPr>
          <a:xfrm>
            <a:off x="658368" y="228600"/>
            <a:ext cx="3474720" cy="219456"/>
          </a:xfrm>
          <a:prstGeom prst="rect">
            <a:avLst/>
          </a:prstGeom>
          <a:noFill/>
          <a:ln/>
        </p:spPr>
        <p:txBody>
          <a:bodyPr wrap="square" lIns="0" tIns="0" rIns="0" bIns="0" rtlCol="0" anchor="ctr"/>
          <a:lstStyle/>
          <a:p>
            <a:pPr indent="0" marL="0">
              <a:buNone/>
            </a:pPr>
            <a:r>
              <a:rPr lang="en-US" sz="900" b="1" spc="170" kern="0" dirty="0">
                <a:solidFill>
                  <a:srgbClr val="0B6E75"/>
                </a:solidFill>
                <a:latin typeface="Arial" pitchFamily="34" charset="0"/>
                <a:ea typeface="Arial" pitchFamily="34" charset="-122"/>
                <a:cs typeface="Arial" pitchFamily="34" charset="-120"/>
              </a:rPr>
              <a:t>THE SIGNAL</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algn="r" indent="0" marL="0">
              <a:buNone/>
            </a:pPr>
            <a:r>
              <a:rPr lang="en-US" sz="1000" b="1" dirty="0">
                <a:solidFill>
                  <a:srgbClr val="728197"/>
                </a:solidFill>
                <a:latin typeface="Arial" pitchFamily="34" charset="0"/>
                <a:ea typeface="Arial" pitchFamily="34" charset="-122"/>
                <a:cs typeface="Arial" pitchFamily="34" charset="-120"/>
              </a:rPr>
              <a:t>02</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indent="0" marL="0">
              <a:buNone/>
            </a:pPr>
            <a:r>
              <a:rPr lang="en-US" sz="2900" b="1" dirty="0">
                <a:solidFill>
                  <a:srgbClr val="12233F"/>
                </a:solidFill>
                <a:latin typeface="Arial" pitchFamily="34" charset="0"/>
                <a:ea typeface="Arial" pitchFamily="34" charset="-122"/>
                <a:cs typeface="Arial" pitchFamily="34" charset="-120"/>
              </a:rPr>
              <a:t>Singapore just made agent management a frontline skill.</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indent="0" marL="0">
              <a:buNone/>
            </a:pPr>
            <a:r>
              <a:rPr lang="en-US" sz="1500" dirty="0">
                <a:solidFill>
                  <a:srgbClr val="4F6176"/>
                </a:solidFill>
                <a:latin typeface="Arial" pitchFamily="34" charset="0"/>
                <a:ea typeface="Arial" pitchFamily="34" charset="-122"/>
                <a:cs typeface="Arial" pitchFamily="34" charset="-120"/>
              </a:rPr>
              <a:t>AgentSea shows that non-technical professionals are already building, deploying and managing agents.</a:t>
            </a:r>
            <a:endParaRPr lang="en-US" sz="1500" dirty="0"/>
          </a:p>
        </p:txBody>
      </p:sp>
      <p:sp>
        <p:nvSpPr>
          <p:cNvPr id="7" name="Shape 5"/>
          <p:cNvSpPr/>
          <p:nvPr/>
        </p:nvSpPr>
        <p:spPr>
          <a:xfrm>
            <a:off x="594360" y="1719072"/>
            <a:ext cx="4663440" cy="4315968"/>
          </a:xfrm>
          <a:prstGeom prst="roundRect">
            <a:avLst>
              <a:gd name="adj" fmla="val 2119"/>
            </a:avLst>
          </a:prstGeom>
          <a:solidFill>
            <a:srgbClr val="092F57"/>
          </a:solidFill>
          <a:ln w="12700">
            <a:solidFill>
              <a:srgbClr val="092F57"/>
            </a:solidFill>
            <a:prstDash val="solid"/>
          </a:ln>
          <a:effectLst>
            <a:outerShdw sx="100000" sy="100000" kx="0" ky="0" algn="bl" rotWithShape="0" blurRad="25400" dist="50800" dir="2700000">
              <a:srgbClr val="0B1F33">
                <a:alpha val="12000"/>
              </a:srgbClr>
            </a:outerShdw>
          </a:effectLst>
        </p:spPr>
      </p:sp>
      <p:sp>
        <p:nvSpPr>
          <p:cNvPr id="8" name="Text 6"/>
          <p:cNvSpPr/>
          <p:nvPr/>
        </p:nvSpPr>
        <p:spPr>
          <a:xfrm>
            <a:off x="868680" y="1993392"/>
            <a:ext cx="4069080" cy="914400"/>
          </a:xfrm>
          <a:prstGeom prst="rect">
            <a:avLst/>
          </a:prstGeom>
          <a:noFill/>
          <a:ln/>
        </p:spPr>
        <p:txBody>
          <a:bodyPr wrap="square" lIns="0" tIns="0" rIns="0" bIns="0" rtlCol="0" anchor="ctr">
            <a:normAutofit/>
          </a:bodyPr>
          <a:lstStyle/>
          <a:p>
            <a:pPr indent="0" marL="0">
              <a:buNone/>
            </a:pPr>
            <a:r>
              <a:rPr lang="en-US" sz="6100" b="1" dirty="0">
                <a:solidFill>
                  <a:srgbClr val="55D6BE"/>
                </a:solidFill>
              </a:rPr>
              <a:t>12,000+</a:t>
            </a:r>
            <a:endParaRPr lang="en-US" sz="6100" dirty="0"/>
          </a:p>
        </p:txBody>
      </p:sp>
      <p:sp>
        <p:nvSpPr>
          <p:cNvPr id="9" name="Text 7"/>
          <p:cNvSpPr/>
          <p:nvPr/>
        </p:nvSpPr>
        <p:spPr>
          <a:xfrm>
            <a:off x="877824" y="2880360"/>
            <a:ext cx="3566160" cy="384048"/>
          </a:xfrm>
          <a:prstGeom prst="rect">
            <a:avLst/>
          </a:prstGeom>
          <a:noFill/>
          <a:ln/>
        </p:spPr>
        <p:txBody>
          <a:bodyPr wrap="square" lIns="0" tIns="0" rIns="0" bIns="0" rtlCol="0" anchor="ctr"/>
          <a:lstStyle/>
          <a:p>
            <a:pPr indent="0" marL="0">
              <a:buNone/>
            </a:pPr>
            <a:r>
              <a:rPr lang="en-US" sz="2300" b="1" dirty="0">
                <a:solidFill>
                  <a:srgbClr val="FFFFFF"/>
                </a:solidFill>
              </a:rPr>
              <a:t>AI agents created</a:t>
            </a:r>
            <a:endParaRPr lang="en-US" sz="2300" dirty="0"/>
          </a:p>
        </p:txBody>
      </p:sp>
      <p:sp>
        <p:nvSpPr>
          <p:cNvPr id="10" name="Text 8"/>
          <p:cNvSpPr/>
          <p:nvPr/>
        </p:nvSpPr>
        <p:spPr>
          <a:xfrm>
            <a:off x="896112" y="3346704"/>
            <a:ext cx="3794760" cy="786384"/>
          </a:xfrm>
          <a:prstGeom prst="rect">
            <a:avLst/>
          </a:prstGeom>
          <a:noFill/>
          <a:ln/>
        </p:spPr>
        <p:txBody>
          <a:bodyPr wrap="square" lIns="0" tIns="0" rIns="0" bIns="0" rtlCol="0" anchor="ctr">
            <a:normAutofit/>
          </a:bodyPr>
          <a:lstStyle/>
          <a:p>
            <a:pPr indent="0" marL="0">
              <a:buNone/>
            </a:pPr>
            <a:r>
              <a:rPr lang="en-US" sz="1700" dirty="0">
                <a:solidFill>
                  <a:srgbClr val="D8EDF1"/>
                </a:solidFill>
              </a:rPr>
              <a:t>by Singapore public healthcare professionals since the platform launched in late May 2026</a:t>
            </a:r>
            <a:endParaRPr lang="en-US" sz="1700" dirty="0"/>
          </a:p>
        </p:txBody>
      </p:sp>
      <p:sp>
        <p:nvSpPr>
          <p:cNvPr id="11" name="Shape 9"/>
          <p:cNvSpPr/>
          <p:nvPr/>
        </p:nvSpPr>
        <p:spPr>
          <a:xfrm>
            <a:off x="896112" y="4572000"/>
            <a:ext cx="1572768" cy="310896"/>
          </a:xfrm>
          <a:prstGeom prst="roundRect">
            <a:avLst>
              <a:gd name="adj" fmla="val 47059"/>
            </a:avLst>
          </a:prstGeom>
          <a:solidFill>
            <a:srgbClr val="0C8A78"/>
          </a:solidFill>
          <a:ln w="12700">
            <a:solidFill>
              <a:srgbClr val="0C8A78"/>
            </a:solidFill>
            <a:prstDash val="solid"/>
          </a:ln>
        </p:spPr>
      </p:sp>
      <p:sp>
        <p:nvSpPr>
          <p:cNvPr id="12" name="Text 10"/>
          <p:cNvSpPr/>
          <p:nvPr/>
        </p:nvSpPr>
        <p:spPr>
          <a:xfrm>
            <a:off x="896112" y="4590288"/>
            <a:ext cx="1572768" cy="20116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NO CODE REQUIRED</a:t>
            </a:r>
            <a:endParaRPr lang="en-US" sz="1000" dirty="0"/>
          </a:p>
        </p:txBody>
      </p:sp>
      <p:sp>
        <p:nvSpPr>
          <p:cNvPr id="13" name="Shape 11"/>
          <p:cNvSpPr/>
          <p:nvPr/>
        </p:nvSpPr>
        <p:spPr>
          <a:xfrm>
            <a:off x="2587752" y="4572000"/>
            <a:ext cx="1417320" cy="310896"/>
          </a:xfrm>
          <a:prstGeom prst="roundRect">
            <a:avLst>
              <a:gd name="adj" fmla="val 47059"/>
            </a:avLst>
          </a:prstGeom>
          <a:solidFill>
            <a:srgbClr val="F4B942"/>
          </a:solidFill>
          <a:ln w="12700">
            <a:solidFill>
              <a:srgbClr val="F4B942"/>
            </a:solidFill>
            <a:prstDash val="solid"/>
          </a:ln>
        </p:spPr>
      </p:sp>
      <p:sp>
        <p:nvSpPr>
          <p:cNvPr id="14" name="Text 12"/>
          <p:cNvSpPr/>
          <p:nvPr/>
        </p:nvSpPr>
        <p:spPr>
          <a:xfrm>
            <a:off x="2587752" y="4590288"/>
            <a:ext cx="1417320" cy="201168"/>
          </a:xfrm>
          <a:prstGeom prst="rect">
            <a:avLst/>
          </a:prstGeom>
          <a:noFill/>
          <a:ln/>
        </p:spPr>
        <p:txBody>
          <a:bodyPr wrap="square" lIns="0" tIns="0" rIns="0" bIns="0" rtlCol="0" anchor="ctr">
            <a:normAutofit/>
          </a:bodyPr>
          <a:lstStyle/>
          <a:p>
            <a:pPr algn="ctr" indent="0" marL="0">
              <a:buNone/>
            </a:pPr>
            <a:r>
              <a:rPr lang="en-US" sz="1000" b="1" dirty="0">
                <a:solidFill>
                  <a:srgbClr val="092F57"/>
                </a:solidFill>
                <a:latin typeface="Arial" pitchFamily="34" charset="0"/>
                <a:ea typeface="Arial" pitchFamily="34" charset="-122"/>
                <a:cs typeface="Arial" pitchFamily="34" charset="-120"/>
              </a:rPr>
              <a:t>HUMAN REVIEW</a:t>
            </a:r>
            <a:endParaRPr lang="en-US" sz="1000" dirty="0"/>
          </a:p>
        </p:txBody>
      </p:sp>
      <p:sp>
        <p:nvSpPr>
          <p:cNvPr id="15" name="Text 13"/>
          <p:cNvSpPr/>
          <p:nvPr/>
        </p:nvSpPr>
        <p:spPr>
          <a:xfrm>
            <a:off x="896112" y="5138928"/>
            <a:ext cx="3794760" cy="475488"/>
          </a:xfrm>
          <a:prstGeom prst="rect">
            <a:avLst/>
          </a:prstGeom>
          <a:noFill/>
          <a:ln/>
        </p:spPr>
        <p:txBody>
          <a:bodyPr wrap="square" lIns="0" tIns="0" rIns="0" bIns="0" rtlCol="0" anchor="ctr">
            <a:normAutofit/>
          </a:bodyPr>
          <a:lstStyle/>
          <a:p>
            <a:pPr indent="0" marL="0">
              <a:buNone/>
            </a:pPr>
            <a:r>
              <a:rPr lang="en-US" sz="1400" b="1" dirty="0">
                <a:solidFill>
                  <a:srgbClr val="FFFFFF"/>
                </a:solidFill>
              </a:rPr>
              <a:t>MOH: when AI can act, assurance must shift from outputs to actions.</a:t>
            </a:r>
            <a:endParaRPr lang="en-US" sz="1400" dirty="0"/>
          </a:p>
        </p:txBody>
      </p:sp>
      <p:sp>
        <p:nvSpPr>
          <p:cNvPr id="16" name="Shape 14"/>
          <p:cNvSpPr/>
          <p:nvPr/>
        </p:nvSpPr>
        <p:spPr>
          <a:xfrm>
            <a:off x="5577840" y="1719072"/>
            <a:ext cx="5989320" cy="4315968"/>
          </a:xfrm>
          <a:prstGeom prst="roundRect">
            <a:avLst>
              <a:gd name="adj" fmla="val 2119"/>
            </a:avLst>
          </a:prstGeom>
          <a:solidFill>
            <a:srgbClr val="FFFFFF"/>
          </a:solidFill>
          <a:ln w="12700">
            <a:solidFill>
              <a:srgbClr val="D7E1EA"/>
            </a:solidFill>
            <a:prstDash val="solid"/>
          </a:ln>
          <a:effectLst>
            <a:outerShdw sx="100000" sy="100000" kx="0" ky="0" algn="bl" rotWithShape="0" blurRad="25400" dist="50800" dir="2700000">
              <a:srgbClr val="0B1F33">
                <a:alpha val="12000"/>
              </a:srgbClr>
            </a:outerShdw>
          </a:effectLst>
        </p:spPr>
      </p:sp>
      <p:pic>
        <p:nvPicPr>
          <p:cNvPr id="17" name="Image 0" descr="Straits Times report showing a clinician with an AgentSea clinical assistant">
            <a:hlinkClick r:id="rId2" tooltip=""/>
          </p:cNvPr>
          <p:cNvPicPr>
            <a:picLocks noChangeAspect="1"/>
          </p:cNvPicPr>
          <p:nvPr/>
        </p:nvPicPr>
        <p:blipFill>
          <a:blip r:embed="rId1"/>
          <a:stretch>
            <a:fillRect/>
          </a:stretch>
        </p:blipFill>
        <p:spPr>
          <a:xfrm>
            <a:off x="6327648" y="1956816"/>
            <a:ext cx="4498848" cy="3639312"/>
          </a:xfrm>
          <a:prstGeom prst="rect">
            <a:avLst/>
          </a:prstGeom>
        </p:spPr>
      </p:pic>
      <p:sp>
        <p:nvSpPr>
          <p:cNvPr id="18" name="Text 15"/>
          <p:cNvSpPr/>
          <p:nvPr/>
        </p:nvSpPr>
        <p:spPr>
          <a:xfrm>
            <a:off x="5998464" y="5431536"/>
            <a:ext cx="5166360" cy="384048"/>
          </a:xfrm>
          <a:prstGeom prst="rect">
            <a:avLst/>
          </a:prstGeom>
          <a:solidFill>
            <a:srgbClr val="FFF5DA"/>
          </a:solidFill>
          <a:ln/>
        </p:spPr>
        <p:txBody>
          <a:bodyPr wrap="square" lIns="635" tIns="635" rIns="635" bIns="635" rtlCol="0" anchor="ctr">
            <a:normAutofit/>
          </a:bodyPr>
          <a:lstStyle/>
          <a:p>
            <a:pPr algn="ctr" indent="0" marL="0">
              <a:buNone/>
            </a:pPr>
            <a:r>
              <a:rPr lang="en-US" sz="1700" b="1" dirty="0">
                <a:solidFill>
                  <a:srgbClr val="092F57"/>
                </a:solidFill>
              </a:rPr>
              <a:t>The doctor remains responsible for the clinical decision.</a:t>
            </a:r>
            <a:endParaRPr lang="en-US" sz="1700" dirty="0"/>
          </a:p>
        </p:txBody>
      </p:sp>
      <p:sp>
        <p:nvSpPr>
          <p:cNvPr id="19" name="Text 16">
            <a:hlinkClick r:id="rId3" tooltip=""/>
          </p:cNvPr>
          <p:cNvSpPr/>
          <p:nvPr/>
        </p:nvSpPr>
        <p:spPr>
          <a:xfrm>
            <a:off x="658368" y="6428232"/>
            <a:ext cx="9921240" cy="219456"/>
          </a:xfrm>
          <a:prstGeom prst="rect">
            <a:avLst/>
          </a:prstGeom>
          <a:noFill/>
          <a:ln/>
        </p:spPr>
        <p:txBody>
          <a:bodyPr wrap="square" lIns="0" tIns="0" rIns="0" bIns="0" rtlCol="0" anchor="ctr">
            <a:normAutofit/>
          </a:bodyPr>
          <a:lstStyle/>
          <a:p>
            <a:pPr indent="0" marL="0">
              <a:buNone/>
            </a:pPr>
            <a:r>
              <a:rPr lang="en-US" sz="1000" u="sng" dirty="0">
                <a:solidFill>
                  <a:srgbClr val="72819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Source: Singapore Ministry of Health, HIMSS26 APAC speech, 24 Aug 2026</a:t>
            </a:r>
            <a:endParaRPr lang="en-US" sz="1000" dirty="0"/>
          </a:p>
        </p:txBody>
      </p:sp>
      <p:sp>
        <p:nvSpPr>
          <p:cNvPr id="20" name="Text 17"/>
          <p:cNvSpPr/>
          <p:nvPr/>
        </p:nvSpPr>
        <p:spPr>
          <a:xfrm>
            <a:off x="9464040" y="6446520"/>
            <a:ext cx="2176272" cy="201168"/>
          </a:xfrm>
          <a:prstGeom prst="rect">
            <a:avLst/>
          </a:prstGeom>
          <a:noFill/>
          <a:ln/>
        </p:spPr>
        <p:txBody>
          <a:bodyPr wrap="square" lIns="0" tIns="0" rIns="0" bIns="0" rtlCol="0" anchor="ctr"/>
          <a:lstStyle/>
          <a:p>
            <a:pPr algn="r" indent="0" marL="0">
              <a:buNone/>
            </a:pPr>
            <a:r>
              <a:rPr lang="en-US" sz="850" b="1" spc="60" kern="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sp>
      <p:sp>
        <p:nvSpPr>
          <p:cNvPr id="3" name="Text 1"/>
          <p:cNvSpPr/>
          <p:nvPr/>
        </p:nvSpPr>
        <p:spPr>
          <a:xfrm>
            <a:off x="658368" y="228600"/>
            <a:ext cx="3474720" cy="219456"/>
          </a:xfrm>
          <a:prstGeom prst="rect">
            <a:avLst/>
          </a:prstGeom>
          <a:noFill/>
          <a:ln/>
        </p:spPr>
        <p:txBody>
          <a:bodyPr wrap="square" lIns="0" tIns="0" rIns="0" bIns="0" rtlCol="0" anchor="ctr"/>
          <a:lstStyle/>
          <a:p>
            <a:pPr indent="0" marL="0">
              <a:buNone/>
            </a:pPr>
            <a:r>
              <a:rPr lang="en-US" sz="900" b="1" spc="170" kern="0" dirty="0">
                <a:solidFill>
                  <a:srgbClr val="0B6E75"/>
                </a:solidFill>
                <a:latin typeface="Arial" pitchFamily="34" charset="0"/>
                <a:ea typeface="Arial" pitchFamily="34" charset="-122"/>
                <a:cs typeface="Arial" pitchFamily="34" charset="-120"/>
              </a:rPr>
              <a:t>THE LABOUR-MARKET SHIFT</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algn="r" indent="0" marL="0">
              <a:buNone/>
            </a:pPr>
            <a:r>
              <a:rPr lang="en-US" sz="1000" b="1" dirty="0">
                <a:solidFill>
                  <a:srgbClr val="728197"/>
                </a:solidFill>
                <a:latin typeface="Arial" pitchFamily="34" charset="0"/>
                <a:ea typeface="Arial" pitchFamily="34" charset="-122"/>
                <a:cs typeface="Arial" pitchFamily="34" charset="-120"/>
              </a:rPr>
              <a:t>03</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indent="0" marL="0">
              <a:buNone/>
            </a:pPr>
            <a:r>
              <a:rPr lang="en-US" sz="2900" b="1" dirty="0">
                <a:solidFill>
                  <a:srgbClr val="12233F"/>
                </a:solidFill>
                <a:latin typeface="Arial" pitchFamily="34" charset="0"/>
                <a:ea typeface="Arial" pitchFamily="34" charset="-122"/>
                <a:cs typeface="Arial" pitchFamily="34" charset="-120"/>
              </a:rPr>
              <a:t>Jobs are changing faster than job titles.</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indent="0" marL="0">
              <a:buNone/>
            </a:pPr>
            <a:r>
              <a:rPr lang="en-US" sz="1500" dirty="0">
                <a:solidFill>
                  <a:srgbClr val="4F6176"/>
                </a:solidFill>
                <a:latin typeface="Arial" pitchFamily="34" charset="0"/>
                <a:ea typeface="Arial" pitchFamily="34" charset="-122"/>
                <a:cs typeface="Arial" pitchFamily="34" charset="-120"/>
              </a:rPr>
              <a:t>WEF projects both creation and displacement - making the transition a design challenge, not an automatic win.</a:t>
            </a:r>
            <a:endParaRPr lang="en-US" sz="1500" dirty="0"/>
          </a:p>
        </p:txBody>
      </p:sp>
      <p:sp>
        <p:nvSpPr>
          <p:cNvPr id="7" name="Shape 5"/>
          <p:cNvSpPr/>
          <p:nvPr/>
        </p:nvSpPr>
        <p:spPr>
          <a:xfrm>
            <a:off x="594360" y="1719072"/>
            <a:ext cx="6400800" cy="4315968"/>
          </a:xfrm>
          <a:prstGeom prst="roundRect">
            <a:avLst>
              <a:gd name="adj" fmla="val 2119"/>
            </a:avLst>
          </a:prstGeom>
          <a:solidFill>
            <a:srgbClr val="FFFFFF"/>
          </a:solidFill>
          <a:ln w="12700">
            <a:solidFill>
              <a:srgbClr val="D7E1EA"/>
            </a:solidFill>
            <a:prstDash val="solid"/>
          </a:ln>
          <a:effectLst>
            <a:outerShdw sx="100000" sy="100000" kx="0" ky="0" algn="bl" rotWithShape="0" blurRad="25400" dist="50800" dir="2700000">
              <a:srgbClr val="0B1F33">
                <a:alpha val="12000"/>
              </a:srgbClr>
            </a:outerShdw>
          </a:effectLst>
        </p:spPr>
      </p:sp>
      <p:sp>
        <p:nvSpPr>
          <p:cNvPr id="8" name="Text 6"/>
          <p:cNvSpPr/>
          <p:nvPr/>
        </p:nvSpPr>
        <p:spPr>
          <a:xfrm>
            <a:off x="896112" y="1965960"/>
            <a:ext cx="3017520" cy="219456"/>
          </a:xfrm>
          <a:prstGeom prst="rect">
            <a:avLst/>
          </a:prstGeom>
          <a:noFill/>
          <a:ln/>
        </p:spPr>
        <p:txBody>
          <a:bodyPr wrap="square" lIns="0" tIns="0" rIns="0" bIns="0" rtlCol="0" anchor="ctr"/>
          <a:lstStyle/>
          <a:p>
            <a:pPr indent="0" marL="0">
              <a:buNone/>
            </a:pPr>
            <a:r>
              <a:rPr lang="en-US" sz="1000" b="1" spc="110" kern="0" dirty="0">
                <a:solidFill>
                  <a:srgbClr val="728197"/>
                </a:solidFill>
              </a:rPr>
              <a:t>GLOBAL JOB CHANGE BY 2030</a:t>
            </a:r>
            <a:endParaRPr lang="en-US" sz="1000" dirty="0"/>
          </a:p>
        </p:txBody>
      </p:sp>
      <p:sp>
        <p:nvSpPr>
          <p:cNvPr id="9" name="Shape 7"/>
          <p:cNvSpPr/>
          <p:nvPr/>
        </p:nvSpPr>
        <p:spPr>
          <a:xfrm>
            <a:off x="896112" y="4663440"/>
            <a:ext cx="5623560" cy="0"/>
          </a:xfrm>
          <a:prstGeom prst="line">
            <a:avLst/>
          </a:prstGeom>
          <a:noFill/>
          <a:ln w="15240">
            <a:solidFill>
              <a:srgbClr val="12233F"/>
            </a:solidFill>
            <a:prstDash val="solid"/>
          </a:ln>
        </p:spPr>
      </p:sp>
      <p:sp>
        <p:nvSpPr>
          <p:cNvPr id="10" name="Shape 8"/>
          <p:cNvSpPr/>
          <p:nvPr/>
        </p:nvSpPr>
        <p:spPr>
          <a:xfrm>
            <a:off x="1005840" y="2743200"/>
            <a:ext cx="1325880" cy="1920240"/>
          </a:xfrm>
          <a:prstGeom prst="rect">
            <a:avLst/>
          </a:prstGeom>
          <a:solidFill>
            <a:srgbClr val="0C8A78"/>
          </a:solidFill>
          <a:ln w="12700">
            <a:solidFill>
              <a:srgbClr val="0C8A78"/>
            </a:solidFill>
            <a:prstDash val="solid"/>
          </a:ln>
        </p:spPr>
      </p:sp>
      <p:sp>
        <p:nvSpPr>
          <p:cNvPr id="11" name="Text 9"/>
          <p:cNvSpPr/>
          <p:nvPr/>
        </p:nvSpPr>
        <p:spPr>
          <a:xfrm>
            <a:off x="914400" y="2231136"/>
            <a:ext cx="1508760" cy="384048"/>
          </a:xfrm>
          <a:prstGeom prst="rect">
            <a:avLst/>
          </a:prstGeom>
          <a:noFill/>
          <a:ln/>
        </p:spPr>
        <p:txBody>
          <a:bodyPr wrap="square" lIns="0" tIns="0" rIns="0" bIns="0" rtlCol="0" anchor="ctr"/>
          <a:lstStyle/>
          <a:p>
            <a:pPr algn="ctr" indent="0" marL="0">
              <a:buNone/>
            </a:pPr>
            <a:r>
              <a:rPr lang="en-US" sz="2500" b="1" dirty="0">
                <a:solidFill>
                  <a:srgbClr val="12233F"/>
                </a:solidFill>
              </a:rPr>
              <a:t>+170M</a:t>
            </a:r>
            <a:endParaRPr lang="en-US" sz="2500" dirty="0"/>
          </a:p>
        </p:txBody>
      </p:sp>
      <p:sp>
        <p:nvSpPr>
          <p:cNvPr id="12" name="Text 10"/>
          <p:cNvSpPr/>
          <p:nvPr/>
        </p:nvSpPr>
        <p:spPr>
          <a:xfrm>
            <a:off x="914400" y="4846320"/>
            <a:ext cx="1508760" cy="274320"/>
          </a:xfrm>
          <a:prstGeom prst="rect">
            <a:avLst/>
          </a:prstGeom>
          <a:noFill/>
          <a:ln/>
        </p:spPr>
        <p:txBody>
          <a:bodyPr wrap="square" lIns="0" tIns="0" rIns="0" bIns="0" rtlCol="0" anchor="ctr"/>
          <a:lstStyle/>
          <a:p>
            <a:pPr algn="ctr" indent="0" marL="0">
              <a:buNone/>
            </a:pPr>
            <a:r>
              <a:rPr lang="en-US" sz="1400" b="1" dirty="0">
                <a:solidFill>
                  <a:srgbClr val="4F6176"/>
                </a:solidFill>
              </a:rPr>
              <a:t>created</a:t>
            </a:r>
            <a:endParaRPr lang="en-US" sz="1400" dirty="0"/>
          </a:p>
        </p:txBody>
      </p:sp>
      <p:sp>
        <p:nvSpPr>
          <p:cNvPr id="13" name="Shape 11"/>
          <p:cNvSpPr/>
          <p:nvPr/>
        </p:nvSpPr>
        <p:spPr>
          <a:xfrm>
            <a:off x="2971800" y="3794760"/>
            <a:ext cx="1325880" cy="868680"/>
          </a:xfrm>
          <a:prstGeom prst="rect">
            <a:avLst/>
          </a:prstGeom>
          <a:solidFill>
            <a:srgbClr val="F5665C"/>
          </a:solidFill>
          <a:ln w="12700">
            <a:solidFill>
              <a:srgbClr val="F5665C"/>
            </a:solidFill>
            <a:prstDash val="solid"/>
          </a:ln>
        </p:spPr>
      </p:sp>
      <p:sp>
        <p:nvSpPr>
          <p:cNvPr id="14" name="Text 12"/>
          <p:cNvSpPr/>
          <p:nvPr/>
        </p:nvSpPr>
        <p:spPr>
          <a:xfrm>
            <a:off x="2880360" y="3282696"/>
            <a:ext cx="1508760" cy="384048"/>
          </a:xfrm>
          <a:prstGeom prst="rect">
            <a:avLst/>
          </a:prstGeom>
          <a:noFill/>
          <a:ln/>
        </p:spPr>
        <p:txBody>
          <a:bodyPr wrap="square" lIns="0" tIns="0" rIns="0" bIns="0" rtlCol="0" anchor="ctr"/>
          <a:lstStyle/>
          <a:p>
            <a:pPr algn="ctr" indent="0" marL="0">
              <a:buNone/>
            </a:pPr>
            <a:r>
              <a:rPr lang="en-US" sz="2500" b="1" dirty="0">
                <a:solidFill>
                  <a:srgbClr val="12233F"/>
                </a:solidFill>
              </a:rPr>
              <a:t>-92M</a:t>
            </a:r>
            <a:endParaRPr lang="en-US" sz="2500" dirty="0"/>
          </a:p>
        </p:txBody>
      </p:sp>
      <p:sp>
        <p:nvSpPr>
          <p:cNvPr id="15" name="Text 13"/>
          <p:cNvSpPr/>
          <p:nvPr/>
        </p:nvSpPr>
        <p:spPr>
          <a:xfrm>
            <a:off x="2880360" y="4846320"/>
            <a:ext cx="1508760" cy="274320"/>
          </a:xfrm>
          <a:prstGeom prst="rect">
            <a:avLst/>
          </a:prstGeom>
          <a:noFill/>
          <a:ln/>
        </p:spPr>
        <p:txBody>
          <a:bodyPr wrap="square" lIns="0" tIns="0" rIns="0" bIns="0" rtlCol="0" anchor="ctr"/>
          <a:lstStyle/>
          <a:p>
            <a:pPr algn="ctr" indent="0" marL="0">
              <a:buNone/>
            </a:pPr>
            <a:r>
              <a:rPr lang="en-US" sz="1400" b="1" dirty="0">
                <a:solidFill>
                  <a:srgbClr val="4F6176"/>
                </a:solidFill>
              </a:rPr>
              <a:t>displaced</a:t>
            </a:r>
            <a:endParaRPr lang="en-US" sz="1400" dirty="0"/>
          </a:p>
        </p:txBody>
      </p:sp>
      <p:sp>
        <p:nvSpPr>
          <p:cNvPr id="16" name="Shape 14"/>
          <p:cNvSpPr/>
          <p:nvPr/>
        </p:nvSpPr>
        <p:spPr>
          <a:xfrm>
            <a:off x="4937760" y="3429000"/>
            <a:ext cx="1325880" cy="1234440"/>
          </a:xfrm>
          <a:prstGeom prst="rect">
            <a:avLst/>
          </a:prstGeom>
          <a:solidFill>
            <a:srgbClr val="2F6FED"/>
          </a:solidFill>
          <a:ln w="12700">
            <a:solidFill>
              <a:srgbClr val="2F6FED"/>
            </a:solidFill>
            <a:prstDash val="solid"/>
          </a:ln>
        </p:spPr>
      </p:sp>
      <p:sp>
        <p:nvSpPr>
          <p:cNvPr id="17" name="Text 15"/>
          <p:cNvSpPr/>
          <p:nvPr/>
        </p:nvSpPr>
        <p:spPr>
          <a:xfrm>
            <a:off x="4846320" y="2916936"/>
            <a:ext cx="1508760" cy="384048"/>
          </a:xfrm>
          <a:prstGeom prst="rect">
            <a:avLst/>
          </a:prstGeom>
          <a:noFill/>
          <a:ln/>
        </p:spPr>
        <p:txBody>
          <a:bodyPr wrap="square" lIns="0" tIns="0" rIns="0" bIns="0" rtlCol="0" anchor="ctr"/>
          <a:lstStyle/>
          <a:p>
            <a:pPr algn="ctr" indent="0" marL="0">
              <a:buNone/>
            </a:pPr>
            <a:r>
              <a:rPr lang="en-US" sz="2500" b="1" dirty="0">
                <a:solidFill>
                  <a:srgbClr val="12233F"/>
                </a:solidFill>
              </a:rPr>
              <a:t>+78M</a:t>
            </a:r>
            <a:endParaRPr lang="en-US" sz="2500" dirty="0"/>
          </a:p>
        </p:txBody>
      </p:sp>
      <p:sp>
        <p:nvSpPr>
          <p:cNvPr id="18" name="Text 16"/>
          <p:cNvSpPr/>
          <p:nvPr/>
        </p:nvSpPr>
        <p:spPr>
          <a:xfrm>
            <a:off x="4846320" y="4846320"/>
            <a:ext cx="1508760" cy="274320"/>
          </a:xfrm>
          <a:prstGeom prst="rect">
            <a:avLst/>
          </a:prstGeom>
          <a:noFill/>
          <a:ln/>
        </p:spPr>
        <p:txBody>
          <a:bodyPr wrap="square" lIns="0" tIns="0" rIns="0" bIns="0" rtlCol="0" anchor="ctr"/>
          <a:lstStyle/>
          <a:p>
            <a:pPr algn="ctr" indent="0" marL="0">
              <a:buNone/>
            </a:pPr>
            <a:r>
              <a:rPr lang="en-US" sz="1400" b="1" dirty="0">
                <a:solidFill>
                  <a:srgbClr val="4F6176"/>
                </a:solidFill>
              </a:rPr>
              <a:t>net</a:t>
            </a:r>
            <a:endParaRPr lang="en-US" sz="1400" dirty="0"/>
          </a:p>
        </p:txBody>
      </p:sp>
      <p:sp>
        <p:nvSpPr>
          <p:cNvPr id="19" name="Text 17"/>
          <p:cNvSpPr/>
          <p:nvPr/>
        </p:nvSpPr>
        <p:spPr>
          <a:xfrm>
            <a:off x="914400" y="5367528"/>
            <a:ext cx="5440680" cy="347472"/>
          </a:xfrm>
          <a:prstGeom prst="rect">
            <a:avLst/>
          </a:prstGeom>
          <a:noFill/>
          <a:ln/>
        </p:spPr>
        <p:txBody>
          <a:bodyPr wrap="square" lIns="0" tIns="0" rIns="0" bIns="0" rtlCol="0" anchor="ctr"/>
          <a:lstStyle/>
          <a:p>
            <a:pPr algn="ctr" indent="0" marL="0">
              <a:buNone/>
            </a:pPr>
            <a:r>
              <a:rPr lang="en-US" sz="1700" b="1" dirty="0">
                <a:solidFill>
                  <a:srgbClr val="092F57"/>
                </a:solidFill>
              </a:rPr>
              <a:t>22% of today's formal jobs are projected to be disrupted.</a:t>
            </a:r>
            <a:endParaRPr lang="en-US" sz="1700" dirty="0"/>
          </a:p>
        </p:txBody>
      </p:sp>
      <p:sp>
        <p:nvSpPr>
          <p:cNvPr id="20" name="Shape 18"/>
          <p:cNvSpPr/>
          <p:nvPr/>
        </p:nvSpPr>
        <p:spPr>
          <a:xfrm>
            <a:off x="7269480" y="1719072"/>
            <a:ext cx="4297680" cy="4315968"/>
          </a:xfrm>
          <a:prstGeom prst="roundRect">
            <a:avLst>
              <a:gd name="adj" fmla="val 2128"/>
            </a:avLst>
          </a:prstGeom>
          <a:solidFill>
            <a:srgbClr val="092F57"/>
          </a:solidFill>
          <a:ln w="12700">
            <a:solidFill>
              <a:srgbClr val="092F57"/>
            </a:solidFill>
            <a:prstDash val="solid"/>
          </a:ln>
          <a:effectLst>
            <a:outerShdw sx="100000" sy="100000" kx="0" ky="0" algn="bl" rotWithShape="0" blurRad="25400" dist="50800" dir="2700000">
              <a:srgbClr val="0B1F33">
                <a:alpha val="12000"/>
              </a:srgbClr>
            </a:outerShdw>
          </a:effectLst>
        </p:spPr>
      </p:sp>
      <p:sp>
        <p:nvSpPr>
          <p:cNvPr id="21" name="Text 19"/>
          <p:cNvSpPr/>
          <p:nvPr/>
        </p:nvSpPr>
        <p:spPr>
          <a:xfrm>
            <a:off x="7589520" y="1984248"/>
            <a:ext cx="3474720" cy="228600"/>
          </a:xfrm>
          <a:prstGeom prst="rect">
            <a:avLst/>
          </a:prstGeom>
          <a:noFill/>
          <a:ln/>
        </p:spPr>
        <p:txBody>
          <a:bodyPr wrap="square" lIns="0" tIns="0" rIns="0" bIns="0" rtlCol="0" anchor="ctr"/>
          <a:lstStyle/>
          <a:p>
            <a:pPr indent="0" marL="0">
              <a:buNone/>
            </a:pPr>
            <a:r>
              <a:rPr lang="en-US" sz="1000" b="1" spc="110" kern="0" dirty="0">
                <a:solidFill>
                  <a:srgbClr val="55D6BE"/>
                </a:solidFill>
              </a:rPr>
              <a:t>THE EMPLOYER RESPONSE</a:t>
            </a:r>
            <a:endParaRPr lang="en-US" sz="1000" dirty="0"/>
          </a:p>
        </p:txBody>
      </p:sp>
      <p:sp>
        <p:nvSpPr>
          <p:cNvPr id="22" name="Text 20"/>
          <p:cNvSpPr/>
          <p:nvPr/>
        </p:nvSpPr>
        <p:spPr>
          <a:xfrm>
            <a:off x="7571232" y="2450592"/>
            <a:ext cx="1097280" cy="502920"/>
          </a:xfrm>
          <a:prstGeom prst="rect">
            <a:avLst/>
          </a:prstGeom>
          <a:noFill/>
          <a:ln/>
        </p:spPr>
        <p:txBody>
          <a:bodyPr wrap="square" lIns="0" tIns="0" rIns="0" bIns="0" rtlCol="0" anchor="ctr"/>
          <a:lstStyle/>
          <a:p>
            <a:pPr indent="0" marL="0">
              <a:buNone/>
            </a:pPr>
            <a:r>
              <a:rPr lang="en-US" sz="3100" b="1" dirty="0">
                <a:solidFill>
                  <a:srgbClr val="55D6BE"/>
                </a:solidFill>
              </a:rPr>
              <a:t>86%</a:t>
            </a:r>
            <a:endParaRPr lang="en-US" sz="3100" dirty="0"/>
          </a:p>
        </p:txBody>
      </p:sp>
      <p:sp>
        <p:nvSpPr>
          <p:cNvPr id="23" name="Text 21"/>
          <p:cNvSpPr/>
          <p:nvPr/>
        </p:nvSpPr>
        <p:spPr>
          <a:xfrm>
            <a:off x="8732520" y="2478024"/>
            <a:ext cx="2331720" cy="475488"/>
          </a:xfrm>
          <a:prstGeom prst="rect">
            <a:avLst/>
          </a:prstGeom>
          <a:noFill/>
          <a:ln/>
        </p:spPr>
        <p:txBody>
          <a:bodyPr wrap="square" lIns="0" tIns="0" rIns="0" bIns="0" rtlCol="0" anchor="ctr">
            <a:normAutofit/>
          </a:bodyPr>
          <a:lstStyle/>
          <a:p>
            <a:pPr indent="0" marL="0">
              <a:buNone/>
            </a:pPr>
            <a:r>
              <a:rPr lang="en-US" sz="1500" dirty="0">
                <a:solidFill>
                  <a:srgbClr val="FFFFFF"/>
                </a:solidFill>
              </a:rPr>
              <a:t>expect AI to transform their business</a:t>
            </a:r>
            <a:endParaRPr lang="en-US" sz="1500" dirty="0"/>
          </a:p>
        </p:txBody>
      </p:sp>
      <p:sp>
        <p:nvSpPr>
          <p:cNvPr id="24" name="Text 22"/>
          <p:cNvSpPr/>
          <p:nvPr/>
        </p:nvSpPr>
        <p:spPr>
          <a:xfrm>
            <a:off x="7571232" y="3364992"/>
            <a:ext cx="1097280" cy="502920"/>
          </a:xfrm>
          <a:prstGeom prst="rect">
            <a:avLst/>
          </a:prstGeom>
          <a:noFill/>
          <a:ln/>
        </p:spPr>
        <p:txBody>
          <a:bodyPr wrap="square" lIns="0" tIns="0" rIns="0" bIns="0" rtlCol="0" anchor="ctr"/>
          <a:lstStyle/>
          <a:p>
            <a:pPr indent="0" marL="0">
              <a:buNone/>
            </a:pPr>
            <a:r>
              <a:rPr lang="en-US" sz="3100" b="1" dirty="0">
                <a:solidFill>
                  <a:srgbClr val="55D6BE"/>
                </a:solidFill>
              </a:rPr>
              <a:t>77%</a:t>
            </a:r>
            <a:endParaRPr lang="en-US" sz="3100" dirty="0"/>
          </a:p>
        </p:txBody>
      </p:sp>
      <p:sp>
        <p:nvSpPr>
          <p:cNvPr id="25" name="Text 23"/>
          <p:cNvSpPr/>
          <p:nvPr/>
        </p:nvSpPr>
        <p:spPr>
          <a:xfrm>
            <a:off x="8732520" y="3392424"/>
            <a:ext cx="2331720" cy="475488"/>
          </a:xfrm>
          <a:prstGeom prst="rect">
            <a:avLst/>
          </a:prstGeom>
          <a:noFill/>
          <a:ln/>
        </p:spPr>
        <p:txBody>
          <a:bodyPr wrap="square" lIns="0" tIns="0" rIns="0" bIns="0" rtlCol="0" anchor="ctr">
            <a:normAutofit/>
          </a:bodyPr>
          <a:lstStyle/>
          <a:p>
            <a:pPr indent="0" marL="0">
              <a:buNone/>
            </a:pPr>
            <a:r>
              <a:rPr lang="en-US" sz="1500" dirty="0">
                <a:solidFill>
                  <a:srgbClr val="FFFFFF"/>
                </a:solidFill>
              </a:rPr>
              <a:t>plan to upskill workers for AI</a:t>
            </a:r>
            <a:endParaRPr lang="en-US" sz="1500" dirty="0"/>
          </a:p>
        </p:txBody>
      </p:sp>
      <p:sp>
        <p:nvSpPr>
          <p:cNvPr id="26" name="Text 24"/>
          <p:cNvSpPr/>
          <p:nvPr/>
        </p:nvSpPr>
        <p:spPr>
          <a:xfrm>
            <a:off x="7571232" y="4279392"/>
            <a:ext cx="1097280" cy="502920"/>
          </a:xfrm>
          <a:prstGeom prst="rect">
            <a:avLst/>
          </a:prstGeom>
          <a:noFill/>
          <a:ln/>
        </p:spPr>
        <p:txBody>
          <a:bodyPr wrap="square" lIns="0" tIns="0" rIns="0" bIns="0" rtlCol="0" anchor="ctr"/>
          <a:lstStyle/>
          <a:p>
            <a:pPr indent="0" marL="0">
              <a:buNone/>
            </a:pPr>
            <a:r>
              <a:rPr lang="en-US" sz="3100" b="1" dirty="0">
                <a:solidFill>
                  <a:srgbClr val="F4B942"/>
                </a:solidFill>
              </a:rPr>
              <a:t>41%</a:t>
            </a:r>
            <a:endParaRPr lang="en-US" sz="3100" dirty="0"/>
          </a:p>
        </p:txBody>
      </p:sp>
      <p:sp>
        <p:nvSpPr>
          <p:cNvPr id="27" name="Text 25"/>
          <p:cNvSpPr/>
          <p:nvPr/>
        </p:nvSpPr>
        <p:spPr>
          <a:xfrm>
            <a:off x="8732520" y="4306824"/>
            <a:ext cx="2331720" cy="475488"/>
          </a:xfrm>
          <a:prstGeom prst="rect">
            <a:avLst/>
          </a:prstGeom>
          <a:noFill/>
          <a:ln/>
        </p:spPr>
        <p:txBody>
          <a:bodyPr wrap="square" lIns="0" tIns="0" rIns="0" bIns="0" rtlCol="0" anchor="ctr">
            <a:normAutofit/>
          </a:bodyPr>
          <a:lstStyle/>
          <a:p>
            <a:pPr indent="0" marL="0">
              <a:buNone/>
            </a:pPr>
            <a:r>
              <a:rPr lang="en-US" sz="1500" dirty="0">
                <a:solidFill>
                  <a:srgbClr val="FFFFFF"/>
                </a:solidFill>
              </a:rPr>
              <a:t>also expect workforce reductions from automation</a:t>
            </a:r>
            <a:endParaRPr lang="en-US" sz="1500" dirty="0"/>
          </a:p>
        </p:txBody>
      </p:sp>
      <p:sp>
        <p:nvSpPr>
          <p:cNvPr id="28" name="Shape 26"/>
          <p:cNvSpPr/>
          <p:nvPr/>
        </p:nvSpPr>
        <p:spPr>
          <a:xfrm>
            <a:off x="7571232" y="5010912"/>
            <a:ext cx="3547872" cy="749808"/>
          </a:xfrm>
          <a:prstGeom prst="roundRect">
            <a:avLst>
              <a:gd name="adj" fmla="val 9756"/>
            </a:avLst>
          </a:prstGeom>
          <a:solidFill>
            <a:srgbClr val="F4B942"/>
          </a:solidFill>
          <a:ln w="12700">
            <a:solidFill>
              <a:srgbClr val="F4B942"/>
            </a:solidFill>
            <a:prstDash val="solid"/>
          </a:ln>
        </p:spPr>
      </p:sp>
      <p:sp>
        <p:nvSpPr>
          <p:cNvPr id="29" name="Text 27"/>
          <p:cNvSpPr/>
          <p:nvPr/>
        </p:nvSpPr>
        <p:spPr>
          <a:xfrm>
            <a:off x="7772400" y="5102352"/>
            <a:ext cx="3145536" cy="182880"/>
          </a:xfrm>
          <a:prstGeom prst="rect">
            <a:avLst/>
          </a:prstGeom>
          <a:noFill/>
          <a:ln/>
        </p:spPr>
        <p:txBody>
          <a:bodyPr wrap="square" lIns="0" tIns="0" rIns="0" bIns="0" rtlCol="0" anchor="ctr"/>
          <a:lstStyle/>
          <a:p>
            <a:pPr algn="ctr" indent="0" marL="0">
              <a:buNone/>
            </a:pPr>
            <a:r>
              <a:rPr lang="en-US" sz="950" b="1" spc="70" kern="0" dirty="0">
                <a:solidFill>
                  <a:srgbClr val="092F57"/>
                </a:solidFill>
              </a:rPr>
              <a:t>PRACTITIONER THESIS</a:t>
            </a:r>
            <a:endParaRPr lang="en-US" sz="950" dirty="0"/>
          </a:p>
        </p:txBody>
      </p:sp>
      <p:sp>
        <p:nvSpPr>
          <p:cNvPr id="30" name="Text 28"/>
          <p:cNvSpPr/>
          <p:nvPr/>
        </p:nvSpPr>
        <p:spPr>
          <a:xfrm>
            <a:off x="7754112" y="5340096"/>
            <a:ext cx="3182112" cy="256032"/>
          </a:xfrm>
          <a:prstGeom prst="rect">
            <a:avLst/>
          </a:prstGeom>
          <a:noFill/>
          <a:ln/>
        </p:spPr>
        <p:txBody>
          <a:bodyPr wrap="square" lIns="0" tIns="0" rIns="0" bIns="0" rtlCol="0" anchor="ctr">
            <a:normAutofit/>
          </a:bodyPr>
          <a:lstStyle/>
          <a:p>
            <a:pPr algn="ctr" indent="0" marL="0">
              <a:buNone/>
            </a:pPr>
            <a:r>
              <a:rPr lang="en-US" sz="1600" b="1" dirty="0">
                <a:solidFill>
                  <a:srgbClr val="092F57"/>
                </a:solidFill>
              </a:rPr>
              <a:t>Managing AI becomes part of many jobs.</a:t>
            </a:r>
            <a:endParaRPr lang="en-US" sz="1600" dirty="0"/>
          </a:p>
        </p:txBody>
      </p:sp>
      <p:sp>
        <p:nvSpPr>
          <p:cNvPr id="31" name="Text 29">
            <a:hlinkClick r:id="rId1" tooltip=""/>
          </p:cNvPr>
          <p:cNvSpPr/>
          <p:nvPr/>
        </p:nvSpPr>
        <p:spPr>
          <a:xfrm>
            <a:off x="658368" y="6428232"/>
            <a:ext cx="9921240" cy="219456"/>
          </a:xfrm>
          <a:prstGeom prst="rect">
            <a:avLst/>
          </a:prstGeom>
          <a:noFill/>
          <a:ln/>
        </p:spPr>
        <p:txBody>
          <a:bodyPr wrap="square" lIns="0" tIns="0" rIns="0" bIns="0" rtlCol="0" anchor="ctr">
            <a:normAutofit/>
          </a:bodyPr>
          <a:lstStyle/>
          <a:p>
            <a:pPr indent="0" marL="0">
              <a:buNone/>
            </a:pPr>
            <a:r>
              <a:rPr lang="en-US" sz="1000" u="sng" dirty="0">
                <a:solidFill>
                  <a:srgbClr val="72819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Sources: WEF Future of Jobs Report 2025; WEF workforce strategies</a:t>
            </a:r>
            <a:endParaRPr lang="en-US" sz="1000" dirty="0"/>
          </a:p>
        </p:txBody>
      </p:sp>
      <p:sp>
        <p:nvSpPr>
          <p:cNvPr id="32" name="Text 30"/>
          <p:cNvSpPr/>
          <p:nvPr/>
        </p:nvSpPr>
        <p:spPr>
          <a:xfrm>
            <a:off x="9464040" y="6446520"/>
            <a:ext cx="2176272" cy="201168"/>
          </a:xfrm>
          <a:prstGeom prst="rect">
            <a:avLst/>
          </a:prstGeom>
          <a:noFill/>
          <a:ln/>
        </p:spPr>
        <p:txBody>
          <a:bodyPr wrap="square" lIns="0" tIns="0" rIns="0" bIns="0" rtlCol="0" anchor="ctr"/>
          <a:lstStyle/>
          <a:p>
            <a:pPr algn="r" indent="0" marL="0">
              <a:buNone/>
            </a:pPr>
            <a:r>
              <a:rPr lang="en-US" sz="850" b="1" spc="60" kern="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sp>
      <p:sp>
        <p:nvSpPr>
          <p:cNvPr id="3" name="Text 1"/>
          <p:cNvSpPr/>
          <p:nvPr/>
        </p:nvSpPr>
        <p:spPr>
          <a:xfrm>
            <a:off x="658368" y="228600"/>
            <a:ext cx="3474720" cy="219456"/>
          </a:xfrm>
          <a:prstGeom prst="rect">
            <a:avLst/>
          </a:prstGeom>
          <a:noFill/>
          <a:ln/>
        </p:spPr>
        <p:txBody>
          <a:bodyPr wrap="square" lIns="0" tIns="0" rIns="0" bIns="0" rtlCol="0" anchor="ctr"/>
          <a:lstStyle/>
          <a:p>
            <a:pPr indent="0" marL="0">
              <a:buNone/>
            </a:pPr>
            <a:r>
              <a:rPr lang="en-US" sz="900" b="1" spc="170" kern="0" dirty="0">
                <a:solidFill>
                  <a:srgbClr val="0B6E75"/>
                </a:solidFill>
                <a:latin typeface="Arial" pitchFamily="34" charset="0"/>
                <a:ea typeface="Arial" pitchFamily="34" charset="-122"/>
                <a:cs typeface="Arial" pitchFamily="34" charset="-120"/>
              </a:rPr>
              <a:t>PRACTICE FROM THE FIELD</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algn="r" indent="0" marL="0">
              <a:buNone/>
            </a:pPr>
            <a:r>
              <a:rPr lang="en-US" sz="1000" b="1" dirty="0">
                <a:solidFill>
                  <a:srgbClr val="728197"/>
                </a:solidFill>
                <a:latin typeface="Arial" pitchFamily="34" charset="0"/>
                <a:ea typeface="Arial" pitchFamily="34" charset="-122"/>
                <a:cs typeface="Arial" pitchFamily="34" charset="-120"/>
              </a:rPr>
              <a:t>04</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indent="0" marL="0">
              <a:buNone/>
            </a:pPr>
            <a:r>
              <a:rPr lang="en-US" sz="2900" b="1" dirty="0">
                <a:solidFill>
                  <a:srgbClr val="12233F"/>
                </a:solidFill>
                <a:latin typeface="Arial" pitchFamily="34" charset="0"/>
                <a:ea typeface="Arial" pitchFamily="34" charset="-122"/>
                <a:cs typeface="Arial" pitchFamily="34" charset="-120"/>
              </a:rPr>
              <a:t>At Tertiary, agents already work inside the workflow.</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indent="0" marL="0">
              <a:buNone/>
            </a:pPr>
            <a:r>
              <a:rPr lang="en-US" sz="1500" dirty="0">
                <a:solidFill>
                  <a:srgbClr val="4F6176"/>
                </a:solidFill>
                <a:latin typeface="Arial" pitchFamily="34" charset="0"/>
                <a:ea typeface="Arial" pitchFamily="34" charset="-122"/>
                <a:cs typeface="Arial" pitchFamily="34" charset="-120"/>
              </a:rPr>
              <a:t>We use agents to manage websites and software - and help clients do the same.</a:t>
            </a:r>
            <a:endParaRPr lang="en-US" sz="1500" dirty="0"/>
          </a:p>
        </p:txBody>
      </p:sp>
      <p:sp>
        <p:nvSpPr>
          <p:cNvPr id="7" name="Shape 5"/>
          <p:cNvSpPr/>
          <p:nvPr/>
        </p:nvSpPr>
        <p:spPr>
          <a:xfrm>
            <a:off x="621792" y="1627632"/>
            <a:ext cx="1280160" cy="310896"/>
          </a:xfrm>
          <a:prstGeom prst="roundRect">
            <a:avLst>
              <a:gd name="adj" fmla="val 47059"/>
            </a:avLst>
          </a:prstGeom>
          <a:solidFill>
            <a:srgbClr val="E9F8F4"/>
          </a:solidFill>
          <a:ln w="12700">
            <a:solidFill>
              <a:srgbClr val="E9F8F4"/>
            </a:solidFill>
            <a:prstDash val="solid"/>
          </a:ln>
        </p:spPr>
      </p:sp>
      <p:sp>
        <p:nvSpPr>
          <p:cNvPr id="8" name="Text 6"/>
          <p:cNvSpPr/>
          <p:nvPr/>
        </p:nvSpPr>
        <p:spPr>
          <a:xfrm>
            <a:off x="621792" y="1645920"/>
            <a:ext cx="1280160" cy="201168"/>
          </a:xfrm>
          <a:prstGeom prst="rect">
            <a:avLst/>
          </a:prstGeom>
          <a:noFill/>
          <a:ln/>
        </p:spPr>
        <p:txBody>
          <a:bodyPr wrap="square" lIns="0" tIns="0" rIns="0" bIns="0" rtlCol="0" anchor="ctr">
            <a:normAutofit/>
          </a:bodyPr>
          <a:lstStyle/>
          <a:p>
            <a:pPr algn="ctr" indent="0" marL="0">
              <a:buNone/>
            </a:pPr>
            <a:r>
              <a:rPr lang="en-US" sz="1000" b="1" dirty="0">
                <a:solidFill>
                  <a:srgbClr val="0B6E75"/>
                </a:solidFill>
                <a:latin typeface="Arial" pitchFamily="34" charset="0"/>
                <a:ea typeface="Arial" pitchFamily="34" charset="-122"/>
                <a:cs typeface="Arial" pitchFamily="34" charset="-120"/>
              </a:rPr>
              <a:t>OUR PRACTICE</a:t>
            </a:r>
            <a:endParaRPr lang="en-US" sz="1000" dirty="0"/>
          </a:p>
        </p:txBody>
      </p:sp>
      <p:sp>
        <p:nvSpPr>
          <p:cNvPr id="9" name="Shape 7"/>
          <p:cNvSpPr/>
          <p:nvPr/>
        </p:nvSpPr>
        <p:spPr>
          <a:xfrm>
            <a:off x="658368" y="2148840"/>
            <a:ext cx="2423160" cy="2331720"/>
          </a:xfrm>
          <a:prstGeom prst="roundRect">
            <a:avLst>
              <a:gd name="adj" fmla="val 3922"/>
            </a:avLst>
          </a:prstGeom>
          <a:solidFill>
            <a:srgbClr val="FFFFFF"/>
          </a:solidFill>
          <a:ln w="12700">
            <a:solidFill>
              <a:srgbClr val="D7E1EA"/>
            </a:solidFill>
            <a:prstDash val="solid"/>
          </a:ln>
          <a:effectLst>
            <a:outerShdw sx="100000" sy="100000" kx="0" ky="0" algn="bl" rotWithShape="0" blurRad="25400" dist="50800" dir="2700000">
              <a:srgbClr val="0B1F33">
                <a:alpha val="12000"/>
              </a:srgbClr>
            </a:outerShdw>
          </a:effectLst>
        </p:spPr>
      </p:sp>
      <p:sp>
        <p:nvSpPr>
          <p:cNvPr id="10" name="Shape 8"/>
          <p:cNvSpPr/>
          <p:nvPr/>
        </p:nvSpPr>
        <p:spPr>
          <a:xfrm>
            <a:off x="841248" y="2359152"/>
            <a:ext cx="502920" cy="502920"/>
          </a:xfrm>
          <a:prstGeom prst="ellipse">
            <a:avLst/>
          </a:prstGeom>
          <a:solidFill>
            <a:srgbClr val="2F6FED"/>
          </a:solidFill>
          <a:ln w="12700">
            <a:solidFill>
              <a:srgbClr val="2F6FED"/>
            </a:solidFill>
            <a:prstDash val="solid"/>
          </a:ln>
        </p:spPr>
      </p:sp>
      <p:sp>
        <p:nvSpPr>
          <p:cNvPr id="11" name="Text 9"/>
          <p:cNvSpPr/>
          <p:nvPr/>
        </p:nvSpPr>
        <p:spPr>
          <a:xfrm>
            <a:off x="841248" y="2484882"/>
            <a:ext cx="502920" cy="20116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10"/>
          <p:cNvSpPr/>
          <p:nvPr/>
        </p:nvSpPr>
        <p:spPr>
          <a:xfrm>
            <a:off x="859536" y="2999232"/>
            <a:ext cx="1965960" cy="347472"/>
          </a:xfrm>
          <a:prstGeom prst="rect">
            <a:avLst/>
          </a:prstGeom>
          <a:noFill/>
          <a:ln/>
        </p:spPr>
        <p:txBody>
          <a:bodyPr wrap="square" lIns="0" tIns="0" rIns="0" bIns="0" rtlCol="0" anchor="ctr"/>
          <a:lstStyle/>
          <a:p>
            <a:pPr indent="0" marL="0">
              <a:buNone/>
            </a:pPr>
            <a:r>
              <a:rPr lang="en-US" sz="2300" b="1" dirty="0">
                <a:solidFill>
                  <a:srgbClr val="12233F"/>
                </a:solidFill>
              </a:rPr>
              <a:t>Frame</a:t>
            </a:r>
            <a:endParaRPr lang="en-US" sz="2300" dirty="0"/>
          </a:p>
        </p:txBody>
      </p:sp>
      <p:sp>
        <p:nvSpPr>
          <p:cNvPr id="13" name="Text 11"/>
          <p:cNvSpPr/>
          <p:nvPr/>
        </p:nvSpPr>
        <p:spPr>
          <a:xfrm>
            <a:off x="859536" y="3456432"/>
            <a:ext cx="1901952" cy="713232"/>
          </a:xfrm>
          <a:prstGeom prst="rect">
            <a:avLst/>
          </a:prstGeom>
          <a:noFill/>
          <a:ln/>
        </p:spPr>
        <p:txBody>
          <a:bodyPr wrap="square" lIns="0" tIns="0" rIns="0" bIns="0" rtlCol="0" anchor="ctr">
            <a:normAutofit/>
          </a:bodyPr>
          <a:lstStyle/>
          <a:p>
            <a:pPr indent="0" marL="0">
              <a:buNone/>
            </a:pPr>
            <a:r>
              <a:rPr lang="en-US" sz="1500" dirty="0">
                <a:solidFill>
                  <a:srgbClr val="4F6176"/>
                </a:solidFill>
              </a:rPr>
              <a:t>Human sets the goal, context and constraints.</a:t>
            </a:r>
            <a:endParaRPr lang="en-US" sz="1500" dirty="0"/>
          </a:p>
        </p:txBody>
      </p:sp>
      <p:sp>
        <p:nvSpPr>
          <p:cNvPr id="14" name="Shape 12"/>
          <p:cNvSpPr/>
          <p:nvPr/>
        </p:nvSpPr>
        <p:spPr>
          <a:xfrm>
            <a:off x="3108960" y="2971800"/>
            <a:ext cx="310896" cy="566928"/>
          </a:xfrm>
          <a:prstGeom prst="chevron">
            <a:avLst/>
          </a:prstGeom>
          <a:solidFill>
            <a:srgbClr val="0C8A78"/>
          </a:solidFill>
          <a:ln w="12700">
            <a:solidFill>
              <a:srgbClr val="0C8A78">
                <a:alpha val="0"/>
              </a:srgbClr>
            </a:solidFill>
            <a:prstDash val="solid"/>
          </a:ln>
        </p:spPr>
      </p:sp>
      <p:sp>
        <p:nvSpPr>
          <p:cNvPr id="15" name="Shape 13"/>
          <p:cNvSpPr/>
          <p:nvPr/>
        </p:nvSpPr>
        <p:spPr>
          <a:xfrm>
            <a:off x="3429000" y="2148840"/>
            <a:ext cx="2423160" cy="2331720"/>
          </a:xfrm>
          <a:prstGeom prst="roundRect">
            <a:avLst>
              <a:gd name="adj" fmla="val 3922"/>
            </a:avLst>
          </a:prstGeom>
          <a:solidFill>
            <a:srgbClr val="FFFFFF"/>
          </a:solidFill>
          <a:ln w="12700">
            <a:solidFill>
              <a:srgbClr val="D7E1EA"/>
            </a:solidFill>
            <a:prstDash val="solid"/>
          </a:ln>
          <a:effectLst>
            <a:outerShdw sx="100000" sy="100000" kx="0" ky="0" algn="bl" rotWithShape="0" blurRad="25400" dist="50800" dir="2700000">
              <a:srgbClr val="0B1F33">
                <a:alpha val="12000"/>
              </a:srgbClr>
            </a:outerShdw>
          </a:effectLst>
        </p:spPr>
      </p:sp>
      <p:sp>
        <p:nvSpPr>
          <p:cNvPr id="16" name="Shape 14"/>
          <p:cNvSpPr/>
          <p:nvPr/>
        </p:nvSpPr>
        <p:spPr>
          <a:xfrm>
            <a:off x="3611880" y="2359152"/>
            <a:ext cx="502920" cy="502920"/>
          </a:xfrm>
          <a:prstGeom prst="ellipse">
            <a:avLst/>
          </a:prstGeom>
          <a:solidFill>
            <a:srgbClr val="0C8A78"/>
          </a:solidFill>
          <a:ln w="12700">
            <a:solidFill>
              <a:srgbClr val="0C8A78"/>
            </a:solidFill>
            <a:prstDash val="solid"/>
          </a:ln>
        </p:spPr>
      </p:sp>
      <p:sp>
        <p:nvSpPr>
          <p:cNvPr id="17" name="Text 15"/>
          <p:cNvSpPr/>
          <p:nvPr/>
        </p:nvSpPr>
        <p:spPr>
          <a:xfrm>
            <a:off x="3611880" y="2484882"/>
            <a:ext cx="502920" cy="20116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8" name="Text 16"/>
          <p:cNvSpPr/>
          <p:nvPr/>
        </p:nvSpPr>
        <p:spPr>
          <a:xfrm>
            <a:off x="3630168" y="2999232"/>
            <a:ext cx="1965960" cy="347472"/>
          </a:xfrm>
          <a:prstGeom prst="rect">
            <a:avLst/>
          </a:prstGeom>
          <a:noFill/>
          <a:ln/>
        </p:spPr>
        <p:txBody>
          <a:bodyPr wrap="square" lIns="0" tIns="0" rIns="0" bIns="0" rtlCol="0" anchor="ctr"/>
          <a:lstStyle/>
          <a:p>
            <a:pPr indent="0" marL="0">
              <a:buNone/>
            </a:pPr>
            <a:r>
              <a:rPr lang="en-US" sz="2300" b="1" dirty="0">
                <a:solidFill>
                  <a:srgbClr val="12233F"/>
                </a:solidFill>
              </a:rPr>
              <a:t>Orchestrate</a:t>
            </a:r>
            <a:endParaRPr lang="en-US" sz="2300" dirty="0"/>
          </a:p>
        </p:txBody>
      </p:sp>
      <p:sp>
        <p:nvSpPr>
          <p:cNvPr id="19" name="Text 17"/>
          <p:cNvSpPr/>
          <p:nvPr/>
        </p:nvSpPr>
        <p:spPr>
          <a:xfrm>
            <a:off x="3630168" y="3456432"/>
            <a:ext cx="1901952" cy="713232"/>
          </a:xfrm>
          <a:prstGeom prst="rect">
            <a:avLst/>
          </a:prstGeom>
          <a:noFill/>
          <a:ln/>
        </p:spPr>
        <p:txBody>
          <a:bodyPr wrap="square" lIns="0" tIns="0" rIns="0" bIns="0" rtlCol="0" anchor="ctr">
            <a:normAutofit/>
          </a:bodyPr>
          <a:lstStyle/>
          <a:p>
            <a:pPr indent="0" marL="0">
              <a:buNone/>
            </a:pPr>
            <a:r>
              <a:rPr lang="en-US" sz="1500" dirty="0">
                <a:solidFill>
                  <a:srgbClr val="4F6176"/>
                </a:solidFill>
              </a:rPr>
              <a:t>Agents research, build, test and monitor.</a:t>
            </a:r>
            <a:endParaRPr lang="en-US" sz="1500" dirty="0"/>
          </a:p>
        </p:txBody>
      </p:sp>
      <p:sp>
        <p:nvSpPr>
          <p:cNvPr id="20" name="Shape 18"/>
          <p:cNvSpPr/>
          <p:nvPr/>
        </p:nvSpPr>
        <p:spPr>
          <a:xfrm>
            <a:off x="5879592" y="2971800"/>
            <a:ext cx="310896" cy="566928"/>
          </a:xfrm>
          <a:prstGeom prst="chevron">
            <a:avLst/>
          </a:prstGeom>
          <a:solidFill>
            <a:srgbClr val="0C8A78"/>
          </a:solidFill>
          <a:ln w="12700">
            <a:solidFill>
              <a:srgbClr val="0C8A78">
                <a:alpha val="0"/>
              </a:srgbClr>
            </a:solidFill>
            <a:prstDash val="solid"/>
          </a:ln>
        </p:spPr>
      </p:sp>
      <p:sp>
        <p:nvSpPr>
          <p:cNvPr id="21" name="Shape 19"/>
          <p:cNvSpPr/>
          <p:nvPr/>
        </p:nvSpPr>
        <p:spPr>
          <a:xfrm>
            <a:off x="6199632" y="2148840"/>
            <a:ext cx="2423160" cy="2331720"/>
          </a:xfrm>
          <a:prstGeom prst="roundRect">
            <a:avLst>
              <a:gd name="adj" fmla="val 3922"/>
            </a:avLst>
          </a:prstGeom>
          <a:solidFill>
            <a:srgbClr val="FFFFFF"/>
          </a:solidFill>
          <a:ln w="12700">
            <a:solidFill>
              <a:srgbClr val="D7E1EA"/>
            </a:solidFill>
            <a:prstDash val="solid"/>
          </a:ln>
          <a:effectLst>
            <a:outerShdw sx="100000" sy="100000" kx="0" ky="0" algn="bl" rotWithShape="0" blurRad="25400" dist="50800" dir="2700000">
              <a:srgbClr val="0B1F33">
                <a:alpha val="12000"/>
              </a:srgbClr>
            </a:outerShdw>
          </a:effectLst>
        </p:spPr>
      </p:sp>
      <p:sp>
        <p:nvSpPr>
          <p:cNvPr id="22" name="Shape 20"/>
          <p:cNvSpPr/>
          <p:nvPr/>
        </p:nvSpPr>
        <p:spPr>
          <a:xfrm>
            <a:off x="6382512" y="2359152"/>
            <a:ext cx="502920" cy="502920"/>
          </a:xfrm>
          <a:prstGeom prst="ellipse">
            <a:avLst/>
          </a:prstGeom>
          <a:solidFill>
            <a:srgbClr val="F4B942"/>
          </a:solidFill>
          <a:ln w="12700">
            <a:solidFill>
              <a:srgbClr val="F4B942"/>
            </a:solidFill>
            <a:prstDash val="solid"/>
          </a:ln>
        </p:spPr>
      </p:sp>
      <p:sp>
        <p:nvSpPr>
          <p:cNvPr id="23" name="Text 21"/>
          <p:cNvSpPr/>
          <p:nvPr/>
        </p:nvSpPr>
        <p:spPr>
          <a:xfrm>
            <a:off x="6382512" y="2484882"/>
            <a:ext cx="502920" cy="20116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4" name="Text 22"/>
          <p:cNvSpPr/>
          <p:nvPr/>
        </p:nvSpPr>
        <p:spPr>
          <a:xfrm>
            <a:off x="6400800" y="2999232"/>
            <a:ext cx="1965960" cy="347472"/>
          </a:xfrm>
          <a:prstGeom prst="rect">
            <a:avLst/>
          </a:prstGeom>
          <a:noFill/>
          <a:ln/>
        </p:spPr>
        <p:txBody>
          <a:bodyPr wrap="square" lIns="0" tIns="0" rIns="0" bIns="0" rtlCol="0" anchor="ctr"/>
          <a:lstStyle/>
          <a:p>
            <a:pPr indent="0" marL="0">
              <a:buNone/>
            </a:pPr>
            <a:r>
              <a:rPr lang="en-US" sz="2300" b="1" dirty="0">
                <a:solidFill>
                  <a:srgbClr val="12233F"/>
                </a:solidFill>
              </a:rPr>
              <a:t>Challenge</a:t>
            </a:r>
            <a:endParaRPr lang="en-US" sz="2300" dirty="0"/>
          </a:p>
        </p:txBody>
      </p:sp>
      <p:sp>
        <p:nvSpPr>
          <p:cNvPr id="25" name="Text 23"/>
          <p:cNvSpPr/>
          <p:nvPr/>
        </p:nvSpPr>
        <p:spPr>
          <a:xfrm>
            <a:off x="6400800" y="3456432"/>
            <a:ext cx="1901952" cy="713232"/>
          </a:xfrm>
          <a:prstGeom prst="rect">
            <a:avLst/>
          </a:prstGeom>
          <a:noFill/>
          <a:ln/>
        </p:spPr>
        <p:txBody>
          <a:bodyPr wrap="square" lIns="0" tIns="0" rIns="0" bIns="0" rtlCol="0" anchor="ctr">
            <a:normAutofit/>
          </a:bodyPr>
          <a:lstStyle/>
          <a:p>
            <a:pPr indent="0" marL="0">
              <a:buNone/>
            </a:pPr>
            <a:r>
              <a:rPr lang="en-US" sz="1500" dirty="0">
                <a:solidFill>
                  <a:srgbClr val="4F6176"/>
                </a:solidFill>
              </a:rPr>
              <a:t>Human reviews evidence, risks and exceptions.</a:t>
            </a:r>
            <a:endParaRPr lang="en-US" sz="1500" dirty="0"/>
          </a:p>
        </p:txBody>
      </p:sp>
      <p:sp>
        <p:nvSpPr>
          <p:cNvPr id="26" name="Shape 24"/>
          <p:cNvSpPr/>
          <p:nvPr/>
        </p:nvSpPr>
        <p:spPr>
          <a:xfrm>
            <a:off x="8650224" y="2971800"/>
            <a:ext cx="310896" cy="566928"/>
          </a:xfrm>
          <a:prstGeom prst="chevron">
            <a:avLst/>
          </a:prstGeom>
          <a:solidFill>
            <a:srgbClr val="0C8A78"/>
          </a:solidFill>
          <a:ln w="12700">
            <a:solidFill>
              <a:srgbClr val="0C8A78">
                <a:alpha val="0"/>
              </a:srgbClr>
            </a:solidFill>
            <a:prstDash val="solid"/>
          </a:ln>
        </p:spPr>
      </p:sp>
      <p:sp>
        <p:nvSpPr>
          <p:cNvPr id="27" name="Shape 25"/>
          <p:cNvSpPr/>
          <p:nvPr/>
        </p:nvSpPr>
        <p:spPr>
          <a:xfrm>
            <a:off x="8970264" y="2148840"/>
            <a:ext cx="2423160" cy="2331720"/>
          </a:xfrm>
          <a:prstGeom prst="roundRect">
            <a:avLst>
              <a:gd name="adj" fmla="val 3922"/>
            </a:avLst>
          </a:prstGeom>
          <a:solidFill>
            <a:srgbClr val="FFFFFF"/>
          </a:solidFill>
          <a:ln w="12700">
            <a:solidFill>
              <a:srgbClr val="D7E1EA"/>
            </a:solidFill>
            <a:prstDash val="solid"/>
          </a:ln>
          <a:effectLst>
            <a:outerShdw sx="100000" sy="100000" kx="0" ky="0" algn="bl" rotWithShape="0" blurRad="25400" dist="50800" dir="2700000">
              <a:srgbClr val="0B1F33">
                <a:alpha val="12000"/>
              </a:srgbClr>
            </a:outerShdw>
          </a:effectLst>
        </p:spPr>
      </p:sp>
      <p:sp>
        <p:nvSpPr>
          <p:cNvPr id="28" name="Shape 26"/>
          <p:cNvSpPr/>
          <p:nvPr/>
        </p:nvSpPr>
        <p:spPr>
          <a:xfrm>
            <a:off x="9153144" y="2359152"/>
            <a:ext cx="502920" cy="502920"/>
          </a:xfrm>
          <a:prstGeom prst="ellipse">
            <a:avLst/>
          </a:prstGeom>
          <a:solidFill>
            <a:srgbClr val="F5665C"/>
          </a:solidFill>
          <a:ln w="12700">
            <a:solidFill>
              <a:srgbClr val="F5665C"/>
            </a:solidFill>
            <a:prstDash val="solid"/>
          </a:ln>
        </p:spPr>
      </p:sp>
      <p:sp>
        <p:nvSpPr>
          <p:cNvPr id="29" name="Text 27"/>
          <p:cNvSpPr/>
          <p:nvPr/>
        </p:nvSpPr>
        <p:spPr>
          <a:xfrm>
            <a:off x="9153144" y="2484882"/>
            <a:ext cx="502920" cy="20116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0" name="Text 28"/>
          <p:cNvSpPr/>
          <p:nvPr/>
        </p:nvSpPr>
        <p:spPr>
          <a:xfrm>
            <a:off x="9171432" y="2999232"/>
            <a:ext cx="1965960" cy="347472"/>
          </a:xfrm>
          <a:prstGeom prst="rect">
            <a:avLst/>
          </a:prstGeom>
          <a:noFill/>
          <a:ln/>
        </p:spPr>
        <p:txBody>
          <a:bodyPr wrap="square" lIns="0" tIns="0" rIns="0" bIns="0" rtlCol="0" anchor="ctr"/>
          <a:lstStyle/>
          <a:p>
            <a:pPr indent="0" marL="0">
              <a:buNone/>
            </a:pPr>
            <a:r>
              <a:rPr lang="en-US" sz="2300" b="1" dirty="0">
                <a:solidFill>
                  <a:srgbClr val="12233F"/>
                </a:solidFill>
              </a:rPr>
              <a:t>Decide</a:t>
            </a:r>
            <a:endParaRPr lang="en-US" sz="2300" dirty="0"/>
          </a:p>
        </p:txBody>
      </p:sp>
      <p:sp>
        <p:nvSpPr>
          <p:cNvPr id="31" name="Text 29"/>
          <p:cNvSpPr/>
          <p:nvPr/>
        </p:nvSpPr>
        <p:spPr>
          <a:xfrm>
            <a:off x="9171432" y="3456432"/>
            <a:ext cx="1901952" cy="713232"/>
          </a:xfrm>
          <a:prstGeom prst="rect">
            <a:avLst/>
          </a:prstGeom>
          <a:noFill/>
          <a:ln/>
        </p:spPr>
        <p:txBody>
          <a:bodyPr wrap="square" lIns="0" tIns="0" rIns="0" bIns="0" rtlCol="0" anchor="ctr">
            <a:normAutofit/>
          </a:bodyPr>
          <a:lstStyle/>
          <a:p>
            <a:pPr indent="0" marL="0">
              <a:buNone/>
            </a:pPr>
            <a:r>
              <a:rPr lang="en-US" sz="1500" dirty="0">
                <a:solidFill>
                  <a:srgbClr val="4F6176"/>
                </a:solidFill>
              </a:rPr>
              <a:t>Named owner approves release and remains accountable.</a:t>
            </a:r>
            <a:endParaRPr lang="en-US" sz="1500" dirty="0"/>
          </a:p>
        </p:txBody>
      </p:sp>
      <p:sp>
        <p:nvSpPr>
          <p:cNvPr id="32" name="Shape 30"/>
          <p:cNvSpPr/>
          <p:nvPr/>
        </p:nvSpPr>
        <p:spPr>
          <a:xfrm>
            <a:off x="658368" y="4828032"/>
            <a:ext cx="10744200" cy="914400"/>
          </a:xfrm>
          <a:prstGeom prst="roundRect">
            <a:avLst>
              <a:gd name="adj" fmla="val 10000"/>
            </a:avLst>
          </a:prstGeom>
          <a:solidFill>
            <a:srgbClr val="092F57"/>
          </a:solidFill>
          <a:ln w="12700">
            <a:solidFill>
              <a:srgbClr val="092F57"/>
            </a:solidFill>
            <a:prstDash val="solid"/>
          </a:ln>
          <a:effectLst>
            <a:outerShdw sx="100000" sy="100000" kx="0" ky="0" algn="bl" rotWithShape="0" blurRad="25400" dist="50800" dir="2700000">
              <a:srgbClr val="0B1F33">
                <a:alpha val="12000"/>
              </a:srgbClr>
            </a:outerShdw>
          </a:effectLst>
        </p:spPr>
      </p:sp>
      <p:sp>
        <p:nvSpPr>
          <p:cNvPr id="33" name="Text 31"/>
          <p:cNvSpPr/>
          <p:nvPr/>
        </p:nvSpPr>
        <p:spPr>
          <a:xfrm>
            <a:off x="914400" y="5001768"/>
            <a:ext cx="1920240" cy="201168"/>
          </a:xfrm>
          <a:prstGeom prst="rect">
            <a:avLst/>
          </a:prstGeom>
          <a:noFill/>
          <a:ln/>
        </p:spPr>
        <p:txBody>
          <a:bodyPr wrap="square" lIns="0" tIns="0" rIns="0" bIns="0" rtlCol="0" anchor="ctr"/>
          <a:lstStyle/>
          <a:p>
            <a:pPr indent="0" marL="0">
              <a:buNone/>
            </a:pPr>
            <a:r>
              <a:rPr lang="en-US" sz="950" b="1" spc="110" kern="0" dirty="0">
                <a:solidFill>
                  <a:srgbClr val="55D6BE"/>
                </a:solidFill>
              </a:rPr>
              <a:t>THE PRODUCTIVITY GAIN</a:t>
            </a:r>
            <a:endParaRPr lang="en-US" sz="950" dirty="0"/>
          </a:p>
        </p:txBody>
      </p:sp>
      <p:sp>
        <p:nvSpPr>
          <p:cNvPr id="34" name="Text 32"/>
          <p:cNvSpPr/>
          <p:nvPr/>
        </p:nvSpPr>
        <p:spPr>
          <a:xfrm>
            <a:off x="2880360" y="4937760"/>
            <a:ext cx="7955280" cy="411480"/>
          </a:xfrm>
          <a:prstGeom prst="rect">
            <a:avLst/>
          </a:prstGeom>
          <a:noFill/>
          <a:ln/>
        </p:spPr>
        <p:txBody>
          <a:bodyPr wrap="square" lIns="0" tIns="0" rIns="0" bIns="0" rtlCol="0" anchor="ctr">
            <a:normAutofit/>
          </a:bodyPr>
          <a:lstStyle/>
          <a:p>
            <a:pPr algn="l" indent="0" marL="0">
              <a:buNone/>
            </a:pPr>
            <a:r>
              <a:rPr lang="en-US" sz="1950" b="1" dirty="0">
                <a:solidFill>
                  <a:srgbClr val="FFFFFF"/>
                </a:solidFill>
              </a:rPr>
              <a:t>Agents compress production. Humans move up to direction, judgement and accountability.</a:t>
            </a:r>
            <a:endParaRPr lang="en-US" sz="1950" dirty="0"/>
          </a:p>
        </p:txBody>
      </p:sp>
      <p:sp>
        <p:nvSpPr>
          <p:cNvPr id="35" name="Text 33">
            <a:hlinkClick r:id="rId1" tooltip=""/>
          </p:cNvPr>
          <p:cNvSpPr/>
          <p:nvPr/>
        </p:nvSpPr>
        <p:spPr>
          <a:xfrm>
            <a:off x="658368" y="6428232"/>
            <a:ext cx="9921240" cy="219456"/>
          </a:xfrm>
          <a:prstGeom prst="rect">
            <a:avLst/>
          </a:prstGeom>
          <a:noFill/>
          <a:ln/>
        </p:spPr>
        <p:txBody>
          <a:bodyPr wrap="square" lIns="0" tIns="0" rIns="0" bIns="0" rtlCol="0" anchor="ctr">
            <a:normAutofit/>
          </a:bodyPr>
          <a:lstStyle/>
          <a:p>
            <a:pPr indent="0" marL="0">
              <a:buNone/>
            </a:pPr>
            <a:r>
              <a:rPr lang="en-US" sz="1000" u="sng" dirty="0">
                <a:solidFill>
                  <a:srgbClr val="72819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Tertiary Infotech Academy practitioner experience (websites and software projects)</a:t>
            </a:r>
            <a:endParaRPr lang="en-US" sz="1000" dirty="0"/>
          </a:p>
        </p:txBody>
      </p:sp>
      <p:sp>
        <p:nvSpPr>
          <p:cNvPr id="36" name="Text 34"/>
          <p:cNvSpPr/>
          <p:nvPr/>
        </p:nvSpPr>
        <p:spPr>
          <a:xfrm>
            <a:off x="9464040" y="6446520"/>
            <a:ext cx="2176272" cy="201168"/>
          </a:xfrm>
          <a:prstGeom prst="rect">
            <a:avLst/>
          </a:prstGeom>
          <a:noFill/>
          <a:ln/>
        </p:spPr>
        <p:txBody>
          <a:bodyPr wrap="square" lIns="0" tIns="0" rIns="0" bIns="0" rtlCol="0" anchor="ctr"/>
          <a:lstStyle/>
          <a:p>
            <a:pPr algn="r" indent="0" marL="0">
              <a:buNone/>
            </a:pPr>
            <a:r>
              <a:rPr lang="en-US" sz="850" b="1" spc="60" kern="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sp>
      <p:sp>
        <p:nvSpPr>
          <p:cNvPr id="3" name="Text 1"/>
          <p:cNvSpPr/>
          <p:nvPr/>
        </p:nvSpPr>
        <p:spPr>
          <a:xfrm>
            <a:off x="658368" y="228600"/>
            <a:ext cx="3474720" cy="219456"/>
          </a:xfrm>
          <a:prstGeom prst="rect">
            <a:avLst/>
          </a:prstGeom>
          <a:noFill/>
          <a:ln/>
        </p:spPr>
        <p:txBody>
          <a:bodyPr wrap="square" lIns="0" tIns="0" rIns="0" bIns="0" rtlCol="0" anchor="ctr"/>
          <a:lstStyle/>
          <a:p>
            <a:pPr indent="0" marL="0">
              <a:buNone/>
            </a:pPr>
            <a:r>
              <a:rPr lang="en-US" sz="900" b="1" spc="170" kern="0" dirty="0">
                <a:solidFill>
                  <a:srgbClr val="0B6E75"/>
                </a:solidFill>
                <a:latin typeface="Arial" pitchFamily="34" charset="0"/>
                <a:ea typeface="Arial" pitchFamily="34" charset="-122"/>
                <a:cs typeface="Arial" pitchFamily="34" charset="-120"/>
              </a:rPr>
              <a:t>THE ADOPTION BOTTLENECK</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algn="r" indent="0" marL="0">
              <a:buNone/>
            </a:pPr>
            <a:r>
              <a:rPr lang="en-US" sz="1000" b="1" dirty="0">
                <a:solidFill>
                  <a:srgbClr val="728197"/>
                </a:solidFill>
                <a:latin typeface="Arial" pitchFamily="34" charset="0"/>
                <a:ea typeface="Arial" pitchFamily="34" charset="-122"/>
                <a:cs typeface="Arial" pitchFamily="34" charset="-120"/>
              </a:rPr>
              <a:t>05</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indent="0" marL="0">
              <a:buNone/>
            </a:pPr>
            <a:r>
              <a:rPr lang="en-US" sz="2900" b="1" dirty="0">
                <a:solidFill>
                  <a:srgbClr val="12233F"/>
                </a:solidFill>
                <a:latin typeface="Arial" pitchFamily="34" charset="0"/>
                <a:ea typeface="Arial" pitchFamily="34" charset="-122"/>
                <a:cs typeface="Arial" pitchFamily="34" charset="-120"/>
              </a:rPr>
              <a:t>The real barrier is a threatened work identity.</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indent="0" marL="0">
              <a:buNone/>
            </a:pPr>
            <a:r>
              <a:rPr lang="en-US" sz="1500" dirty="0">
                <a:solidFill>
                  <a:srgbClr val="4F6176"/>
                </a:solidFill>
                <a:latin typeface="Arial" pitchFamily="34" charset="0"/>
                <a:ea typeface="Arial" pitchFamily="34" charset="-122"/>
                <a:cs typeface="Arial" pitchFamily="34" charset="-120"/>
              </a:rPr>
              <a:t>Resistance often sounds technical, but underneath it are fear, fairness, control and accountability.</a:t>
            </a:r>
            <a:endParaRPr lang="en-US" sz="1500" dirty="0"/>
          </a:p>
        </p:txBody>
      </p:sp>
      <p:sp>
        <p:nvSpPr>
          <p:cNvPr id="7" name="Shape 5"/>
          <p:cNvSpPr/>
          <p:nvPr/>
        </p:nvSpPr>
        <p:spPr>
          <a:xfrm>
            <a:off x="640080" y="2834640"/>
            <a:ext cx="10881360" cy="0"/>
          </a:xfrm>
          <a:prstGeom prst="line">
            <a:avLst/>
          </a:prstGeom>
          <a:noFill/>
          <a:ln w="50800">
            <a:solidFill>
              <a:srgbClr val="2F6FED"/>
            </a:solidFill>
            <a:prstDash val="solid"/>
          </a:ln>
        </p:spPr>
      </p:sp>
      <p:sp>
        <p:nvSpPr>
          <p:cNvPr id="8" name="Text 6"/>
          <p:cNvSpPr/>
          <p:nvPr/>
        </p:nvSpPr>
        <p:spPr>
          <a:xfrm>
            <a:off x="713232" y="1719072"/>
            <a:ext cx="1737360" cy="219456"/>
          </a:xfrm>
          <a:prstGeom prst="rect">
            <a:avLst/>
          </a:prstGeom>
          <a:noFill/>
          <a:ln/>
        </p:spPr>
        <p:txBody>
          <a:bodyPr wrap="square" lIns="0" tIns="0" rIns="0" bIns="0" rtlCol="0" anchor="ctr"/>
          <a:lstStyle/>
          <a:p>
            <a:pPr indent="0" marL="0">
              <a:buNone/>
            </a:pPr>
            <a:r>
              <a:rPr lang="en-US" sz="1000" b="1" spc="120" kern="0" dirty="0">
                <a:solidFill>
                  <a:srgbClr val="2F6FED"/>
                </a:solidFill>
              </a:rPr>
              <a:t>WHAT WE HEAR</a:t>
            </a:r>
            <a:endParaRPr lang="en-US" sz="1000" dirty="0"/>
          </a:p>
        </p:txBody>
      </p:sp>
      <p:sp>
        <p:nvSpPr>
          <p:cNvPr id="9" name="Shape 7"/>
          <p:cNvSpPr/>
          <p:nvPr/>
        </p:nvSpPr>
        <p:spPr>
          <a:xfrm>
            <a:off x="731520" y="2011680"/>
            <a:ext cx="3154680" cy="566928"/>
          </a:xfrm>
          <a:prstGeom prst="roundRect">
            <a:avLst>
              <a:gd name="adj" fmla="val 16129"/>
            </a:avLst>
          </a:prstGeom>
          <a:solidFill>
            <a:srgbClr val="FFFFFF"/>
          </a:solidFill>
          <a:ln w="12700">
            <a:solidFill>
              <a:srgbClr val="D7E1EA"/>
            </a:solidFill>
            <a:prstDash val="solid"/>
          </a:ln>
          <a:effectLst>
            <a:outerShdw sx="100000" sy="100000" kx="0" ky="0" algn="bl" rotWithShape="0" blurRad="25400" dist="50800" dir="2700000">
              <a:srgbClr val="0B1F33">
                <a:alpha val="12000"/>
              </a:srgbClr>
            </a:outerShdw>
          </a:effectLst>
        </p:spPr>
      </p:sp>
      <p:sp>
        <p:nvSpPr>
          <p:cNvPr id="10" name="Text 8"/>
          <p:cNvSpPr/>
          <p:nvPr/>
        </p:nvSpPr>
        <p:spPr>
          <a:xfrm>
            <a:off x="896112" y="2176272"/>
            <a:ext cx="2825496" cy="228600"/>
          </a:xfrm>
          <a:prstGeom prst="rect">
            <a:avLst/>
          </a:prstGeom>
          <a:noFill/>
          <a:ln/>
        </p:spPr>
        <p:txBody>
          <a:bodyPr wrap="square" lIns="0" tIns="0" rIns="0" bIns="0" rtlCol="0" anchor="ctr">
            <a:normAutofit/>
          </a:bodyPr>
          <a:lstStyle/>
          <a:p>
            <a:pPr algn="ctr" indent="0" marL="0">
              <a:buNone/>
            </a:pPr>
            <a:r>
              <a:rPr lang="en-US" sz="1550" b="1" dirty="0">
                <a:solidFill>
                  <a:srgbClr val="12233F"/>
                </a:solidFill>
              </a:rPr>
              <a:t>"The agent is wrong."</a:t>
            </a:r>
            <a:endParaRPr lang="en-US" sz="1550" dirty="0"/>
          </a:p>
        </p:txBody>
      </p:sp>
      <p:sp>
        <p:nvSpPr>
          <p:cNvPr id="11" name="Shape 9"/>
          <p:cNvSpPr/>
          <p:nvPr/>
        </p:nvSpPr>
        <p:spPr>
          <a:xfrm>
            <a:off x="4114800" y="2011680"/>
            <a:ext cx="3154680" cy="566928"/>
          </a:xfrm>
          <a:prstGeom prst="roundRect">
            <a:avLst>
              <a:gd name="adj" fmla="val 16129"/>
            </a:avLst>
          </a:prstGeom>
          <a:solidFill>
            <a:srgbClr val="FFF5DA"/>
          </a:solidFill>
          <a:ln w="12700">
            <a:solidFill>
              <a:srgbClr val="D7E1EA"/>
            </a:solidFill>
            <a:prstDash val="solid"/>
          </a:ln>
          <a:effectLst>
            <a:outerShdw sx="100000" sy="100000" kx="0" ky="0" algn="bl" rotWithShape="0" blurRad="25400" dist="50800" dir="2700000">
              <a:srgbClr val="0B1F33">
                <a:alpha val="12000"/>
              </a:srgbClr>
            </a:outerShdw>
          </a:effectLst>
        </p:spPr>
      </p:sp>
      <p:sp>
        <p:nvSpPr>
          <p:cNvPr id="12" name="Text 10"/>
          <p:cNvSpPr/>
          <p:nvPr/>
        </p:nvSpPr>
        <p:spPr>
          <a:xfrm>
            <a:off x="4279392" y="2176272"/>
            <a:ext cx="2825496" cy="228600"/>
          </a:xfrm>
          <a:prstGeom prst="rect">
            <a:avLst/>
          </a:prstGeom>
          <a:noFill/>
          <a:ln/>
        </p:spPr>
        <p:txBody>
          <a:bodyPr wrap="square" lIns="0" tIns="0" rIns="0" bIns="0" rtlCol="0" anchor="ctr">
            <a:normAutofit/>
          </a:bodyPr>
          <a:lstStyle/>
          <a:p>
            <a:pPr algn="ctr" indent="0" marL="0">
              <a:buNone/>
            </a:pPr>
            <a:r>
              <a:rPr lang="en-US" sz="1550" b="1" dirty="0">
                <a:solidFill>
                  <a:srgbClr val="12233F"/>
                </a:solidFill>
              </a:rPr>
              <a:t>"This will not work here."</a:t>
            </a:r>
            <a:endParaRPr lang="en-US" sz="1550" dirty="0"/>
          </a:p>
        </p:txBody>
      </p:sp>
      <p:sp>
        <p:nvSpPr>
          <p:cNvPr id="13" name="Shape 11"/>
          <p:cNvSpPr/>
          <p:nvPr/>
        </p:nvSpPr>
        <p:spPr>
          <a:xfrm>
            <a:off x="7498080" y="2011680"/>
            <a:ext cx="3154680" cy="566928"/>
          </a:xfrm>
          <a:prstGeom prst="roundRect">
            <a:avLst>
              <a:gd name="adj" fmla="val 16129"/>
            </a:avLst>
          </a:prstGeom>
          <a:solidFill>
            <a:srgbClr val="FFFFFF"/>
          </a:solidFill>
          <a:ln w="12700">
            <a:solidFill>
              <a:srgbClr val="D7E1EA"/>
            </a:solidFill>
            <a:prstDash val="solid"/>
          </a:ln>
          <a:effectLst>
            <a:outerShdw sx="100000" sy="100000" kx="0" ky="0" algn="bl" rotWithShape="0" blurRad="25400" dist="50800" dir="2700000">
              <a:srgbClr val="0B1F33">
                <a:alpha val="12000"/>
              </a:srgbClr>
            </a:outerShdw>
          </a:effectLst>
        </p:spPr>
      </p:sp>
      <p:sp>
        <p:nvSpPr>
          <p:cNvPr id="14" name="Text 12"/>
          <p:cNvSpPr/>
          <p:nvPr/>
        </p:nvSpPr>
        <p:spPr>
          <a:xfrm>
            <a:off x="7662672" y="2176272"/>
            <a:ext cx="2825496" cy="228600"/>
          </a:xfrm>
          <a:prstGeom prst="rect">
            <a:avLst/>
          </a:prstGeom>
          <a:noFill/>
          <a:ln/>
        </p:spPr>
        <p:txBody>
          <a:bodyPr wrap="square" lIns="0" tIns="0" rIns="0" bIns="0" rtlCol="0" anchor="ctr">
            <a:normAutofit/>
          </a:bodyPr>
          <a:lstStyle/>
          <a:p>
            <a:pPr algn="ctr" indent="0" marL="0">
              <a:buNone/>
            </a:pPr>
            <a:r>
              <a:rPr lang="en-US" sz="1550" b="1" dirty="0">
                <a:solidFill>
                  <a:srgbClr val="12233F"/>
                </a:solidFill>
              </a:rPr>
              <a:t>"I do not have time to learn it."</a:t>
            </a:r>
            <a:endParaRPr lang="en-US" sz="1550" dirty="0"/>
          </a:p>
        </p:txBody>
      </p:sp>
      <p:sp>
        <p:nvSpPr>
          <p:cNvPr id="15" name="Text 13"/>
          <p:cNvSpPr/>
          <p:nvPr/>
        </p:nvSpPr>
        <p:spPr>
          <a:xfrm>
            <a:off x="713232" y="3127248"/>
            <a:ext cx="2743200" cy="219456"/>
          </a:xfrm>
          <a:prstGeom prst="rect">
            <a:avLst/>
          </a:prstGeom>
          <a:noFill/>
          <a:ln/>
        </p:spPr>
        <p:txBody>
          <a:bodyPr wrap="square" lIns="0" tIns="0" rIns="0" bIns="0" rtlCol="0" anchor="ctr"/>
          <a:lstStyle/>
          <a:p>
            <a:pPr indent="0" marL="0">
              <a:buNone/>
            </a:pPr>
            <a:r>
              <a:rPr lang="en-US" sz="1000" b="1" spc="120" kern="0" dirty="0">
                <a:solidFill>
                  <a:srgbClr val="F5665C"/>
                </a:solidFill>
              </a:rPr>
              <a:t>WHAT IS OFTEN UNDERNEATH</a:t>
            </a:r>
            <a:endParaRPr lang="en-US" sz="1000" dirty="0"/>
          </a:p>
        </p:txBody>
      </p:sp>
      <p:sp>
        <p:nvSpPr>
          <p:cNvPr id="16" name="Shape 14"/>
          <p:cNvSpPr/>
          <p:nvPr/>
        </p:nvSpPr>
        <p:spPr>
          <a:xfrm>
            <a:off x="749808" y="3547872"/>
            <a:ext cx="2359152" cy="1572768"/>
          </a:xfrm>
          <a:prstGeom prst="roundRect">
            <a:avLst>
              <a:gd name="adj" fmla="val 4651"/>
            </a:avLst>
          </a:prstGeom>
          <a:solidFill>
            <a:srgbClr val="FFFFFF"/>
          </a:solidFill>
          <a:ln w="19050">
            <a:solidFill>
              <a:srgbClr val="F5665C"/>
            </a:solidFill>
            <a:prstDash val="solid"/>
          </a:ln>
        </p:spPr>
      </p:sp>
      <p:sp>
        <p:nvSpPr>
          <p:cNvPr id="17" name="Text 15"/>
          <p:cNvSpPr/>
          <p:nvPr/>
        </p:nvSpPr>
        <p:spPr>
          <a:xfrm>
            <a:off x="932688" y="3803904"/>
            <a:ext cx="1965960" cy="256032"/>
          </a:xfrm>
          <a:prstGeom prst="rect">
            <a:avLst/>
          </a:prstGeom>
          <a:noFill/>
          <a:ln/>
        </p:spPr>
        <p:txBody>
          <a:bodyPr wrap="square" lIns="0" tIns="0" rIns="0" bIns="0" rtlCol="0" anchor="ctr"/>
          <a:lstStyle/>
          <a:p>
            <a:pPr algn="ctr" indent="0" marL="0">
              <a:buNone/>
            </a:pPr>
            <a:r>
              <a:rPr lang="en-US" sz="1300" b="1" spc="110" kern="0" dirty="0">
                <a:solidFill>
                  <a:srgbClr val="F5665C"/>
                </a:solidFill>
              </a:rPr>
              <a:t>JOB</a:t>
            </a:r>
            <a:endParaRPr lang="en-US" sz="1300" dirty="0"/>
          </a:p>
        </p:txBody>
      </p:sp>
      <p:sp>
        <p:nvSpPr>
          <p:cNvPr id="18" name="Text 16"/>
          <p:cNvSpPr/>
          <p:nvPr/>
        </p:nvSpPr>
        <p:spPr>
          <a:xfrm>
            <a:off x="932688" y="4224528"/>
            <a:ext cx="1965960" cy="475488"/>
          </a:xfrm>
          <a:prstGeom prst="rect">
            <a:avLst/>
          </a:prstGeom>
          <a:noFill/>
          <a:ln/>
        </p:spPr>
        <p:txBody>
          <a:bodyPr wrap="square" lIns="0" tIns="0" rIns="0" bIns="0" rtlCol="0" anchor="ctr">
            <a:normAutofit/>
          </a:bodyPr>
          <a:lstStyle/>
          <a:p>
            <a:pPr algn="ctr" indent="0" marL="0">
              <a:buNone/>
            </a:pPr>
            <a:r>
              <a:rPr lang="en-US" sz="1700" b="1" dirty="0">
                <a:solidFill>
                  <a:srgbClr val="12233F"/>
                </a:solidFill>
              </a:rPr>
              <a:t>Will I still be needed?</a:t>
            </a:r>
            <a:endParaRPr lang="en-US" sz="1700" dirty="0"/>
          </a:p>
        </p:txBody>
      </p:sp>
      <p:sp>
        <p:nvSpPr>
          <p:cNvPr id="19" name="Shape 17"/>
          <p:cNvSpPr/>
          <p:nvPr/>
        </p:nvSpPr>
        <p:spPr>
          <a:xfrm>
            <a:off x="3429000" y="3547872"/>
            <a:ext cx="2359152" cy="1572768"/>
          </a:xfrm>
          <a:prstGeom prst="roundRect">
            <a:avLst>
              <a:gd name="adj" fmla="val 4651"/>
            </a:avLst>
          </a:prstGeom>
          <a:solidFill>
            <a:srgbClr val="FFFFFF"/>
          </a:solidFill>
          <a:ln w="19050">
            <a:solidFill>
              <a:srgbClr val="F4B942"/>
            </a:solidFill>
            <a:prstDash val="solid"/>
          </a:ln>
        </p:spPr>
      </p:sp>
      <p:sp>
        <p:nvSpPr>
          <p:cNvPr id="20" name="Text 18"/>
          <p:cNvSpPr/>
          <p:nvPr/>
        </p:nvSpPr>
        <p:spPr>
          <a:xfrm>
            <a:off x="3611880" y="3803904"/>
            <a:ext cx="1965960" cy="256032"/>
          </a:xfrm>
          <a:prstGeom prst="rect">
            <a:avLst/>
          </a:prstGeom>
          <a:noFill/>
          <a:ln/>
        </p:spPr>
        <p:txBody>
          <a:bodyPr wrap="square" lIns="0" tIns="0" rIns="0" bIns="0" rtlCol="0" anchor="ctr"/>
          <a:lstStyle/>
          <a:p>
            <a:pPr algn="ctr" indent="0" marL="0">
              <a:buNone/>
            </a:pPr>
            <a:r>
              <a:rPr lang="en-US" sz="1300" b="1" spc="110" kern="0" dirty="0">
                <a:solidFill>
                  <a:srgbClr val="F4B942"/>
                </a:solidFill>
              </a:rPr>
              <a:t>IDENTITY</a:t>
            </a:r>
            <a:endParaRPr lang="en-US" sz="1300" dirty="0"/>
          </a:p>
        </p:txBody>
      </p:sp>
      <p:sp>
        <p:nvSpPr>
          <p:cNvPr id="21" name="Text 19"/>
          <p:cNvSpPr/>
          <p:nvPr/>
        </p:nvSpPr>
        <p:spPr>
          <a:xfrm>
            <a:off x="3611880" y="4224528"/>
            <a:ext cx="1965960" cy="475488"/>
          </a:xfrm>
          <a:prstGeom prst="rect">
            <a:avLst/>
          </a:prstGeom>
          <a:noFill/>
          <a:ln/>
        </p:spPr>
        <p:txBody>
          <a:bodyPr wrap="square" lIns="0" tIns="0" rIns="0" bIns="0" rtlCol="0" anchor="ctr">
            <a:normAutofit/>
          </a:bodyPr>
          <a:lstStyle/>
          <a:p>
            <a:pPr algn="ctr" indent="0" marL="0">
              <a:buNone/>
            </a:pPr>
            <a:r>
              <a:rPr lang="en-US" sz="1700" b="1" dirty="0">
                <a:solidFill>
                  <a:srgbClr val="12233F"/>
                </a:solidFill>
              </a:rPr>
              <a:t>What happens to my expertise?</a:t>
            </a:r>
            <a:endParaRPr lang="en-US" sz="1700" dirty="0"/>
          </a:p>
        </p:txBody>
      </p:sp>
      <p:sp>
        <p:nvSpPr>
          <p:cNvPr id="22" name="Shape 20"/>
          <p:cNvSpPr/>
          <p:nvPr/>
        </p:nvSpPr>
        <p:spPr>
          <a:xfrm>
            <a:off x="6108192" y="3547872"/>
            <a:ext cx="2359152" cy="1572768"/>
          </a:xfrm>
          <a:prstGeom prst="roundRect">
            <a:avLst>
              <a:gd name="adj" fmla="val 4651"/>
            </a:avLst>
          </a:prstGeom>
          <a:solidFill>
            <a:srgbClr val="FFFFFF"/>
          </a:solidFill>
          <a:ln w="19050">
            <a:solidFill>
              <a:srgbClr val="0C8A78"/>
            </a:solidFill>
            <a:prstDash val="solid"/>
          </a:ln>
        </p:spPr>
      </p:sp>
      <p:sp>
        <p:nvSpPr>
          <p:cNvPr id="23" name="Text 21"/>
          <p:cNvSpPr/>
          <p:nvPr/>
        </p:nvSpPr>
        <p:spPr>
          <a:xfrm>
            <a:off x="6291072" y="3803904"/>
            <a:ext cx="1965960" cy="256032"/>
          </a:xfrm>
          <a:prstGeom prst="rect">
            <a:avLst/>
          </a:prstGeom>
          <a:noFill/>
          <a:ln/>
        </p:spPr>
        <p:txBody>
          <a:bodyPr wrap="square" lIns="0" tIns="0" rIns="0" bIns="0" rtlCol="0" anchor="ctr"/>
          <a:lstStyle/>
          <a:p>
            <a:pPr algn="ctr" indent="0" marL="0">
              <a:buNone/>
            </a:pPr>
            <a:r>
              <a:rPr lang="en-US" sz="1300" b="1" spc="110" kern="0" dirty="0">
                <a:solidFill>
                  <a:srgbClr val="0C8A78"/>
                </a:solidFill>
              </a:rPr>
              <a:t>CONTROL</a:t>
            </a:r>
            <a:endParaRPr lang="en-US" sz="1300" dirty="0"/>
          </a:p>
        </p:txBody>
      </p:sp>
      <p:sp>
        <p:nvSpPr>
          <p:cNvPr id="24" name="Text 22"/>
          <p:cNvSpPr/>
          <p:nvPr/>
        </p:nvSpPr>
        <p:spPr>
          <a:xfrm>
            <a:off x="6291072" y="4224528"/>
            <a:ext cx="1965960" cy="475488"/>
          </a:xfrm>
          <a:prstGeom prst="rect">
            <a:avLst/>
          </a:prstGeom>
          <a:noFill/>
          <a:ln/>
        </p:spPr>
        <p:txBody>
          <a:bodyPr wrap="square" lIns="0" tIns="0" rIns="0" bIns="0" rtlCol="0" anchor="ctr">
            <a:normAutofit/>
          </a:bodyPr>
          <a:lstStyle/>
          <a:p>
            <a:pPr algn="ctr" indent="0" marL="0">
              <a:buNone/>
            </a:pPr>
            <a:r>
              <a:rPr lang="en-US" sz="1700" b="1" dirty="0">
                <a:solidFill>
                  <a:srgbClr val="12233F"/>
                </a:solidFill>
              </a:rPr>
              <a:t>Can I stop a bad action?</a:t>
            </a:r>
            <a:endParaRPr lang="en-US" sz="1700" dirty="0"/>
          </a:p>
        </p:txBody>
      </p:sp>
      <p:sp>
        <p:nvSpPr>
          <p:cNvPr id="25" name="Shape 23"/>
          <p:cNvSpPr/>
          <p:nvPr/>
        </p:nvSpPr>
        <p:spPr>
          <a:xfrm>
            <a:off x="8787384" y="3547872"/>
            <a:ext cx="2359152" cy="1572768"/>
          </a:xfrm>
          <a:prstGeom prst="roundRect">
            <a:avLst>
              <a:gd name="adj" fmla="val 4651"/>
            </a:avLst>
          </a:prstGeom>
          <a:solidFill>
            <a:srgbClr val="FFFFFF"/>
          </a:solidFill>
          <a:ln w="19050">
            <a:solidFill>
              <a:srgbClr val="2F6FED"/>
            </a:solidFill>
            <a:prstDash val="solid"/>
          </a:ln>
        </p:spPr>
      </p:sp>
      <p:sp>
        <p:nvSpPr>
          <p:cNvPr id="26" name="Text 24"/>
          <p:cNvSpPr/>
          <p:nvPr/>
        </p:nvSpPr>
        <p:spPr>
          <a:xfrm>
            <a:off x="8970264" y="3803904"/>
            <a:ext cx="1965960" cy="256032"/>
          </a:xfrm>
          <a:prstGeom prst="rect">
            <a:avLst/>
          </a:prstGeom>
          <a:noFill/>
          <a:ln/>
        </p:spPr>
        <p:txBody>
          <a:bodyPr wrap="square" lIns="0" tIns="0" rIns="0" bIns="0" rtlCol="0" anchor="ctr"/>
          <a:lstStyle/>
          <a:p>
            <a:pPr algn="ctr" indent="0" marL="0">
              <a:buNone/>
            </a:pPr>
            <a:r>
              <a:rPr lang="en-US" sz="1300" b="1" spc="110" kern="0" dirty="0">
                <a:solidFill>
                  <a:srgbClr val="2F6FED"/>
                </a:solidFill>
              </a:rPr>
              <a:t>BLAME</a:t>
            </a:r>
            <a:endParaRPr lang="en-US" sz="1300" dirty="0"/>
          </a:p>
        </p:txBody>
      </p:sp>
      <p:sp>
        <p:nvSpPr>
          <p:cNvPr id="27" name="Text 25"/>
          <p:cNvSpPr/>
          <p:nvPr/>
        </p:nvSpPr>
        <p:spPr>
          <a:xfrm>
            <a:off x="8970264" y="4224528"/>
            <a:ext cx="1965960" cy="475488"/>
          </a:xfrm>
          <a:prstGeom prst="rect">
            <a:avLst/>
          </a:prstGeom>
          <a:noFill/>
          <a:ln/>
        </p:spPr>
        <p:txBody>
          <a:bodyPr wrap="square" lIns="0" tIns="0" rIns="0" bIns="0" rtlCol="0" anchor="ctr">
            <a:normAutofit/>
          </a:bodyPr>
          <a:lstStyle/>
          <a:p>
            <a:pPr algn="ctr" indent="0" marL="0">
              <a:buNone/>
            </a:pPr>
            <a:r>
              <a:rPr lang="en-US" sz="1700" b="1" dirty="0">
                <a:solidFill>
                  <a:srgbClr val="12233F"/>
                </a:solidFill>
              </a:rPr>
              <a:t>Am I liable for its mistakes?</a:t>
            </a:r>
            <a:endParaRPr lang="en-US" sz="1700" dirty="0"/>
          </a:p>
        </p:txBody>
      </p:sp>
      <p:sp>
        <p:nvSpPr>
          <p:cNvPr id="28" name="Text 26"/>
          <p:cNvSpPr/>
          <p:nvPr/>
        </p:nvSpPr>
        <p:spPr>
          <a:xfrm>
            <a:off x="1371600" y="5559552"/>
            <a:ext cx="9326880" cy="393192"/>
          </a:xfrm>
          <a:prstGeom prst="rect">
            <a:avLst/>
          </a:prstGeom>
          <a:noFill/>
          <a:ln/>
        </p:spPr>
        <p:txBody>
          <a:bodyPr wrap="square" lIns="0" tIns="0" rIns="0" bIns="0" rtlCol="0" anchor="ctr"/>
          <a:lstStyle/>
          <a:p>
            <a:pPr algn="ctr" indent="0" marL="0">
              <a:buNone/>
            </a:pPr>
            <a:r>
              <a:rPr lang="en-US" sz="2300" b="1" dirty="0">
                <a:solidFill>
                  <a:srgbClr val="092F57"/>
                </a:solidFill>
              </a:rPr>
              <a:t>Technology deployment can be fast. Role transition is human.</a:t>
            </a:r>
            <a:endParaRPr lang="en-US" sz="2300" dirty="0"/>
          </a:p>
        </p:txBody>
      </p:sp>
      <p:sp>
        <p:nvSpPr>
          <p:cNvPr id="29" name="Text 27">
            <a:hlinkClick r:id="rId1" tooltip=""/>
          </p:cNvPr>
          <p:cNvSpPr/>
          <p:nvPr/>
        </p:nvSpPr>
        <p:spPr>
          <a:xfrm>
            <a:off x="658368" y="6428232"/>
            <a:ext cx="9921240" cy="219456"/>
          </a:xfrm>
          <a:prstGeom prst="rect">
            <a:avLst/>
          </a:prstGeom>
          <a:noFill/>
          <a:ln/>
        </p:spPr>
        <p:txBody>
          <a:bodyPr wrap="square" lIns="0" tIns="0" rIns="0" bIns="0" rtlCol="0" anchor="ctr">
            <a:normAutofit/>
          </a:bodyPr>
          <a:lstStyle/>
          <a:p>
            <a:pPr indent="0" marL="0">
              <a:buNone/>
            </a:pPr>
            <a:r>
              <a:rPr lang="en-US" sz="1000" u="sng" dirty="0">
                <a:solidFill>
                  <a:srgbClr val="72819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Tertiary practitioner observations and the Sarah coaching scenario</a:t>
            </a:r>
            <a:endParaRPr lang="en-US" sz="1000" dirty="0"/>
          </a:p>
        </p:txBody>
      </p:sp>
      <p:sp>
        <p:nvSpPr>
          <p:cNvPr id="30" name="Text 28"/>
          <p:cNvSpPr/>
          <p:nvPr/>
        </p:nvSpPr>
        <p:spPr>
          <a:xfrm>
            <a:off x="9464040" y="6446520"/>
            <a:ext cx="2176272" cy="201168"/>
          </a:xfrm>
          <a:prstGeom prst="rect">
            <a:avLst/>
          </a:prstGeom>
          <a:noFill/>
          <a:ln/>
        </p:spPr>
        <p:txBody>
          <a:bodyPr wrap="square" lIns="0" tIns="0" rIns="0" bIns="0" rtlCol="0" anchor="ctr"/>
          <a:lstStyle/>
          <a:p>
            <a:pPr algn="r" indent="0" marL="0">
              <a:buNone/>
            </a:pPr>
            <a:r>
              <a:rPr lang="en-US" sz="850" b="1" spc="60" kern="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sp>
      <p:sp>
        <p:nvSpPr>
          <p:cNvPr id="3" name="Text 1"/>
          <p:cNvSpPr/>
          <p:nvPr/>
        </p:nvSpPr>
        <p:spPr>
          <a:xfrm>
            <a:off x="658368" y="228600"/>
            <a:ext cx="3474720" cy="219456"/>
          </a:xfrm>
          <a:prstGeom prst="rect">
            <a:avLst/>
          </a:prstGeom>
          <a:noFill/>
          <a:ln/>
        </p:spPr>
        <p:txBody>
          <a:bodyPr wrap="square" lIns="0" tIns="0" rIns="0" bIns="0" rtlCol="0" anchor="ctr"/>
          <a:lstStyle/>
          <a:p>
            <a:pPr indent="0" marL="0">
              <a:buNone/>
            </a:pPr>
            <a:r>
              <a:rPr lang="en-US" sz="900" b="1" spc="170" kern="0" dirty="0">
                <a:solidFill>
                  <a:srgbClr val="0B6E75"/>
                </a:solidFill>
                <a:latin typeface="Arial" pitchFamily="34" charset="0"/>
                <a:ea typeface="Arial" pitchFamily="34" charset="-122"/>
                <a:cs typeface="Arial" pitchFamily="34" charset="-120"/>
              </a:rPr>
              <a:t>THE REDESIGN</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algn="r" indent="0" marL="0">
              <a:buNone/>
            </a:pPr>
            <a:r>
              <a:rPr lang="en-US" sz="1000" b="1" dirty="0">
                <a:solidFill>
                  <a:srgbClr val="728197"/>
                </a:solidFill>
                <a:latin typeface="Arial" pitchFamily="34" charset="0"/>
                <a:ea typeface="Arial" pitchFamily="34" charset="-122"/>
                <a:cs typeface="Arial" pitchFamily="34" charset="-120"/>
              </a:rPr>
              <a:t>06</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indent="0" marL="0">
              <a:buNone/>
            </a:pPr>
            <a:r>
              <a:rPr lang="en-US" sz="2900" b="1" dirty="0">
                <a:solidFill>
                  <a:srgbClr val="12233F"/>
                </a:solidFill>
                <a:latin typeface="Arial" pitchFamily="34" charset="0"/>
                <a:ea typeface="Arial" pitchFamily="34" charset="-122"/>
                <a:cs typeface="Arial" pitchFamily="34" charset="-120"/>
              </a:rPr>
              <a:t>Shift the role: from doing every task to managing a system of work.</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indent="0" marL="0">
              <a:buNone/>
            </a:pPr>
            <a:r>
              <a:rPr lang="en-US" sz="1500" dirty="0">
                <a:solidFill>
                  <a:srgbClr val="4F6176"/>
                </a:solidFill>
                <a:latin typeface="Arial" pitchFamily="34" charset="0"/>
                <a:ea typeface="Arial" pitchFamily="34" charset="-122"/>
                <a:cs typeface="Arial" pitchFamily="34" charset="-120"/>
              </a:rPr>
              <a:t>The agent takes production loops. The human gains decision rights, exception work and accountability.</a:t>
            </a:r>
            <a:endParaRPr lang="en-US" sz="1500" dirty="0"/>
          </a:p>
        </p:txBody>
      </p:sp>
      <p:sp>
        <p:nvSpPr>
          <p:cNvPr id="7" name="Shape 5"/>
          <p:cNvSpPr/>
          <p:nvPr/>
        </p:nvSpPr>
        <p:spPr>
          <a:xfrm>
            <a:off x="640080" y="1783080"/>
            <a:ext cx="3657600" cy="4224528"/>
          </a:xfrm>
          <a:prstGeom prst="roundRect">
            <a:avLst>
              <a:gd name="adj" fmla="val 2500"/>
            </a:avLst>
          </a:prstGeom>
          <a:solidFill>
            <a:srgbClr val="FFFFFF"/>
          </a:solidFill>
          <a:ln w="12700">
            <a:solidFill>
              <a:srgbClr val="D7E1EA"/>
            </a:solidFill>
            <a:prstDash val="solid"/>
          </a:ln>
          <a:effectLst>
            <a:outerShdw sx="100000" sy="100000" kx="0" ky="0" algn="bl" rotWithShape="0" blurRad="25400" dist="50800" dir="2700000">
              <a:srgbClr val="0B1F33">
                <a:alpha val="12000"/>
              </a:srgbClr>
            </a:outerShdw>
          </a:effectLst>
        </p:spPr>
      </p:sp>
      <p:sp>
        <p:nvSpPr>
          <p:cNvPr id="8" name="Shape 6"/>
          <p:cNvSpPr/>
          <p:nvPr/>
        </p:nvSpPr>
        <p:spPr>
          <a:xfrm>
            <a:off x="932688" y="2057400"/>
            <a:ext cx="914400" cy="310896"/>
          </a:xfrm>
          <a:prstGeom prst="roundRect">
            <a:avLst>
              <a:gd name="adj" fmla="val 47059"/>
            </a:avLst>
          </a:prstGeom>
          <a:solidFill>
            <a:srgbClr val="EEF2F6"/>
          </a:solidFill>
          <a:ln w="12700">
            <a:solidFill>
              <a:srgbClr val="EEF2F6"/>
            </a:solidFill>
            <a:prstDash val="solid"/>
          </a:ln>
        </p:spPr>
      </p:sp>
      <p:sp>
        <p:nvSpPr>
          <p:cNvPr id="9" name="Text 7"/>
          <p:cNvSpPr/>
          <p:nvPr/>
        </p:nvSpPr>
        <p:spPr>
          <a:xfrm>
            <a:off x="932688" y="2075688"/>
            <a:ext cx="914400" cy="201168"/>
          </a:xfrm>
          <a:prstGeom prst="rect">
            <a:avLst/>
          </a:prstGeom>
          <a:noFill/>
          <a:ln/>
        </p:spPr>
        <p:txBody>
          <a:bodyPr wrap="square" lIns="0" tIns="0" rIns="0" bIns="0" rtlCol="0" anchor="ctr">
            <a:normAutofit/>
          </a:bodyPr>
          <a:lstStyle/>
          <a:p>
            <a:pPr algn="ctr" indent="0" marL="0">
              <a:buNone/>
            </a:pPr>
            <a:r>
              <a:rPr lang="en-US" sz="1000" b="1" dirty="0">
                <a:solidFill>
                  <a:srgbClr val="4F6176"/>
                </a:solidFill>
                <a:latin typeface="Arial" pitchFamily="34" charset="0"/>
                <a:ea typeface="Arial" pitchFamily="34" charset="-122"/>
                <a:cs typeface="Arial" pitchFamily="34" charset="-120"/>
              </a:rPr>
              <a:t>BEFORE</a:t>
            </a:r>
            <a:endParaRPr lang="en-US" sz="1000" dirty="0"/>
          </a:p>
        </p:txBody>
      </p:sp>
      <p:sp>
        <p:nvSpPr>
          <p:cNvPr id="10" name="Text 8"/>
          <p:cNvSpPr/>
          <p:nvPr/>
        </p:nvSpPr>
        <p:spPr>
          <a:xfrm>
            <a:off x="914400" y="2542032"/>
            <a:ext cx="3108960" cy="585216"/>
          </a:xfrm>
          <a:prstGeom prst="rect">
            <a:avLst/>
          </a:prstGeom>
          <a:noFill/>
          <a:ln/>
        </p:spPr>
        <p:txBody>
          <a:bodyPr wrap="square" lIns="0" tIns="0" rIns="0" bIns="0" rtlCol="0" anchor="ctr"/>
          <a:lstStyle/>
          <a:p>
            <a:pPr algn="ctr" indent="0" marL="0">
              <a:buNone/>
            </a:pPr>
            <a:r>
              <a:rPr lang="en-US" sz="3500" b="1" dirty="0">
                <a:solidFill>
                  <a:srgbClr val="12233F"/>
                </a:solidFill>
              </a:rPr>
              <a:t>DOER</a:t>
            </a:r>
            <a:endParaRPr lang="en-US" sz="3500" dirty="0"/>
          </a:p>
        </p:txBody>
      </p:sp>
      <p:sp>
        <p:nvSpPr>
          <p:cNvPr id="11" name="Text 9"/>
          <p:cNvSpPr/>
          <p:nvPr/>
        </p:nvSpPr>
        <p:spPr>
          <a:xfrm>
            <a:off x="1051560" y="3291840"/>
            <a:ext cx="2788920" cy="274320"/>
          </a:xfrm>
          <a:prstGeom prst="rect">
            <a:avLst/>
          </a:prstGeom>
          <a:noFill/>
          <a:ln/>
        </p:spPr>
        <p:txBody>
          <a:bodyPr wrap="square" lIns="0" tIns="0" rIns="0" bIns="0" rtlCol="0" anchor="ctr"/>
          <a:lstStyle/>
          <a:p>
            <a:pPr algn="ctr" indent="0" marL="0">
              <a:buNone/>
            </a:pPr>
            <a:r>
              <a:rPr lang="en-US" sz="1600" dirty="0">
                <a:solidFill>
                  <a:srgbClr val="4F6176"/>
                </a:solidFill>
              </a:rPr>
              <a:t>Draft every output</a:t>
            </a:r>
            <a:endParaRPr lang="en-US" sz="1600" dirty="0"/>
          </a:p>
        </p:txBody>
      </p:sp>
      <p:sp>
        <p:nvSpPr>
          <p:cNvPr id="12" name="Text 10"/>
          <p:cNvSpPr/>
          <p:nvPr/>
        </p:nvSpPr>
        <p:spPr>
          <a:xfrm>
            <a:off x="1051560" y="3794760"/>
            <a:ext cx="2788920" cy="274320"/>
          </a:xfrm>
          <a:prstGeom prst="rect">
            <a:avLst/>
          </a:prstGeom>
          <a:noFill/>
          <a:ln/>
        </p:spPr>
        <p:txBody>
          <a:bodyPr wrap="square" lIns="0" tIns="0" rIns="0" bIns="0" rtlCol="0" anchor="ctr"/>
          <a:lstStyle/>
          <a:p>
            <a:pPr algn="ctr" indent="0" marL="0">
              <a:buNone/>
            </a:pPr>
            <a:r>
              <a:rPr lang="en-US" sz="1600" dirty="0">
                <a:solidFill>
                  <a:srgbClr val="4F6176"/>
                </a:solidFill>
              </a:rPr>
              <a:t>Run every check</a:t>
            </a:r>
            <a:endParaRPr lang="en-US" sz="1600" dirty="0"/>
          </a:p>
        </p:txBody>
      </p:sp>
      <p:sp>
        <p:nvSpPr>
          <p:cNvPr id="13" name="Text 11"/>
          <p:cNvSpPr/>
          <p:nvPr/>
        </p:nvSpPr>
        <p:spPr>
          <a:xfrm>
            <a:off x="1051560" y="4297680"/>
            <a:ext cx="2788920" cy="274320"/>
          </a:xfrm>
          <a:prstGeom prst="rect">
            <a:avLst/>
          </a:prstGeom>
          <a:noFill/>
          <a:ln/>
        </p:spPr>
        <p:txBody>
          <a:bodyPr wrap="square" lIns="0" tIns="0" rIns="0" bIns="0" rtlCol="0" anchor="ctr"/>
          <a:lstStyle/>
          <a:p>
            <a:pPr algn="ctr" indent="0" marL="0">
              <a:buNone/>
            </a:pPr>
            <a:r>
              <a:rPr lang="en-US" sz="1600" dirty="0">
                <a:solidFill>
                  <a:srgbClr val="4F6176"/>
                </a:solidFill>
              </a:rPr>
              <a:t>Handle every routine case</a:t>
            </a:r>
            <a:endParaRPr lang="en-US" sz="1600" dirty="0"/>
          </a:p>
        </p:txBody>
      </p:sp>
      <p:sp>
        <p:nvSpPr>
          <p:cNvPr id="14" name="Text 12"/>
          <p:cNvSpPr/>
          <p:nvPr/>
        </p:nvSpPr>
        <p:spPr>
          <a:xfrm>
            <a:off x="1051560" y="4800600"/>
            <a:ext cx="2788920" cy="274320"/>
          </a:xfrm>
          <a:prstGeom prst="rect">
            <a:avLst/>
          </a:prstGeom>
          <a:noFill/>
          <a:ln/>
        </p:spPr>
        <p:txBody>
          <a:bodyPr wrap="square" lIns="0" tIns="0" rIns="0" bIns="0" rtlCol="0" anchor="ctr"/>
          <a:lstStyle/>
          <a:p>
            <a:pPr algn="ctr" indent="0" marL="0">
              <a:buNone/>
            </a:pPr>
            <a:r>
              <a:rPr lang="en-US" sz="1600" dirty="0">
                <a:solidFill>
                  <a:srgbClr val="4F6176"/>
                </a:solidFill>
              </a:rPr>
              <a:t>Measure effort by volume</a:t>
            </a:r>
            <a:endParaRPr lang="en-US" sz="1600" dirty="0"/>
          </a:p>
        </p:txBody>
      </p:sp>
      <p:sp>
        <p:nvSpPr>
          <p:cNvPr id="15" name="Shape 13"/>
          <p:cNvSpPr/>
          <p:nvPr/>
        </p:nvSpPr>
        <p:spPr>
          <a:xfrm>
            <a:off x="4553712" y="3127248"/>
            <a:ext cx="713232" cy="1097280"/>
          </a:xfrm>
          <a:prstGeom prst="chevron">
            <a:avLst/>
          </a:prstGeom>
          <a:solidFill>
            <a:srgbClr val="F4B942"/>
          </a:solidFill>
          <a:ln w="12700">
            <a:solidFill>
              <a:srgbClr val="F4B942">
                <a:alpha val="0"/>
              </a:srgbClr>
            </a:solidFill>
            <a:prstDash val="solid"/>
          </a:ln>
        </p:spPr>
      </p:sp>
      <p:sp>
        <p:nvSpPr>
          <p:cNvPr id="16" name="Shape 14"/>
          <p:cNvSpPr/>
          <p:nvPr/>
        </p:nvSpPr>
        <p:spPr>
          <a:xfrm>
            <a:off x="5486400" y="1783080"/>
            <a:ext cx="5989320" cy="4224528"/>
          </a:xfrm>
          <a:prstGeom prst="roundRect">
            <a:avLst>
              <a:gd name="adj" fmla="val 2165"/>
            </a:avLst>
          </a:prstGeom>
          <a:solidFill>
            <a:srgbClr val="092F57"/>
          </a:solidFill>
          <a:ln w="12700">
            <a:solidFill>
              <a:srgbClr val="092F57"/>
            </a:solidFill>
            <a:prstDash val="solid"/>
          </a:ln>
          <a:effectLst>
            <a:outerShdw sx="100000" sy="100000" kx="0" ky="0" algn="bl" rotWithShape="0" blurRad="25400" dist="50800" dir="2700000">
              <a:srgbClr val="0B1F33">
                <a:alpha val="12000"/>
              </a:srgbClr>
            </a:outerShdw>
          </a:effectLst>
        </p:spPr>
      </p:sp>
      <p:sp>
        <p:nvSpPr>
          <p:cNvPr id="17" name="Shape 15"/>
          <p:cNvSpPr/>
          <p:nvPr/>
        </p:nvSpPr>
        <p:spPr>
          <a:xfrm>
            <a:off x="5779008" y="2057400"/>
            <a:ext cx="896112" cy="310896"/>
          </a:xfrm>
          <a:prstGeom prst="roundRect">
            <a:avLst>
              <a:gd name="adj" fmla="val 47059"/>
            </a:avLst>
          </a:prstGeom>
          <a:solidFill>
            <a:srgbClr val="55D6BE"/>
          </a:solidFill>
          <a:ln w="12700">
            <a:solidFill>
              <a:srgbClr val="55D6BE"/>
            </a:solidFill>
            <a:prstDash val="solid"/>
          </a:ln>
        </p:spPr>
      </p:sp>
      <p:sp>
        <p:nvSpPr>
          <p:cNvPr id="18" name="Text 16"/>
          <p:cNvSpPr/>
          <p:nvPr/>
        </p:nvSpPr>
        <p:spPr>
          <a:xfrm>
            <a:off x="5779008" y="2075688"/>
            <a:ext cx="896112" cy="201168"/>
          </a:xfrm>
          <a:prstGeom prst="rect">
            <a:avLst/>
          </a:prstGeom>
          <a:noFill/>
          <a:ln/>
        </p:spPr>
        <p:txBody>
          <a:bodyPr wrap="square" lIns="0" tIns="0" rIns="0" bIns="0" rtlCol="0" anchor="ctr">
            <a:normAutofit/>
          </a:bodyPr>
          <a:lstStyle/>
          <a:p>
            <a:pPr algn="ctr" indent="0" marL="0">
              <a:buNone/>
            </a:pPr>
            <a:r>
              <a:rPr lang="en-US" sz="1000" b="1" dirty="0">
                <a:solidFill>
                  <a:srgbClr val="092F57"/>
                </a:solidFill>
                <a:latin typeface="Arial" pitchFamily="34" charset="0"/>
                <a:ea typeface="Arial" pitchFamily="34" charset="-122"/>
                <a:cs typeface="Arial" pitchFamily="34" charset="-120"/>
              </a:rPr>
              <a:t>AFTER</a:t>
            </a:r>
            <a:endParaRPr lang="en-US" sz="1000" dirty="0"/>
          </a:p>
        </p:txBody>
      </p:sp>
      <p:sp>
        <p:nvSpPr>
          <p:cNvPr id="19" name="Text 17"/>
          <p:cNvSpPr/>
          <p:nvPr/>
        </p:nvSpPr>
        <p:spPr>
          <a:xfrm>
            <a:off x="5779008" y="2523744"/>
            <a:ext cx="5349240" cy="530352"/>
          </a:xfrm>
          <a:prstGeom prst="rect">
            <a:avLst/>
          </a:prstGeom>
          <a:noFill/>
          <a:ln/>
        </p:spPr>
        <p:txBody>
          <a:bodyPr wrap="square" lIns="0" tIns="0" rIns="0" bIns="0" rtlCol="0" anchor="ctr"/>
          <a:lstStyle/>
          <a:p>
            <a:pPr algn="ctr" indent="0" marL="0">
              <a:buNone/>
            </a:pPr>
            <a:r>
              <a:rPr lang="en-US" sz="3300" b="1" dirty="0">
                <a:solidFill>
                  <a:srgbClr val="FFFFFF"/>
                </a:solidFill>
              </a:rPr>
              <a:t>HUMAN OWNER</a:t>
            </a:r>
            <a:endParaRPr lang="en-US" sz="3300" dirty="0"/>
          </a:p>
        </p:txBody>
      </p:sp>
      <p:sp>
        <p:nvSpPr>
          <p:cNvPr id="20" name="Shape 18"/>
          <p:cNvSpPr/>
          <p:nvPr/>
        </p:nvSpPr>
        <p:spPr>
          <a:xfrm>
            <a:off x="5833872" y="3310128"/>
            <a:ext cx="1572768" cy="960120"/>
          </a:xfrm>
          <a:prstGeom prst="roundRect">
            <a:avLst>
              <a:gd name="adj" fmla="val 7619"/>
            </a:avLst>
          </a:prstGeom>
          <a:solidFill>
            <a:srgbClr val="2F6FED"/>
          </a:solidFill>
          <a:ln w="12700">
            <a:solidFill>
              <a:srgbClr val="2F6FED"/>
            </a:solidFill>
            <a:prstDash val="solid"/>
          </a:ln>
        </p:spPr>
      </p:sp>
      <p:sp>
        <p:nvSpPr>
          <p:cNvPr id="21" name="Text 19"/>
          <p:cNvSpPr/>
          <p:nvPr/>
        </p:nvSpPr>
        <p:spPr>
          <a:xfrm>
            <a:off x="5925312" y="3456432"/>
            <a:ext cx="1389888" cy="201168"/>
          </a:xfrm>
          <a:prstGeom prst="rect">
            <a:avLst/>
          </a:prstGeom>
          <a:noFill/>
          <a:ln/>
        </p:spPr>
        <p:txBody>
          <a:bodyPr wrap="square" lIns="0" tIns="0" rIns="0" bIns="0" rtlCol="0" anchor="ctr"/>
          <a:lstStyle/>
          <a:p>
            <a:pPr algn="ctr" indent="0" marL="0">
              <a:buNone/>
            </a:pPr>
            <a:r>
              <a:rPr lang="en-US" sz="1150" b="1" spc="60" kern="0" dirty="0">
                <a:solidFill>
                  <a:srgbClr val="FFFFFF"/>
                </a:solidFill>
              </a:rPr>
              <a:t>DIRECT</a:t>
            </a:r>
            <a:endParaRPr lang="en-US" sz="1150" dirty="0"/>
          </a:p>
        </p:txBody>
      </p:sp>
      <p:sp>
        <p:nvSpPr>
          <p:cNvPr id="22" name="Text 20"/>
          <p:cNvSpPr/>
          <p:nvPr/>
        </p:nvSpPr>
        <p:spPr>
          <a:xfrm>
            <a:off x="5925312" y="3739896"/>
            <a:ext cx="1389888" cy="347472"/>
          </a:xfrm>
          <a:prstGeom prst="rect">
            <a:avLst/>
          </a:prstGeom>
          <a:noFill/>
          <a:ln/>
        </p:spPr>
        <p:txBody>
          <a:bodyPr wrap="square" lIns="0" tIns="0" rIns="0" bIns="0" rtlCol="0" anchor="ctr">
            <a:normAutofit/>
          </a:bodyPr>
          <a:lstStyle/>
          <a:p>
            <a:pPr algn="ctr" indent="0" marL="0">
              <a:buNone/>
            </a:pPr>
            <a:r>
              <a:rPr lang="en-US" sz="1150" dirty="0">
                <a:solidFill>
                  <a:srgbClr val="FFFFFF"/>
                </a:solidFill>
              </a:rPr>
              <a:t>Set intent and boundaries</a:t>
            </a:r>
            <a:endParaRPr lang="en-US" sz="1150" dirty="0"/>
          </a:p>
        </p:txBody>
      </p:sp>
      <p:sp>
        <p:nvSpPr>
          <p:cNvPr id="23" name="Shape 21"/>
          <p:cNvSpPr/>
          <p:nvPr/>
        </p:nvSpPr>
        <p:spPr>
          <a:xfrm>
            <a:off x="7607808" y="3310128"/>
            <a:ext cx="1572768" cy="960120"/>
          </a:xfrm>
          <a:prstGeom prst="roundRect">
            <a:avLst>
              <a:gd name="adj" fmla="val 7619"/>
            </a:avLst>
          </a:prstGeom>
          <a:solidFill>
            <a:srgbClr val="0C8A78"/>
          </a:solidFill>
          <a:ln w="12700">
            <a:solidFill>
              <a:srgbClr val="0C8A78"/>
            </a:solidFill>
            <a:prstDash val="solid"/>
          </a:ln>
        </p:spPr>
      </p:sp>
      <p:sp>
        <p:nvSpPr>
          <p:cNvPr id="24" name="Text 22"/>
          <p:cNvSpPr/>
          <p:nvPr/>
        </p:nvSpPr>
        <p:spPr>
          <a:xfrm>
            <a:off x="7699248" y="3456432"/>
            <a:ext cx="1389888" cy="201168"/>
          </a:xfrm>
          <a:prstGeom prst="rect">
            <a:avLst/>
          </a:prstGeom>
          <a:noFill/>
          <a:ln/>
        </p:spPr>
        <p:txBody>
          <a:bodyPr wrap="square" lIns="0" tIns="0" rIns="0" bIns="0" rtlCol="0" anchor="ctr"/>
          <a:lstStyle/>
          <a:p>
            <a:pPr algn="ctr" indent="0" marL="0">
              <a:buNone/>
            </a:pPr>
            <a:r>
              <a:rPr lang="en-US" sz="1150" b="1" spc="60" kern="0" dirty="0">
                <a:solidFill>
                  <a:srgbClr val="FFFFFF"/>
                </a:solidFill>
              </a:rPr>
              <a:t>CHALLENGE</a:t>
            </a:r>
            <a:endParaRPr lang="en-US" sz="1150" dirty="0"/>
          </a:p>
        </p:txBody>
      </p:sp>
      <p:sp>
        <p:nvSpPr>
          <p:cNvPr id="25" name="Text 23"/>
          <p:cNvSpPr/>
          <p:nvPr/>
        </p:nvSpPr>
        <p:spPr>
          <a:xfrm>
            <a:off x="7699248" y="3739896"/>
            <a:ext cx="1389888" cy="347472"/>
          </a:xfrm>
          <a:prstGeom prst="rect">
            <a:avLst/>
          </a:prstGeom>
          <a:noFill/>
          <a:ln/>
        </p:spPr>
        <p:txBody>
          <a:bodyPr wrap="square" lIns="0" tIns="0" rIns="0" bIns="0" rtlCol="0" anchor="ctr">
            <a:normAutofit/>
          </a:bodyPr>
          <a:lstStyle/>
          <a:p>
            <a:pPr algn="ctr" indent="0" marL="0">
              <a:buNone/>
            </a:pPr>
            <a:r>
              <a:rPr lang="en-US" sz="1150" dirty="0">
                <a:solidFill>
                  <a:srgbClr val="FFFFFF"/>
                </a:solidFill>
              </a:rPr>
              <a:t>Test evidence and assumptions</a:t>
            </a:r>
            <a:endParaRPr lang="en-US" sz="1150" dirty="0"/>
          </a:p>
        </p:txBody>
      </p:sp>
      <p:sp>
        <p:nvSpPr>
          <p:cNvPr id="26" name="Shape 24"/>
          <p:cNvSpPr/>
          <p:nvPr/>
        </p:nvSpPr>
        <p:spPr>
          <a:xfrm>
            <a:off x="9381744" y="3310128"/>
            <a:ext cx="1572768" cy="960120"/>
          </a:xfrm>
          <a:prstGeom prst="roundRect">
            <a:avLst>
              <a:gd name="adj" fmla="val 7619"/>
            </a:avLst>
          </a:prstGeom>
          <a:solidFill>
            <a:srgbClr val="F4B942"/>
          </a:solidFill>
          <a:ln w="12700">
            <a:solidFill>
              <a:srgbClr val="F4B942"/>
            </a:solidFill>
            <a:prstDash val="solid"/>
          </a:ln>
        </p:spPr>
      </p:sp>
      <p:sp>
        <p:nvSpPr>
          <p:cNvPr id="27" name="Text 25"/>
          <p:cNvSpPr/>
          <p:nvPr/>
        </p:nvSpPr>
        <p:spPr>
          <a:xfrm>
            <a:off x="9473184" y="3456432"/>
            <a:ext cx="1389888" cy="201168"/>
          </a:xfrm>
          <a:prstGeom prst="rect">
            <a:avLst/>
          </a:prstGeom>
          <a:noFill/>
          <a:ln/>
        </p:spPr>
        <p:txBody>
          <a:bodyPr wrap="square" lIns="0" tIns="0" rIns="0" bIns="0" rtlCol="0" anchor="ctr"/>
          <a:lstStyle/>
          <a:p>
            <a:pPr algn="ctr" indent="0" marL="0">
              <a:buNone/>
            </a:pPr>
            <a:r>
              <a:rPr lang="en-US" sz="1150" b="1" spc="60" kern="0" dirty="0">
                <a:solidFill>
                  <a:srgbClr val="092F57"/>
                </a:solidFill>
              </a:rPr>
              <a:t>DECIDE</a:t>
            </a:r>
            <a:endParaRPr lang="en-US" sz="1150" dirty="0"/>
          </a:p>
        </p:txBody>
      </p:sp>
      <p:sp>
        <p:nvSpPr>
          <p:cNvPr id="28" name="Text 26"/>
          <p:cNvSpPr/>
          <p:nvPr/>
        </p:nvSpPr>
        <p:spPr>
          <a:xfrm>
            <a:off x="9473184" y="3739896"/>
            <a:ext cx="1389888" cy="347472"/>
          </a:xfrm>
          <a:prstGeom prst="rect">
            <a:avLst/>
          </a:prstGeom>
          <a:noFill/>
          <a:ln/>
        </p:spPr>
        <p:txBody>
          <a:bodyPr wrap="square" lIns="0" tIns="0" rIns="0" bIns="0" rtlCol="0" anchor="ctr">
            <a:normAutofit/>
          </a:bodyPr>
          <a:lstStyle/>
          <a:p>
            <a:pPr algn="ctr" indent="0" marL="0">
              <a:buNone/>
            </a:pPr>
            <a:r>
              <a:rPr lang="en-US" sz="1150" dirty="0">
                <a:solidFill>
                  <a:srgbClr val="092F57"/>
                </a:solidFill>
              </a:rPr>
              <a:t>Approve consequential actions</a:t>
            </a:r>
            <a:endParaRPr lang="en-US" sz="1150" dirty="0"/>
          </a:p>
        </p:txBody>
      </p:sp>
      <p:sp>
        <p:nvSpPr>
          <p:cNvPr id="29" name="Shape 27"/>
          <p:cNvSpPr/>
          <p:nvPr/>
        </p:nvSpPr>
        <p:spPr>
          <a:xfrm>
            <a:off x="6720840" y="4590288"/>
            <a:ext cx="1572768" cy="960120"/>
          </a:xfrm>
          <a:prstGeom prst="roundRect">
            <a:avLst>
              <a:gd name="adj" fmla="val 7619"/>
            </a:avLst>
          </a:prstGeom>
          <a:solidFill>
            <a:srgbClr val="F5665C"/>
          </a:solidFill>
          <a:ln w="12700">
            <a:solidFill>
              <a:srgbClr val="F5665C"/>
            </a:solidFill>
            <a:prstDash val="solid"/>
          </a:ln>
        </p:spPr>
      </p:sp>
      <p:sp>
        <p:nvSpPr>
          <p:cNvPr id="30" name="Text 28"/>
          <p:cNvSpPr/>
          <p:nvPr/>
        </p:nvSpPr>
        <p:spPr>
          <a:xfrm>
            <a:off x="6812280" y="4736592"/>
            <a:ext cx="1389888" cy="201168"/>
          </a:xfrm>
          <a:prstGeom prst="rect">
            <a:avLst/>
          </a:prstGeom>
          <a:noFill/>
          <a:ln/>
        </p:spPr>
        <p:txBody>
          <a:bodyPr wrap="square" lIns="0" tIns="0" rIns="0" bIns="0" rtlCol="0" anchor="ctr"/>
          <a:lstStyle/>
          <a:p>
            <a:pPr algn="ctr" indent="0" marL="0">
              <a:buNone/>
            </a:pPr>
            <a:r>
              <a:rPr lang="en-US" sz="1150" b="1" spc="60" kern="0" dirty="0">
                <a:solidFill>
                  <a:srgbClr val="FFFFFF"/>
                </a:solidFill>
              </a:rPr>
              <a:t>ESCALATE</a:t>
            </a:r>
            <a:endParaRPr lang="en-US" sz="1150" dirty="0"/>
          </a:p>
        </p:txBody>
      </p:sp>
      <p:sp>
        <p:nvSpPr>
          <p:cNvPr id="31" name="Text 29"/>
          <p:cNvSpPr/>
          <p:nvPr/>
        </p:nvSpPr>
        <p:spPr>
          <a:xfrm>
            <a:off x="6812280" y="5020056"/>
            <a:ext cx="1389888" cy="347472"/>
          </a:xfrm>
          <a:prstGeom prst="rect">
            <a:avLst/>
          </a:prstGeom>
          <a:noFill/>
          <a:ln/>
        </p:spPr>
        <p:txBody>
          <a:bodyPr wrap="square" lIns="0" tIns="0" rIns="0" bIns="0" rtlCol="0" anchor="ctr">
            <a:normAutofit/>
          </a:bodyPr>
          <a:lstStyle/>
          <a:p>
            <a:pPr algn="ctr" indent="0" marL="0">
              <a:buNone/>
            </a:pPr>
            <a:r>
              <a:rPr lang="en-US" sz="1150" dirty="0">
                <a:solidFill>
                  <a:srgbClr val="FFFFFF"/>
                </a:solidFill>
              </a:rPr>
              <a:t>Own exceptions and recovery</a:t>
            </a:r>
            <a:endParaRPr lang="en-US" sz="1150" dirty="0"/>
          </a:p>
        </p:txBody>
      </p:sp>
      <p:sp>
        <p:nvSpPr>
          <p:cNvPr id="32" name="Shape 30"/>
          <p:cNvSpPr/>
          <p:nvPr/>
        </p:nvSpPr>
        <p:spPr>
          <a:xfrm>
            <a:off x="8503920" y="4590288"/>
            <a:ext cx="1572768" cy="960120"/>
          </a:xfrm>
          <a:prstGeom prst="roundRect">
            <a:avLst>
              <a:gd name="adj" fmla="val 7619"/>
            </a:avLst>
          </a:prstGeom>
          <a:solidFill>
            <a:srgbClr val="6B55C9"/>
          </a:solidFill>
          <a:ln w="12700">
            <a:solidFill>
              <a:srgbClr val="6B55C9"/>
            </a:solidFill>
            <a:prstDash val="solid"/>
          </a:ln>
        </p:spPr>
      </p:sp>
      <p:sp>
        <p:nvSpPr>
          <p:cNvPr id="33" name="Text 31"/>
          <p:cNvSpPr/>
          <p:nvPr/>
        </p:nvSpPr>
        <p:spPr>
          <a:xfrm>
            <a:off x="8595360" y="4736592"/>
            <a:ext cx="1389888" cy="201168"/>
          </a:xfrm>
          <a:prstGeom prst="rect">
            <a:avLst/>
          </a:prstGeom>
          <a:noFill/>
          <a:ln/>
        </p:spPr>
        <p:txBody>
          <a:bodyPr wrap="square" lIns="0" tIns="0" rIns="0" bIns="0" rtlCol="0" anchor="ctr"/>
          <a:lstStyle/>
          <a:p>
            <a:pPr algn="ctr" indent="0" marL="0">
              <a:buNone/>
            </a:pPr>
            <a:r>
              <a:rPr lang="en-US" sz="1150" b="1" spc="60" kern="0" dirty="0">
                <a:solidFill>
                  <a:srgbClr val="FFFFFF"/>
                </a:solidFill>
              </a:rPr>
              <a:t>IMPROVE</a:t>
            </a:r>
            <a:endParaRPr lang="en-US" sz="1150" dirty="0"/>
          </a:p>
        </p:txBody>
      </p:sp>
      <p:sp>
        <p:nvSpPr>
          <p:cNvPr id="34" name="Text 32"/>
          <p:cNvSpPr/>
          <p:nvPr/>
        </p:nvSpPr>
        <p:spPr>
          <a:xfrm>
            <a:off x="8595360" y="5020056"/>
            <a:ext cx="1389888" cy="347472"/>
          </a:xfrm>
          <a:prstGeom prst="rect">
            <a:avLst/>
          </a:prstGeom>
          <a:noFill/>
          <a:ln/>
        </p:spPr>
        <p:txBody>
          <a:bodyPr wrap="square" lIns="0" tIns="0" rIns="0" bIns="0" rtlCol="0" anchor="ctr">
            <a:normAutofit/>
          </a:bodyPr>
          <a:lstStyle/>
          <a:p>
            <a:pPr algn="ctr" indent="0" marL="0">
              <a:buNone/>
            </a:pPr>
            <a:r>
              <a:rPr lang="en-US" sz="1150" dirty="0">
                <a:solidFill>
                  <a:srgbClr val="FFFFFF"/>
                </a:solidFill>
              </a:rPr>
              <a:t>Refine prompts, tools and rules</a:t>
            </a:r>
            <a:endParaRPr lang="en-US" sz="1150" dirty="0"/>
          </a:p>
        </p:txBody>
      </p:sp>
      <p:sp>
        <p:nvSpPr>
          <p:cNvPr id="35" name="Text 33">
            <a:hlinkClick r:id="rId1" tooltip=""/>
          </p:cNvPr>
          <p:cNvSpPr/>
          <p:nvPr/>
        </p:nvSpPr>
        <p:spPr>
          <a:xfrm>
            <a:off x="658368" y="6428232"/>
            <a:ext cx="9921240" cy="219456"/>
          </a:xfrm>
          <a:prstGeom prst="rect">
            <a:avLst/>
          </a:prstGeom>
          <a:noFill/>
          <a:ln/>
        </p:spPr>
        <p:txBody>
          <a:bodyPr wrap="square" lIns="0" tIns="0" rIns="0" bIns="0" rtlCol="0" anchor="ctr">
            <a:normAutofit/>
          </a:bodyPr>
          <a:lstStyle/>
          <a:p>
            <a:pPr indent="0" marL="0">
              <a:buNone/>
            </a:pPr>
            <a:r>
              <a:rPr lang="en-US" sz="1000" u="sng" dirty="0">
                <a:solidFill>
                  <a:srgbClr val="72819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Work redesign pattern: human direction, challenge, approval, escalation and continuous improvement</a:t>
            </a:r>
            <a:endParaRPr lang="en-US" sz="1000" dirty="0"/>
          </a:p>
        </p:txBody>
      </p:sp>
      <p:sp>
        <p:nvSpPr>
          <p:cNvPr id="36" name="Text 34"/>
          <p:cNvSpPr/>
          <p:nvPr/>
        </p:nvSpPr>
        <p:spPr>
          <a:xfrm>
            <a:off x="9464040" y="6446520"/>
            <a:ext cx="2176272" cy="201168"/>
          </a:xfrm>
          <a:prstGeom prst="rect">
            <a:avLst/>
          </a:prstGeom>
          <a:noFill/>
          <a:ln/>
        </p:spPr>
        <p:txBody>
          <a:bodyPr wrap="square" lIns="0" tIns="0" rIns="0" bIns="0" rtlCol="0" anchor="ctr"/>
          <a:lstStyle/>
          <a:p>
            <a:pPr algn="r" indent="0" marL="0">
              <a:buNone/>
            </a:pPr>
            <a:r>
              <a:rPr lang="en-US" sz="850" b="1" spc="60" kern="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sp>
      <p:sp>
        <p:nvSpPr>
          <p:cNvPr id="3" name="Text 1"/>
          <p:cNvSpPr/>
          <p:nvPr/>
        </p:nvSpPr>
        <p:spPr>
          <a:xfrm>
            <a:off x="658368" y="228600"/>
            <a:ext cx="3474720" cy="219456"/>
          </a:xfrm>
          <a:prstGeom prst="rect">
            <a:avLst/>
          </a:prstGeom>
          <a:noFill/>
          <a:ln/>
        </p:spPr>
        <p:txBody>
          <a:bodyPr wrap="square" lIns="0" tIns="0" rIns="0" bIns="0" rtlCol="0" anchor="ctr"/>
          <a:lstStyle/>
          <a:p>
            <a:pPr indent="0" marL="0">
              <a:buNone/>
            </a:pPr>
            <a:r>
              <a:rPr lang="en-US" sz="900" b="1" spc="170" kern="0" dirty="0">
                <a:solidFill>
                  <a:srgbClr val="0B6E75"/>
                </a:solidFill>
                <a:latin typeface="Arial" pitchFamily="34" charset="0"/>
                <a:ea typeface="Arial" pitchFamily="34" charset="-122"/>
                <a:cs typeface="Arial" pitchFamily="34" charset="-120"/>
              </a:rPr>
              <a:t>THE COACHING METHOD</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algn="r" indent="0" marL="0">
              <a:buNone/>
            </a:pPr>
            <a:r>
              <a:rPr lang="en-US" sz="1000" b="1" dirty="0">
                <a:solidFill>
                  <a:srgbClr val="728197"/>
                </a:solidFill>
                <a:latin typeface="Arial" pitchFamily="34" charset="0"/>
                <a:ea typeface="Arial" pitchFamily="34" charset="-122"/>
                <a:cs typeface="Arial" pitchFamily="34" charset="-120"/>
              </a:rPr>
              <a:t>07</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indent="0" marL="0">
              <a:buNone/>
            </a:pPr>
            <a:r>
              <a:rPr lang="en-US" sz="2900" b="1" dirty="0">
                <a:solidFill>
                  <a:srgbClr val="12233F"/>
                </a:solidFill>
                <a:latin typeface="Arial" pitchFamily="34" charset="0"/>
                <a:ea typeface="Arial" pitchFamily="34" charset="-122"/>
                <a:cs typeface="Arial" pitchFamily="34" charset="-120"/>
              </a:rPr>
              <a:t>Coach the transition with GROW.</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indent="0" marL="0">
              <a:buNone/>
            </a:pPr>
            <a:r>
              <a:rPr lang="en-US" sz="1500" dirty="0">
                <a:solidFill>
                  <a:srgbClr val="4F6176"/>
                </a:solidFill>
                <a:latin typeface="Arial" pitchFamily="34" charset="0"/>
                <a:ea typeface="Arial" pitchFamily="34" charset="-122"/>
                <a:cs typeface="Arial" pitchFamily="34" charset="-120"/>
              </a:rPr>
              <a:t>Ask before telling. Co-create the new role so the employee owns the change.</a:t>
            </a:r>
            <a:endParaRPr lang="en-US" sz="1500" dirty="0"/>
          </a:p>
        </p:txBody>
      </p:sp>
      <p:sp>
        <p:nvSpPr>
          <p:cNvPr id="7" name="Shape 5"/>
          <p:cNvSpPr/>
          <p:nvPr/>
        </p:nvSpPr>
        <p:spPr>
          <a:xfrm>
            <a:off x="658368" y="1874520"/>
            <a:ext cx="2487168" cy="3063240"/>
          </a:xfrm>
          <a:prstGeom prst="roundRect">
            <a:avLst>
              <a:gd name="adj" fmla="val 3676"/>
            </a:avLst>
          </a:prstGeom>
          <a:solidFill>
            <a:srgbClr val="FFFFFF"/>
          </a:solidFill>
          <a:ln w="12700">
            <a:solidFill>
              <a:srgbClr val="2F6FED"/>
            </a:solidFill>
            <a:prstDash val="solid"/>
          </a:ln>
          <a:effectLst>
            <a:outerShdw sx="100000" sy="100000" kx="0" ky="0" algn="bl" rotWithShape="0" blurRad="25400" dist="50800" dir="2700000">
              <a:srgbClr val="0B1F33">
                <a:alpha val="12000"/>
              </a:srgbClr>
            </a:outerShdw>
          </a:effectLst>
        </p:spPr>
      </p:sp>
      <p:sp>
        <p:nvSpPr>
          <p:cNvPr id="8" name="Shape 6"/>
          <p:cNvSpPr/>
          <p:nvPr/>
        </p:nvSpPr>
        <p:spPr>
          <a:xfrm>
            <a:off x="1499616" y="2121408"/>
            <a:ext cx="804672" cy="804672"/>
          </a:xfrm>
          <a:prstGeom prst="ellipse">
            <a:avLst/>
          </a:prstGeom>
          <a:solidFill>
            <a:srgbClr val="2F6FED"/>
          </a:solidFill>
          <a:ln w="12700">
            <a:solidFill>
              <a:srgbClr val="2F6FED"/>
            </a:solidFill>
            <a:prstDash val="solid"/>
          </a:ln>
        </p:spPr>
      </p:sp>
      <p:sp>
        <p:nvSpPr>
          <p:cNvPr id="9" name="Text 7"/>
          <p:cNvSpPr/>
          <p:nvPr/>
        </p:nvSpPr>
        <p:spPr>
          <a:xfrm>
            <a:off x="1499616" y="2322576"/>
            <a:ext cx="804672" cy="321869"/>
          </a:xfrm>
          <a:prstGeom prst="rect">
            <a:avLst/>
          </a:prstGeom>
          <a:noFill/>
          <a:ln/>
        </p:spPr>
        <p:txBody>
          <a:bodyPr wrap="square" lIns="0" tIns="0" rIns="0" bIns="0"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G</a:t>
            </a:r>
            <a:endParaRPr lang="en-US" sz="2600" dirty="0"/>
          </a:p>
        </p:txBody>
      </p:sp>
      <p:sp>
        <p:nvSpPr>
          <p:cNvPr id="10" name="Text 8"/>
          <p:cNvSpPr/>
          <p:nvPr/>
        </p:nvSpPr>
        <p:spPr>
          <a:xfrm>
            <a:off x="859536" y="3108960"/>
            <a:ext cx="2084832" cy="274320"/>
          </a:xfrm>
          <a:prstGeom prst="rect">
            <a:avLst/>
          </a:prstGeom>
          <a:noFill/>
          <a:ln/>
        </p:spPr>
        <p:txBody>
          <a:bodyPr wrap="square" lIns="0" tIns="0" rIns="0" bIns="0" rtlCol="0" anchor="ctr"/>
          <a:lstStyle/>
          <a:p>
            <a:pPr algn="ctr" indent="0" marL="0">
              <a:buNone/>
            </a:pPr>
            <a:r>
              <a:rPr lang="en-US" sz="1300" b="1" spc="110" kern="0" dirty="0">
                <a:solidFill>
                  <a:srgbClr val="2F6FED"/>
                </a:solidFill>
              </a:rPr>
              <a:t>GOAL</a:t>
            </a:r>
            <a:endParaRPr lang="en-US" sz="1300" dirty="0"/>
          </a:p>
        </p:txBody>
      </p:sp>
      <p:sp>
        <p:nvSpPr>
          <p:cNvPr id="11" name="Text 9"/>
          <p:cNvSpPr/>
          <p:nvPr/>
        </p:nvSpPr>
        <p:spPr>
          <a:xfrm>
            <a:off x="914400" y="3657600"/>
            <a:ext cx="1975104" cy="749808"/>
          </a:xfrm>
          <a:prstGeom prst="rect">
            <a:avLst/>
          </a:prstGeom>
          <a:noFill/>
          <a:ln/>
        </p:spPr>
        <p:txBody>
          <a:bodyPr wrap="square" lIns="0" tIns="0" rIns="0" bIns="0" rtlCol="0" anchor="ctr">
            <a:normAutofit/>
          </a:bodyPr>
          <a:lstStyle/>
          <a:p>
            <a:pPr algn="ctr" indent="0" marL="0">
              <a:buNone/>
            </a:pPr>
            <a:r>
              <a:rPr lang="en-US" sz="1750" b="1" dirty="0">
                <a:solidFill>
                  <a:srgbClr val="12233F"/>
                </a:solidFill>
              </a:rPr>
              <a:t>What outcome would be useful?</a:t>
            </a:r>
            <a:endParaRPr lang="en-US" sz="1750" dirty="0"/>
          </a:p>
        </p:txBody>
      </p:sp>
      <p:sp>
        <p:nvSpPr>
          <p:cNvPr id="12" name="Shape 10"/>
          <p:cNvSpPr/>
          <p:nvPr/>
        </p:nvSpPr>
        <p:spPr>
          <a:xfrm>
            <a:off x="3419856" y="1874520"/>
            <a:ext cx="2487168" cy="3063240"/>
          </a:xfrm>
          <a:prstGeom prst="roundRect">
            <a:avLst>
              <a:gd name="adj" fmla="val 3676"/>
            </a:avLst>
          </a:prstGeom>
          <a:solidFill>
            <a:srgbClr val="FFFFFF"/>
          </a:solidFill>
          <a:ln w="12700">
            <a:solidFill>
              <a:srgbClr val="0C8A78"/>
            </a:solidFill>
            <a:prstDash val="solid"/>
          </a:ln>
          <a:effectLst>
            <a:outerShdw sx="100000" sy="100000" kx="0" ky="0" algn="bl" rotWithShape="0" blurRad="25400" dist="50800" dir="2700000">
              <a:srgbClr val="0B1F33">
                <a:alpha val="12000"/>
              </a:srgbClr>
            </a:outerShdw>
          </a:effectLst>
        </p:spPr>
      </p:sp>
      <p:sp>
        <p:nvSpPr>
          <p:cNvPr id="13" name="Shape 11"/>
          <p:cNvSpPr/>
          <p:nvPr/>
        </p:nvSpPr>
        <p:spPr>
          <a:xfrm>
            <a:off x="4261104" y="2121408"/>
            <a:ext cx="804672" cy="804672"/>
          </a:xfrm>
          <a:prstGeom prst="ellipse">
            <a:avLst/>
          </a:prstGeom>
          <a:solidFill>
            <a:srgbClr val="0C8A78"/>
          </a:solidFill>
          <a:ln w="12700">
            <a:solidFill>
              <a:srgbClr val="0C8A78"/>
            </a:solidFill>
            <a:prstDash val="solid"/>
          </a:ln>
        </p:spPr>
      </p:sp>
      <p:sp>
        <p:nvSpPr>
          <p:cNvPr id="14" name="Text 12"/>
          <p:cNvSpPr/>
          <p:nvPr/>
        </p:nvSpPr>
        <p:spPr>
          <a:xfrm>
            <a:off x="4261104" y="2322576"/>
            <a:ext cx="804672" cy="321869"/>
          </a:xfrm>
          <a:prstGeom prst="rect">
            <a:avLst/>
          </a:prstGeom>
          <a:noFill/>
          <a:ln/>
        </p:spPr>
        <p:txBody>
          <a:bodyPr wrap="square" lIns="0" tIns="0" rIns="0" bIns="0"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R</a:t>
            </a:r>
            <a:endParaRPr lang="en-US" sz="2600" dirty="0"/>
          </a:p>
        </p:txBody>
      </p:sp>
      <p:sp>
        <p:nvSpPr>
          <p:cNvPr id="15" name="Text 13"/>
          <p:cNvSpPr/>
          <p:nvPr/>
        </p:nvSpPr>
        <p:spPr>
          <a:xfrm>
            <a:off x="3621024" y="3108960"/>
            <a:ext cx="2084832" cy="274320"/>
          </a:xfrm>
          <a:prstGeom prst="rect">
            <a:avLst/>
          </a:prstGeom>
          <a:noFill/>
          <a:ln/>
        </p:spPr>
        <p:txBody>
          <a:bodyPr wrap="square" lIns="0" tIns="0" rIns="0" bIns="0" rtlCol="0" anchor="ctr"/>
          <a:lstStyle/>
          <a:p>
            <a:pPr algn="ctr" indent="0" marL="0">
              <a:buNone/>
            </a:pPr>
            <a:r>
              <a:rPr lang="en-US" sz="1300" b="1" spc="110" kern="0" dirty="0">
                <a:solidFill>
                  <a:srgbClr val="0C8A78"/>
                </a:solidFill>
              </a:rPr>
              <a:t>REALITY</a:t>
            </a:r>
            <a:endParaRPr lang="en-US" sz="1300" dirty="0"/>
          </a:p>
        </p:txBody>
      </p:sp>
      <p:sp>
        <p:nvSpPr>
          <p:cNvPr id="16" name="Text 14"/>
          <p:cNvSpPr/>
          <p:nvPr/>
        </p:nvSpPr>
        <p:spPr>
          <a:xfrm>
            <a:off x="3675888" y="3657600"/>
            <a:ext cx="1975104" cy="749808"/>
          </a:xfrm>
          <a:prstGeom prst="rect">
            <a:avLst/>
          </a:prstGeom>
          <a:noFill/>
          <a:ln/>
        </p:spPr>
        <p:txBody>
          <a:bodyPr wrap="square" lIns="0" tIns="0" rIns="0" bIns="0" rtlCol="0" anchor="ctr">
            <a:normAutofit/>
          </a:bodyPr>
          <a:lstStyle/>
          <a:p>
            <a:pPr algn="ctr" indent="0" marL="0">
              <a:buNone/>
            </a:pPr>
            <a:r>
              <a:rPr lang="en-US" sz="1750" b="1" dirty="0">
                <a:solidFill>
                  <a:srgbClr val="12233F"/>
                </a:solidFill>
              </a:rPr>
              <a:t>What concerns you? Which strengths matter?</a:t>
            </a:r>
            <a:endParaRPr lang="en-US" sz="1750" dirty="0"/>
          </a:p>
        </p:txBody>
      </p:sp>
      <p:sp>
        <p:nvSpPr>
          <p:cNvPr id="17" name="Shape 15"/>
          <p:cNvSpPr/>
          <p:nvPr/>
        </p:nvSpPr>
        <p:spPr>
          <a:xfrm>
            <a:off x="6181344" y="1874520"/>
            <a:ext cx="2487168" cy="3063240"/>
          </a:xfrm>
          <a:prstGeom prst="roundRect">
            <a:avLst>
              <a:gd name="adj" fmla="val 3676"/>
            </a:avLst>
          </a:prstGeom>
          <a:solidFill>
            <a:srgbClr val="FFFFFF"/>
          </a:solidFill>
          <a:ln w="12700">
            <a:solidFill>
              <a:srgbClr val="6B55C9"/>
            </a:solidFill>
            <a:prstDash val="solid"/>
          </a:ln>
          <a:effectLst>
            <a:outerShdw sx="100000" sy="100000" kx="0" ky="0" algn="bl" rotWithShape="0" blurRad="25400" dist="50800" dir="2700000">
              <a:srgbClr val="0B1F33">
                <a:alpha val="12000"/>
              </a:srgbClr>
            </a:outerShdw>
          </a:effectLst>
        </p:spPr>
      </p:sp>
      <p:sp>
        <p:nvSpPr>
          <p:cNvPr id="18" name="Shape 16"/>
          <p:cNvSpPr/>
          <p:nvPr/>
        </p:nvSpPr>
        <p:spPr>
          <a:xfrm>
            <a:off x="7022592" y="2121408"/>
            <a:ext cx="804672" cy="804672"/>
          </a:xfrm>
          <a:prstGeom prst="ellipse">
            <a:avLst/>
          </a:prstGeom>
          <a:solidFill>
            <a:srgbClr val="6B55C9"/>
          </a:solidFill>
          <a:ln w="12700">
            <a:solidFill>
              <a:srgbClr val="6B55C9"/>
            </a:solidFill>
            <a:prstDash val="solid"/>
          </a:ln>
        </p:spPr>
      </p:sp>
      <p:sp>
        <p:nvSpPr>
          <p:cNvPr id="19" name="Text 17"/>
          <p:cNvSpPr/>
          <p:nvPr/>
        </p:nvSpPr>
        <p:spPr>
          <a:xfrm>
            <a:off x="7022592" y="2322576"/>
            <a:ext cx="804672" cy="321869"/>
          </a:xfrm>
          <a:prstGeom prst="rect">
            <a:avLst/>
          </a:prstGeom>
          <a:noFill/>
          <a:ln/>
        </p:spPr>
        <p:txBody>
          <a:bodyPr wrap="square" lIns="0" tIns="0" rIns="0" bIns="0"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O</a:t>
            </a:r>
            <a:endParaRPr lang="en-US" sz="2600" dirty="0"/>
          </a:p>
        </p:txBody>
      </p:sp>
      <p:sp>
        <p:nvSpPr>
          <p:cNvPr id="20" name="Text 18"/>
          <p:cNvSpPr/>
          <p:nvPr/>
        </p:nvSpPr>
        <p:spPr>
          <a:xfrm>
            <a:off x="6382512" y="3108960"/>
            <a:ext cx="2084832" cy="274320"/>
          </a:xfrm>
          <a:prstGeom prst="rect">
            <a:avLst/>
          </a:prstGeom>
          <a:noFill/>
          <a:ln/>
        </p:spPr>
        <p:txBody>
          <a:bodyPr wrap="square" lIns="0" tIns="0" rIns="0" bIns="0" rtlCol="0" anchor="ctr"/>
          <a:lstStyle/>
          <a:p>
            <a:pPr algn="ctr" indent="0" marL="0">
              <a:buNone/>
            </a:pPr>
            <a:r>
              <a:rPr lang="en-US" sz="1300" b="1" spc="110" kern="0" dirty="0">
                <a:solidFill>
                  <a:srgbClr val="6B55C9"/>
                </a:solidFill>
              </a:rPr>
              <a:t>OPTIONS</a:t>
            </a:r>
            <a:endParaRPr lang="en-US" sz="1300" dirty="0"/>
          </a:p>
        </p:txBody>
      </p:sp>
      <p:sp>
        <p:nvSpPr>
          <p:cNvPr id="21" name="Text 19"/>
          <p:cNvSpPr/>
          <p:nvPr/>
        </p:nvSpPr>
        <p:spPr>
          <a:xfrm>
            <a:off x="6437376" y="3657600"/>
            <a:ext cx="1975104" cy="749808"/>
          </a:xfrm>
          <a:prstGeom prst="rect">
            <a:avLst/>
          </a:prstGeom>
          <a:noFill/>
          <a:ln/>
        </p:spPr>
        <p:txBody>
          <a:bodyPr wrap="square" lIns="0" tIns="0" rIns="0" bIns="0" rtlCol="0" anchor="ctr">
            <a:normAutofit/>
          </a:bodyPr>
          <a:lstStyle/>
          <a:p>
            <a:pPr algn="ctr" indent="0" marL="0">
              <a:buNone/>
            </a:pPr>
            <a:r>
              <a:rPr lang="en-US" sz="1750" b="1" dirty="0">
                <a:solidFill>
                  <a:srgbClr val="12233F"/>
                </a:solidFill>
              </a:rPr>
              <a:t>What could you own, review or decide?</a:t>
            </a:r>
            <a:endParaRPr lang="en-US" sz="1750" dirty="0"/>
          </a:p>
        </p:txBody>
      </p:sp>
      <p:sp>
        <p:nvSpPr>
          <p:cNvPr id="22" name="Shape 20"/>
          <p:cNvSpPr/>
          <p:nvPr/>
        </p:nvSpPr>
        <p:spPr>
          <a:xfrm>
            <a:off x="8942832" y="1874520"/>
            <a:ext cx="2487168" cy="3063240"/>
          </a:xfrm>
          <a:prstGeom prst="roundRect">
            <a:avLst>
              <a:gd name="adj" fmla="val 3676"/>
            </a:avLst>
          </a:prstGeom>
          <a:solidFill>
            <a:srgbClr val="FFFFFF"/>
          </a:solidFill>
          <a:ln w="12700">
            <a:solidFill>
              <a:srgbClr val="F4B942"/>
            </a:solidFill>
            <a:prstDash val="solid"/>
          </a:ln>
          <a:effectLst>
            <a:outerShdw sx="100000" sy="100000" kx="0" ky="0" algn="bl" rotWithShape="0" blurRad="25400" dist="50800" dir="2700000">
              <a:srgbClr val="0B1F33">
                <a:alpha val="12000"/>
              </a:srgbClr>
            </a:outerShdw>
          </a:effectLst>
        </p:spPr>
      </p:sp>
      <p:sp>
        <p:nvSpPr>
          <p:cNvPr id="23" name="Shape 21"/>
          <p:cNvSpPr/>
          <p:nvPr/>
        </p:nvSpPr>
        <p:spPr>
          <a:xfrm>
            <a:off x="9784080" y="2121408"/>
            <a:ext cx="804672" cy="804672"/>
          </a:xfrm>
          <a:prstGeom prst="ellipse">
            <a:avLst/>
          </a:prstGeom>
          <a:solidFill>
            <a:srgbClr val="F4B942"/>
          </a:solidFill>
          <a:ln w="12700">
            <a:solidFill>
              <a:srgbClr val="F4B942"/>
            </a:solidFill>
            <a:prstDash val="solid"/>
          </a:ln>
        </p:spPr>
      </p:sp>
      <p:sp>
        <p:nvSpPr>
          <p:cNvPr id="24" name="Text 22"/>
          <p:cNvSpPr/>
          <p:nvPr/>
        </p:nvSpPr>
        <p:spPr>
          <a:xfrm>
            <a:off x="9784080" y="2322576"/>
            <a:ext cx="804672" cy="321869"/>
          </a:xfrm>
          <a:prstGeom prst="rect">
            <a:avLst/>
          </a:prstGeom>
          <a:noFill/>
          <a:ln/>
        </p:spPr>
        <p:txBody>
          <a:bodyPr wrap="square" lIns="0" tIns="0" rIns="0" bIns="0"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W</a:t>
            </a:r>
            <a:endParaRPr lang="en-US" sz="2600" dirty="0"/>
          </a:p>
        </p:txBody>
      </p:sp>
      <p:sp>
        <p:nvSpPr>
          <p:cNvPr id="25" name="Text 23"/>
          <p:cNvSpPr/>
          <p:nvPr/>
        </p:nvSpPr>
        <p:spPr>
          <a:xfrm>
            <a:off x="9144000" y="3108960"/>
            <a:ext cx="2084832" cy="274320"/>
          </a:xfrm>
          <a:prstGeom prst="rect">
            <a:avLst/>
          </a:prstGeom>
          <a:noFill/>
          <a:ln/>
        </p:spPr>
        <p:txBody>
          <a:bodyPr wrap="square" lIns="0" tIns="0" rIns="0" bIns="0" rtlCol="0" anchor="ctr"/>
          <a:lstStyle/>
          <a:p>
            <a:pPr algn="ctr" indent="0" marL="0">
              <a:buNone/>
            </a:pPr>
            <a:r>
              <a:rPr lang="en-US" sz="1300" b="1" spc="110" kern="0" dirty="0">
                <a:solidFill>
                  <a:srgbClr val="F4B942"/>
                </a:solidFill>
              </a:rPr>
              <a:t>WILL</a:t>
            </a:r>
            <a:endParaRPr lang="en-US" sz="1300" dirty="0"/>
          </a:p>
        </p:txBody>
      </p:sp>
      <p:sp>
        <p:nvSpPr>
          <p:cNvPr id="26" name="Text 24"/>
          <p:cNvSpPr/>
          <p:nvPr/>
        </p:nvSpPr>
        <p:spPr>
          <a:xfrm>
            <a:off x="9198864" y="3657600"/>
            <a:ext cx="1975104" cy="749808"/>
          </a:xfrm>
          <a:prstGeom prst="rect">
            <a:avLst/>
          </a:prstGeom>
          <a:noFill/>
          <a:ln/>
        </p:spPr>
        <p:txBody>
          <a:bodyPr wrap="square" lIns="0" tIns="0" rIns="0" bIns="0" rtlCol="0" anchor="ctr">
            <a:normAutofit/>
          </a:bodyPr>
          <a:lstStyle/>
          <a:p>
            <a:pPr algn="ctr" indent="0" marL="0">
              <a:buNone/>
            </a:pPr>
            <a:r>
              <a:rPr lang="en-US" sz="1750" b="1" dirty="0">
                <a:solidFill>
                  <a:srgbClr val="12233F"/>
                </a:solidFill>
              </a:rPr>
              <a:t>What safe experiment will we try next?</a:t>
            </a:r>
            <a:endParaRPr lang="en-US" sz="1750" dirty="0"/>
          </a:p>
        </p:txBody>
      </p:sp>
      <p:sp>
        <p:nvSpPr>
          <p:cNvPr id="27" name="Shape 25"/>
          <p:cNvSpPr/>
          <p:nvPr/>
        </p:nvSpPr>
        <p:spPr>
          <a:xfrm>
            <a:off x="3163824" y="3017520"/>
            <a:ext cx="219456" cy="566928"/>
          </a:xfrm>
          <a:prstGeom prst="chevron">
            <a:avLst/>
          </a:prstGeom>
          <a:solidFill>
            <a:srgbClr val="728197"/>
          </a:solidFill>
          <a:ln w="12700">
            <a:solidFill>
              <a:srgbClr val="728197">
                <a:alpha val="0"/>
              </a:srgbClr>
            </a:solidFill>
            <a:prstDash val="solid"/>
          </a:ln>
        </p:spPr>
      </p:sp>
      <p:sp>
        <p:nvSpPr>
          <p:cNvPr id="28" name="Shape 26"/>
          <p:cNvSpPr/>
          <p:nvPr/>
        </p:nvSpPr>
        <p:spPr>
          <a:xfrm>
            <a:off x="5925312" y="3017520"/>
            <a:ext cx="219456" cy="566928"/>
          </a:xfrm>
          <a:prstGeom prst="chevron">
            <a:avLst/>
          </a:prstGeom>
          <a:solidFill>
            <a:srgbClr val="728197"/>
          </a:solidFill>
          <a:ln w="12700">
            <a:solidFill>
              <a:srgbClr val="728197">
                <a:alpha val="0"/>
              </a:srgbClr>
            </a:solidFill>
            <a:prstDash val="solid"/>
          </a:ln>
        </p:spPr>
      </p:sp>
      <p:sp>
        <p:nvSpPr>
          <p:cNvPr id="29" name="Shape 27"/>
          <p:cNvSpPr/>
          <p:nvPr/>
        </p:nvSpPr>
        <p:spPr>
          <a:xfrm>
            <a:off x="8686800" y="3017520"/>
            <a:ext cx="219456" cy="566928"/>
          </a:xfrm>
          <a:prstGeom prst="chevron">
            <a:avLst/>
          </a:prstGeom>
          <a:solidFill>
            <a:srgbClr val="728197"/>
          </a:solidFill>
          <a:ln w="12700">
            <a:solidFill>
              <a:srgbClr val="728197">
                <a:alpha val="0"/>
              </a:srgbClr>
            </a:solidFill>
            <a:prstDash val="solid"/>
          </a:ln>
        </p:spPr>
      </p:sp>
      <p:sp>
        <p:nvSpPr>
          <p:cNvPr id="30" name="Shape 28"/>
          <p:cNvSpPr/>
          <p:nvPr/>
        </p:nvSpPr>
        <p:spPr>
          <a:xfrm>
            <a:off x="1280160" y="5285232"/>
            <a:ext cx="9555480" cy="594360"/>
          </a:xfrm>
          <a:prstGeom prst="roundRect">
            <a:avLst>
              <a:gd name="adj" fmla="val 15385"/>
            </a:avLst>
          </a:prstGeom>
          <a:solidFill>
            <a:srgbClr val="092F57"/>
          </a:solidFill>
          <a:ln w="12700">
            <a:solidFill>
              <a:srgbClr val="092F57"/>
            </a:solidFill>
            <a:prstDash val="solid"/>
          </a:ln>
          <a:effectLst>
            <a:outerShdw sx="100000" sy="100000" kx="0" ky="0" algn="bl" rotWithShape="0" blurRad="25400" dist="50800" dir="2700000">
              <a:srgbClr val="0B1F33">
                <a:alpha val="12000"/>
              </a:srgbClr>
            </a:outerShdw>
          </a:effectLst>
        </p:spPr>
      </p:sp>
      <p:sp>
        <p:nvSpPr>
          <p:cNvPr id="31" name="Text 29"/>
          <p:cNvSpPr/>
          <p:nvPr/>
        </p:nvSpPr>
        <p:spPr>
          <a:xfrm>
            <a:off x="1554480" y="5468112"/>
            <a:ext cx="9006840" cy="237744"/>
          </a:xfrm>
          <a:prstGeom prst="rect">
            <a:avLst/>
          </a:prstGeom>
          <a:noFill/>
          <a:ln/>
        </p:spPr>
        <p:txBody>
          <a:bodyPr wrap="square" lIns="0" tIns="0" rIns="0" bIns="0" rtlCol="0" anchor="ctr">
            <a:normAutofit/>
          </a:bodyPr>
          <a:lstStyle/>
          <a:p>
            <a:pPr algn="ctr" indent="0" marL="0">
              <a:buNone/>
            </a:pPr>
            <a:r>
              <a:rPr lang="en-US" sz="1700" b="1" spc="70" kern="0" dirty="0">
                <a:solidFill>
                  <a:srgbClr val="FFFFFF"/>
                </a:solidFill>
              </a:rPr>
              <a:t>EMPATHY IS NOT A SOFT EXTRA. IT IS THE ADOPTION MECHANISM.</a:t>
            </a:r>
            <a:endParaRPr lang="en-US" sz="1700" dirty="0"/>
          </a:p>
        </p:txBody>
      </p:sp>
      <p:sp>
        <p:nvSpPr>
          <p:cNvPr id="32" name="Text 30">
            <a:hlinkClick r:id="rId1" tooltip=""/>
          </p:cNvPr>
          <p:cNvSpPr/>
          <p:nvPr/>
        </p:nvSpPr>
        <p:spPr>
          <a:xfrm>
            <a:off x="658368" y="6428232"/>
            <a:ext cx="9921240" cy="219456"/>
          </a:xfrm>
          <a:prstGeom prst="rect">
            <a:avLst/>
          </a:prstGeom>
          <a:noFill/>
          <a:ln/>
        </p:spPr>
        <p:txBody>
          <a:bodyPr wrap="square" lIns="0" tIns="0" rIns="0" bIns="0" rtlCol="0" anchor="ctr">
            <a:normAutofit/>
          </a:bodyPr>
          <a:lstStyle/>
          <a:p>
            <a:pPr indent="0" marL="0">
              <a:buNone/>
            </a:pPr>
            <a:r>
              <a:rPr lang="en-US" sz="1000" u="sng" dirty="0">
                <a:solidFill>
                  <a:srgbClr val="72819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Framework: GROW - Goal, Reality, Options and Will</a:t>
            </a:r>
            <a:endParaRPr lang="en-US" sz="1000" dirty="0"/>
          </a:p>
        </p:txBody>
      </p:sp>
      <p:sp>
        <p:nvSpPr>
          <p:cNvPr id="33" name="Text 31"/>
          <p:cNvSpPr/>
          <p:nvPr/>
        </p:nvSpPr>
        <p:spPr>
          <a:xfrm>
            <a:off x="9464040" y="6446520"/>
            <a:ext cx="2176272" cy="201168"/>
          </a:xfrm>
          <a:prstGeom prst="rect">
            <a:avLst/>
          </a:prstGeom>
          <a:noFill/>
          <a:ln/>
        </p:spPr>
        <p:txBody>
          <a:bodyPr wrap="square" lIns="0" tIns="0" rIns="0" bIns="0" rtlCol="0" anchor="ctr"/>
          <a:lstStyle/>
          <a:p>
            <a:pPr algn="r" indent="0" marL="0">
              <a:buNone/>
            </a:pPr>
            <a:r>
              <a:rPr lang="en-US" sz="850" b="1" spc="60" kern="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sp>
      <p:sp>
        <p:nvSpPr>
          <p:cNvPr id="3" name="Text 1"/>
          <p:cNvSpPr/>
          <p:nvPr/>
        </p:nvSpPr>
        <p:spPr>
          <a:xfrm>
            <a:off x="658368" y="228600"/>
            <a:ext cx="3474720" cy="219456"/>
          </a:xfrm>
          <a:prstGeom prst="rect">
            <a:avLst/>
          </a:prstGeom>
          <a:noFill/>
          <a:ln/>
        </p:spPr>
        <p:txBody>
          <a:bodyPr wrap="square" lIns="0" tIns="0" rIns="0" bIns="0" rtlCol="0" anchor="ctr"/>
          <a:lstStyle/>
          <a:p>
            <a:pPr indent="0" marL="0">
              <a:buNone/>
            </a:pPr>
            <a:r>
              <a:rPr lang="en-US" sz="900" b="1" spc="170" kern="0" dirty="0">
                <a:solidFill>
                  <a:srgbClr val="0B6E75"/>
                </a:solidFill>
                <a:latin typeface="Arial" pitchFamily="34" charset="0"/>
                <a:ea typeface="Arial" pitchFamily="34" charset="-122"/>
                <a:cs typeface="Arial" pitchFamily="34" charset="-120"/>
              </a:rPr>
              <a:t>THE PRACTICE TOOL</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algn="r" indent="0" marL="0">
              <a:buNone/>
            </a:pPr>
            <a:r>
              <a:rPr lang="en-US" sz="1000" b="1" dirty="0">
                <a:solidFill>
                  <a:srgbClr val="728197"/>
                </a:solidFill>
                <a:latin typeface="Arial" pitchFamily="34" charset="0"/>
                <a:ea typeface="Arial" pitchFamily="34" charset="-122"/>
                <a:cs typeface="Arial" pitchFamily="34" charset="-120"/>
              </a:rPr>
              <a:t>08</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indent="0" marL="0">
              <a:buNone/>
            </a:pPr>
            <a:r>
              <a:rPr lang="en-US" sz="2900" b="1" dirty="0">
                <a:solidFill>
                  <a:srgbClr val="12233F"/>
                </a:solidFill>
                <a:latin typeface="Arial" pitchFamily="34" charset="0"/>
                <a:ea typeface="Arial" pitchFamily="34" charset="-122"/>
                <a:cs typeface="Arial" pitchFamily="34" charset="-120"/>
              </a:rPr>
              <a:t>Practise before the real conversation.</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indent="0" marL="0">
              <a:buNone/>
            </a:pPr>
            <a:r>
              <a:rPr lang="en-US" sz="1500" dirty="0">
                <a:solidFill>
                  <a:srgbClr val="4F6176"/>
                </a:solidFill>
                <a:latin typeface="Arial" pitchFamily="34" charset="0"/>
                <a:ea typeface="Arial" pitchFamily="34" charset="-122"/>
                <a:cs typeface="Arial" pitchFamily="34" charset="-120"/>
              </a:rPr>
              <a:t>Six scenarios let mentors rehearse resistance, redesign a role and receive GROW-based feedback.</a:t>
            </a:r>
            <a:endParaRPr lang="en-US" sz="1500" dirty="0"/>
          </a:p>
        </p:txBody>
      </p:sp>
      <p:sp>
        <p:nvSpPr>
          <p:cNvPr id="7" name="Shape 5"/>
          <p:cNvSpPr/>
          <p:nvPr/>
        </p:nvSpPr>
        <p:spPr>
          <a:xfrm>
            <a:off x="594360" y="1664208"/>
            <a:ext cx="7955280" cy="4407408"/>
          </a:xfrm>
          <a:prstGeom prst="roundRect">
            <a:avLst>
              <a:gd name="adj" fmla="val 2075"/>
            </a:avLst>
          </a:prstGeom>
          <a:solidFill>
            <a:srgbClr val="FFFFFF"/>
          </a:solidFill>
          <a:ln w="12700">
            <a:solidFill>
              <a:srgbClr val="D7E1EA"/>
            </a:solidFill>
            <a:prstDash val="solid"/>
          </a:ln>
          <a:effectLst>
            <a:outerShdw sx="100000" sy="100000" kx="0" ky="0" algn="bl" rotWithShape="0" blurRad="25400" dist="50800" dir="2700000">
              <a:srgbClr val="0B1F33">
                <a:alpha val="12000"/>
              </a:srgbClr>
            </a:outerShdw>
          </a:effectLst>
        </p:spPr>
      </p:sp>
      <p:sp>
        <p:nvSpPr>
          <p:cNvPr id="8" name="Shape 6"/>
          <p:cNvSpPr/>
          <p:nvPr/>
        </p:nvSpPr>
        <p:spPr>
          <a:xfrm>
            <a:off x="841248" y="1901952"/>
            <a:ext cx="7461504" cy="347472"/>
          </a:xfrm>
          <a:prstGeom prst="roundRect">
            <a:avLst>
              <a:gd name="adj" fmla="val 26316"/>
            </a:avLst>
          </a:prstGeom>
          <a:solidFill>
            <a:srgbClr val="092F57"/>
          </a:solidFill>
          <a:ln w="12700">
            <a:solidFill>
              <a:srgbClr val="092F57"/>
            </a:solidFill>
            <a:prstDash val="solid"/>
          </a:ln>
        </p:spPr>
      </p:sp>
      <p:sp>
        <p:nvSpPr>
          <p:cNvPr id="9" name="Shape 7"/>
          <p:cNvSpPr/>
          <p:nvPr/>
        </p:nvSpPr>
        <p:spPr>
          <a:xfrm>
            <a:off x="987552" y="1975104"/>
            <a:ext cx="73152" cy="73152"/>
          </a:xfrm>
          <a:prstGeom prst="ellipse">
            <a:avLst/>
          </a:prstGeom>
          <a:solidFill>
            <a:srgbClr val="F5665C"/>
          </a:solidFill>
          <a:ln w="12700">
            <a:solidFill>
              <a:srgbClr val="F5665C"/>
            </a:solidFill>
            <a:prstDash val="solid"/>
          </a:ln>
        </p:spPr>
      </p:sp>
      <p:sp>
        <p:nvSpPr>
          <p:cNvPr id="10" name="Shape 8"/>
          <p:cNvSpPr/>
          <p:nvPr/>
        </p:nvSpPr>
        <p:spPr>
          <a:xfrm>
            <a:off x="1143000" y="1975104"/>
            <a:ext cx="73152" cy="73152"/>
          </a:xfrm>
          <a:prstGeom prst="ellipse">
            <a:avLst/>
          </a:prstGeom>
          <a:solidFill>
            <a:srgbClr val="F4B942"/>
          </a:solidFill>
          <a:ln w="12700">
            <a:solidFill>
              <a:srgbClr val="F4B942"/>
            </a:solidFill>
            <a:prstDash val="solid"/>
          </a:ln>
        </p:spPr>
      </p:sp>
      <p:sp>
        <p:nvSpPr>
          <p:cNvPr id="11" name="Shape 9"/>
          <p:cNvSpPr/>
          <p:nvPr/>
        </p:nvSpPr>
        <p:spPr>
          <a:xfrm>
            <a:off x="1298448" y="1975104"/>
            <a:ext cx="73152" cy="73152"/>
          </a:xfrm>
          <a:prstGeom prst="ellipse">
            <a:avLst/>
          </a:prstGeom>
          <a:solidFill>
            <a:srgbClr val="55D6BE"/>
          </a:solidFill>
          <a:ln w="12700">
            <a:solidFill>
              <a:srgbClr val="55D6BE"/>
            </a:solidFill>
            <a:prstDash val="solid"/>
          </a:ln>
        </p:spPr>
      </p:sp>
      <p:sp>
        <p:nvSpPr>
          <p:cNvPr id="12" name="Text 10">
            <a:hlinkClick r:id="rId1" tooltip=""/>
          </p:cNvPr>
          <p:cNvSpPr/>
          <p:nvPr/>
        </p:nvSpPr>
        <p:spPr>
          <a:xfrm>
            <a:off x="2240280" y="1975104"/>
            <a:ext cx="4663440" cy="164592"/>
          </a:xfrm>
          <a:prstGeom prst="rect">
            <a:avLst/>
          </a:prstGeom>
          <a:noFill/>
          <a:ln/>
        </p:spPr>
        <p:txBody>
          <a:bodyPr wrap="square" lIns="0" tIns="0" rIns="0" bIns="0" rtlCol="0" anchor="ctr"/>
          <a:lstStyle/>
          <a:p>
            <a:pPr algn="ctr" indent="0" marL="0">
              <a:buNone/>
            </a:pPr>
            <a:r>
              <a:rPr lang="en-US" sz="900" b="1" u="sng" spc="70" kern="0"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AI AGENT JOB REDESIGN COACH - LIVE SIMULATOR</a:t>
            </a:r>
            <a:endParaRPr lang="en-US" sz="900" dirty="0"/>
          </a:p>
        </p:txBody>
      </p:sp>
      <p:sp>
        <p:nvSpPr>
          <p:cNvPr id="13" name="Shape 11"/>
          <p:cNvSpPr/>
          <p:nvPr/>
        </p:nvSpPr>
        <p:spPr>
          <a:xfrm>
            <a:off x="987552" y="2505456"/>
            <a:ext cx="2139696" cy="1042416"/>
          </a:xfrm>
          <a:prstGeom prst="roundRect">
            <a:avLst>
              <a:gd name="adj" fmla="val 5263"/>
            </a:avLst>
          </a:prstGeom>
          <a:solidFill>
            <a:srgbClr val="E9F8F4"/>
          </a:solidFill>
          <a:ln w="19050">
            <a:solidFill>
              <a:srgbClr val="0C8A78"/>
            </a:solidFill>
            <a:prstDash val="solid"/>
          </a:ln>
        </p:spPr>
      </p:sp>
      <p:sp>
        <p:nvSpPr>
          <p:cNvPr id="14" name="Text 12"/>
          <p:cNvSpPr/>
          <p:nvPr/>
        </p:nvSpPr>
        <p:spPr>
          <a:xfrm>
            <a:off x="1124712" y="2624328"/>
            <a:ext cx="1865376" cy="219456"/>
          </a:xfrm>
          <a:prstGeom prst="rect">
            <a:avLst/>
          </a:prstGeom>
          <a:noFill/>
          <a:ln/>
        </p:spPr>
        <p:txBody>
          <a:bodyPr wrap="square" lIns="0" tIns="0" rIns="0" bIns="0" rtlCol="0" anchor="ctr"/>
          <a:lstStyle/>
          <a:p>
            <a:pPr indent="0" marL="0">
              <a:buNone/>
            </a:pPr>
            <a:r>
              <a:rPr lang="en-US" sz="1500" b="1" dirty="0">
                <a:solidFill>
                  <a:srgbClr val="12233F"/>
                </a:solidFill>
              </a:rPr>
              <a:t>Sarah</a:t>
            </a:r>
            <a:endParaRPr lang="en-US" sz="1500" dirty="0"/>
          </a:p>
        </p:txBody>
      </p:sp>
      <p:sp>
        <p:nvSpPr>
          <p:cNvPr id="15" name="Text 13"/>
          <p:cNvSpPr/>
          <p:nvPr/>
        </p:nvSpPr>
        <p:spPr>
          <a:xfrm>
            <a:off x="1124712" y="2889504"/>
            <a:ext cx="1865376" cy="182880"/>
          </a:xfrm>
          <a:prstGeom prst="rect">
            <a:avLst/>
          </a:prstGeom>
          <a:noFill/>
          <a:ln/>
        </p:spPr>
        <p:txBody>
          <a:bodyPr wrap="square" lIns="0" tIns="0" rIns="0" bIns="0" rtlCol="0" anchor="ctr">
            <a:normAutofit/>
          </a:bodyPr>
          <a:lstStyle/>
          <a:p>
            <a:pPr indent="0" marL="0">
              <a:buNone/>
            </a:pPr>
            <a:r>
              <a:rPr lang="en-US" sz="1050" b="1" dirty="0">
                <a:solidFill>
                  <a:srgbClr val="0B6E75"/>
                </a:solidFill>
              </a:rPr>
              <a:t>Marketing</a:t>
            </a:r>
            <a:endParaRPr lang="en-US" sz="1050" dirty="0"/>
          </a:p>
        </p:txBody>
      </p:sp>
      <p:sp>
        <p:nvSpPr>
          <p:cNvPr id="16" name="Shape 14"/>
          <p:cNvSpPr/>
          <p:nvPr/>
        </p:nvSpPr>
        <p:spPr>
          <a:xfrm>
            <a:off x="1124712" y="3191256"/>
            <a:ext cx="1810512" cy="310896"/>
          </a:xfrm>
          <a:prstGeom prst="roundRect">
            <a:avLst>
              <a:gd name="adj" fmla="val 47059"/>
            </a:avLst>
          </a:prstGeom>
          <a:solidFill>
            <a:srgbClr val="EEF2F6"/>
          </a:solidFill>
          <a:ln w="12700">
            <a:solidFill>
              <a:srgbClr val="EEF2F6"/>
            </a:solidFill>
            <a:prstDash val="solid"/>
          </a:ln>
        </p:spPr>
      </p:sp>
      <p:sp>
        <p:nvSpPr>
          <p:cNvPr id="17" name="Text 15"/>
          <p:cNvSpPr/>
          <p:nvPr/>
        </p:nvSpPr>
        <p:spPr>
          <a:xfrm>
            <a:off x="1124712" y="3209544"/>
            <a:ext cx="1810512" cy="201168"/>
          </a:xfrm>
          <a:prstGeom prst="rect">
            <a:avLst/>
          </a:prstGeom>
          <a:noFill/>
          <a:ln/>
        </p:spPr>
        <p:txBody>
          <a:bodyPr wrap="square" lIns="0" tIns="0" rIns="0" bIns="0" rtlCol="0" anchor="ctr">
            <a:normAutofit/>
          </a:bodyPr>
          <a:lstStyle/>
          <a:p>
            <a:pPr algn="ctr" indent="0" marL="0">
              <a:buNone/>
            </a:pPr>
            <a:r>
              <a:rPr lang="en-US" sz="750" b="1" dirty="0">
                <a:solidFill>
                  <a:srgbClr val="4F6176"/>
                </a:solidFill>
                <a:latin typeface="Arial" pitchFamily="34" charset="0"/>
                <a:ea typeface="Arial" pitchFamily="34" charset="-122"/>
                <a:cs typeface="Arial" pitchFamily="34" charset="-120"/>
              </a:rPr>
              <a:t>FEAR + IDENTITY</a:t>
            </a:r>
            <a:endParaRPr lang="en-US" sz="750" dirty="0"/>
          </a:p>
        </p:txBody>
      </p:sp>
      <p:sp>
        <p:nvSpPr>
          <p:cNvPr id="18" name="Shape 16"/>
          <p:cNvSpPr/>
          <p:nvPr/>
        </p:nvSpPr>
        <p:spPr>
          <a:xfrm>
            <a:off x="3364992" y="2505456"/>
            <a:ext cx="2139696" cy="1042416"/>
          </a:xfrm>
          <a:prstGeom prst="roundRect">
            <a:avLst>
              <a:gd name="adj" fmla="val 5263"/>
            </a:avLst>
          </a:prstGeom>
          <a:solidFill>
            <a:srgbClr val="FFFFFF"/>
          </a:solidFill>
          <a:ln w="12700">
            <a:solidFill>
              <a:srgbClr val="D7E1EA"/>
            </a:solidFill>
            <a:prstDash val="solid"/>
          </a:ln>
        </p:spPr>
      </p:sp>
      <p:sp>
        <p:nvSpPr>
          <p:cNvPr id="19" name="Text 17"/>
          <p:cNvSpPr/>
          <p:nvPr/>
        </p:nvSpPr>
        <p:spPr>
          <a:xfrm>
            <a:off x="3502152" y="2624328"/>
            <a:ext cx="1865376" cy="219456"/>
          </a:xfrm>
          <a:prstGeom prst="rect">
            <a:avLst/>
          </a:prstGeom>
          <a:noFill/>
          <a:ln/>
        </p:spPr>
        <p:txBody>
          <a:bodyPr wrap="square" lIns="0" tIns="0" rIns="0" bIns="0" rtlCol="0" anchor="ctr"/>
          <a:lstStyle/>
          <a:p>
            <a:pPr indent="0" marL="0">
              <a:buNone/>
            </a:pPr>
            <a:r>
              <a:rPr lang="en-US" sz="1500" b="1" dirty="0">
                <a:solidFill>
                  <a:srgbClr val="12233F"/>
                </a:solidFill>
              </a:rPr>
              <a:t>David</a:t>
            </a:r>
            <a:endParaRPr lang="en-US" sz="1500" dirty="0"/>
          </a:p>
        </p:txBody>
      </p:sp>
      <p:sp>
        <p:nvSpPr>
          <p:cNvPr id="20" name="Text 18"/>
          <p:cNvSpPr/>
          <p:nvPr/>
        </p:nvSpPr>
        <p:spPr>
          <a:xfrm>
            <a:off x="3502152" y="2889504"/>
            <a:ext cx="1865376" cy="182880"/>
          </a:xfrm>
          <a:prstGeom prst="rect">
            <a:avLst/>
          </a:prstGeom>
          <a:noFill/>
          <a:ln/>
        </p:spPr>
        <p:txBody>
          <a:bodyPr wrap="square" lIns="0" tIns="0" rIns="0" bIns="0" rtlCol="0" anchor="ctr">
            <a:normAutofit/>
          </a:bodyPr>
          <a:lstStyle/>
          <a:p>
            <a:pPr indent="0" marL="0">
              <a:buNone/>
            </a:pPr>
            <a:r>
              <a:rPr lang="en-US" sz="1050" b="1" dirty="0">
                <a:solidFill>
                  <a:srgbClr val="0B6E75"/>
                </a:solidFill>
              </a:rPr>
              <a:t>Customer Service</a:t>
            </a:r>
            <a:endParaRPr lang="en-US" sz="1050" dirty="0"/>
          </a:p>
        </p:txBody>
      </p:sp>
      <p:sp>
        <p:nvSpPr>
          <p:cNvPr id="21" name="Shape 19"/>
          <p:cNvSpPr/>
          <p:nvPr/>
        </p:nvSpPr>
        <p:spPr>
          <a:xfrm>
            <a:off x="3502152" y="3191256"/>
            <a:ext cx="1810512" cy="310896"/>
          </a:xfrm>
          <a:prstGeom prst="roundRect">
            <a:avLst>
              <a:gd name="adj" fmla="val 47059"/>
            </a:avLst>
          </a:prstGeom>
          <a:solidFill>
            <a:srgbClr val="EEF2F6"/>
          </a:solidFill>
          <a:ln w="12700">
            <a:solidFill>
              <a:srgbClr val="EEF2F6"/>
            </a:solidFill>
            <a:prstDash val="solid"/>
          </a:ln>
        </p:spPr>
      </p:sp>
      <p:sp>
        <p:nvSpPr>
          <p:cNvPr id="22" name="Text 20"/>
          <p:cNvSpPr/>
          <p:nvPr/>
        </p:nvSpPr>
        <p:spPr>
          <a:xfrm>
            <a:off x="3502152" y="3209544"/>
            <a:ext cx="1810512" cy="201168"/>
          </a:xfrm>
          <a:prstGeom prst="rect">
            <a:avLst/>
          </a:prstGeom>
          <a:noFill/>
          <a:ln/>
        </p:spPr>
        <p:txBody>
          <a:bodyPr wrap="square" lIns="0" tIns="0" rIns="0" bIns="0" rtlCol="0" anchor="ctr">
            <a:normAutofit/>
          </a:bodyPr>
          <a:lstStyle/>
          <a:p>
            <a:pPr algn="ctr" indent="0" marL="0">
              <a:buNone/>
            </a:pPr>
            <a:r>
              <a:rPr lang="en-US" sz="750" b="1" dirty="0">
                <a:solidFill>
                  <a:srgbClr val="4F6176"/>
                </a:solidFill>
                <a:latin typeface="Arial" pitchFamily="34" charset="0"/>
                <a:ea typeface="Arial" pitchFamily="34" charset="-122"/>
                <a:cs typeface="Arial" pitchFamily="34" charset="-120"/>
              </a:rPr>
              <a:t>ANGER + BETRAYAL</a:t>
            </a:r>
            <a:endParaRPr lang="en-US" sz="750" dirty="0"/>
          </a:p>
        </p:txBody>
      </p:sp>
      <p:sp>
        <p:nvSpPr>
          <p:cNvPr id="23" name="Shape 21"/>
          <p:cNvSpPr/>
          <p:nvPr/>
        </p:nvSpPr>
        <p:spPr>
          <a:xfrm>
            <a:off x="5742432" y="2505456"/>
            <a:ext cx="2139696" cy="1042416"/>
          </a:xfrm>
          <a:prstGeom prst="roundRect">
            <a:avLst>
              <a:gd name="adj" fmla="val 5263"/>
            </a:avLst>
          </a:prstGeom>
          <a:solidFill>
            <a:srgbClr val="FFFFFF"/>
          </a:solidFill>
          <a:ln w="12700">
            <a:solidFill>
              <a:srgbClr val="D7E1EA"/>
            </a:solidFill>
            <a:prstDash val="solid"/>
          </a:ln>
        </p:spPr>
      </p:sp>
      <p:sp>
        <p:nvSpPr>
          <p:cNvPr id="24" name="Text 22"/>
          <p:cNvSpPr/>
          <p:nvPr/>
        </p:nvSpPr>
        <p:spPr>
          <a:xfrm>
            <a:off x="5879592" y="2624328"/>
            <a:ext cx="1865376" cy="219456"/>
          </a:xfrm>
          <a:prstGeom prst="rect">
            <a:avLst/>
          </a:prstGeom>
          <a:noFill/>
          <a:ln/>
        </p:spPr>
        <p:txBody>
          <a:bodyPr wrap="square" lIns="0" tIns="0" rIns="0" bIns="0" rtlCol="0" anchor="ctr"/>
          <a:lstStyle/>
          <a:p>
            <a:pPr indent="0" marL="0">
              <a:buNone/>
            </a:pPr>
            <a:r>
              <a:rPr lang="en-US" sz="1500" b="1" dirty="0">
                <a:solidFill>
                  <a:srgbClr val="12233F"/>
                </a:solidFill>
              </a:rPr>
              <a:t>Mei Ling</a:t>
            </a:r>
            <a:endParaRPr lang="en-US" sz="1500" dirty="0"/>
          </a:p>
        </p:txBody>
      </p:sp>
      <p:sp>
        <p:nvSpPr>
          <p:cNvPr id="25" name="Text 23"/>
          <p:cNvSpPr/>
          <p:nvPr/>
        </p:nvSpPr>
        <p:spPr>
          <a:xfrm>
            <a:off x="5879592" y="2889504"/>
            <a:ext cx="1865376" cy="182880"/>
          </a:xfrm>
          <a:prstGeom prst="rect">
            <a:avLst/>
          </a:prstGeom>
          <a:noFill/>
          <a:ln/>
        </p:spPr>
        <p:txBody>
          <a:bodyPr wrap="square" lIns="0" tIns="0" rIns="0" bIns="0" rtlCol="0" anchor="ctr">
            <a:normAutofit/>
          </a:bodyPr>
          <a:lstStyle/>
          <a:p>
            <a:pPr indent="0" marL="0">
              <a:buNone/>
            </a:pPr>
            <a:r>
              <a:rPr lang="en-US" sz="1050" b="1" dirty="0">
                <a:solidFill>
                  <a:srgbClr val="0B6E75"/>
                </a:solidFill>
              </a:rPr>
              <a:t>Data Analyst</a:t>
            </a:r>
            <a:endParaRPr lang="en-US" sz="1050" dirty="0"/>
          </a:p>
        </p:txBody>
      </p:sp>
      <p:sp>
        <p:nvSpPr>
          <p:cNvPr id="26" name="Shape 24"/>
          <p:cNvSpPr/>
          <p:nvPr/>
        </p:nvSpPr>
        <p:spPr>
          <a:xfrm>
            <a:off x="5879592" y="3191256"/>
            <a:ext cx="1810512" cy="310896"/>
          </a:xfrm>
          <a:prstGeom prst="roundRect">
            <a:avLst>
              <a:gd name="adj" fmla="val 47059"/>
            </a:avLst>
          </a:prstGeom>
          <a:solidFill>
            <a:srgbClr val="EEF2F6"/>
          </a:solidFill>
          <a:ln w="12700">
            <a:solidFill>
              <a:srgbClr val="EEF2F6"/>
            </a:solidFill>
            <a:prstDash val="solid"/>
          </a:ln>
        </p:spPr>
      </p:sp>
      <p:sp>
        <p:nvSpPr>
          <p:cNvPr id="27" name="Text 25"/>
          <p:cNvSpPr/>
          <p:nvPr/>
        </p:nvSpPr>
        <p:spPr>
          <a:xfrm>
            <a:off x="5879592" y="3209544"/>
            <a:ext cx="1810512" cy="201168"/>
          </a:xfrm>
          <a:prstGeom prst="rect">
            <a:avLst/>
          </a:prstGeom>
          <a:noFill/>
          <a:ln/>
        </p:spPr>
        <p:txBody>
          <a:bodyPr wrap="square" lIns="0" tIns="0" rIns="0" bIns="0" rtlCol="0" anchor="ctr">
            <a:normAutofit/>
          </a:bodyPr>
          <a:lstStyle/>
          <a:p>
            <a:pPr algn="ctr" indent="0" marL="0">
              <a:buNone/>
            </a:pPr>
            <a:r>
              <a:rPr lang="en-US" sz="750" b="1" dirty="0">
                <a:solidFill>
                  <a:srgbClr val="4F6176"/>
                </a:solidFill>
                <a:latin typeface="Arial" pitchFamily="34" charset="0"/>
                <a:ea typeface="Arial" pitchFamily="34" charset="-122"/>
                <a:cs typeface="Arial" pitchFamily="34" charset="-120"/>
              </a:rPr>
              <a:t>ANXIETY + WITHDRAWAL</a:t>
            </a:r>
            <a:endParaRPr lang="en-US" sz="750" dirty="0"/>
          </a:p>
        </p:txBody>
      </p:sp>
      <p:sp>
        <p:nvSpPr>
          <p:cNvPr id="28" name="Shape 26"/>
          <p:cNvSpPr/>
          <p:nvPr/>
        </p:nvSpPr>
        <p:spPr>
          <a:xfrm>
            <a:off x="987552" y="3758184"/>
            <a:ext cx="2139696" cy="1042416"/>
          </a:xfrm>
          <a:prstGeom prst="roundRect">
            <a:avLst>
              <a:gd name="adj" fmla="val 5263"/>
            </a:avLst>
          </a:prstGeom>
          <a:solidFill>
            <a:srgbClr val="FFFFFF"/>
          </a:solidFill>
          <a:ln w="12700">
            <a:solidFill>
              <a:srgbClr val="D7E1EA"/>
            </a:solidFill>
            <a:prstDash val="solid"/>
          </a:ln>
        </p:spPr>
      </p:sp>
      <p:sp>
        <p:nvSpPr>
          <p:cNvPr id="29" name="Text 27"/>
          <p:cNvSpPr/>
          <p:nvPr/>
        </p:nvSpPr>
        <p:spPr>
          <a:xfrm>
            <a:off x="1124712" y="3877056"/>
            <a:ext cx="1865376" cy="219456"/>
          </a:xfrm>
          <a:prstGeom prst="rect">
            <a:avLst/>
          </a:prstGeom>
          <a:noFill/>
          <a:ln/>
        </p:spPr>
        <p:txBody>
          <a:bodyPr wrap="square" lIns="0" tIns="0" rIns="0" bIns="0" rtlCol="0" anchor="ctr"/>
          <a:lstStyle/>
          <a:p>
            <a:pPr indent="0" marL="0">
              <a:buNone/>
            </a:pPr>
            <a:r>
              <a:rPr lang="en-US" sz="1500" b="1" dirty="0">
                <a:solidFill>
                  <a:srgbClr val="12233F"/>
                </a:solidFill>
              </a:rPr>
              <a:t>Arjun</a:t>
            </a:r>
            <a:endParaRPr lang="en-US" sz="1500" dirty="0"/>
          </a:p>
        </p:txBody>
      </p:sp>
      <p:sp>
        <p:nvSpPr>
          <p:cNvPr id="30" name="Text 28"/>
          <p:cNvSpPr/>
          <p:nvPr/>
        </p:nvSpPr>
        <p:spPr>
          <a:xfrm>
            <a:off x="1124712" y="4142232"/>
            <a:ext cx="1865376" cy="182880"/>
          </a:xfrm>
          <a:prstGeom prst="rect">
            <a:avLst/>
          </a:prstGeom>
          <a:noFill/>
          <a:ln/>
        </p:spPr>
        <p:txBody>
          <a:bodyPr wrap="square" lIns="0" tIns="0" rIns="0" bIns="0" rtlCol="0" anchor="ctr">
            <a:normAutofit/>
          </a:bodyPr>
          <a:lstStyle/>
          <a:p>
            <a:pPr indent="0" marL="0">
              <a:buNone/>
            </a:pPr>
            <a:r>
              <a:rPr lang="en-US" sz="1050" b="1" dirty="0">
                <a:solidFill>
                  <a:srgbClr val="0B6E75"/>
                </a:solidFill>
              </a:rPr>
              <a:t>Software Developer</a:t>
            </a:r>
            <a:endParaRPr lang="en-US" sz="1050" dirty="0"/>
          </a:p>
        </p:txBody>
      </p:sp>
      <p:sp>
        <p:nvSpPr>
          <p:cNvPr id="31" name="Shape 29"/>
          <p:cNvSpPr/>
          <p:nvPr/>
        </p:nvSpPr>
        <p:spPr>
          <a:xfrm>
            <a:off x="1124712" y="4443984"/>
            <a:ext cx="1810512" cy="310896"/>
          </a:xfrm>
          <a:prstGeom prst="roundRect">
            <a:avLst>
              <a:gd name="adj" fmla="val 47059"/>
            </a:avLst>
          </a:prstGeom>
          <a:solidFill>
            <a:srgbClr val="EEF2F6"/>
          </a:solidFill>
          <a:ln w="12700">
            <a:solidFill>
              <a:srgbClr val="EEF2F6"/>
            </a:solidFill>
            <a:prstDash val="solid"/>
          </a:ln>
        </p:spPr>
      </p:sp>
      <p:sp>
        <p:nvSpPr>
          <p:cNvPr id="32" name="Text 30"/>
          <p:cNvSpPr/>
          <p:nvPr/>
        </p:nvSpPr>
        <p:spPr>
          <a:xfrm>
            <a:off x="1124712" y="4462272"/>
            <a:ext cx="1810512" cy="201168"/>
          </a:xfrm>
          <a:prstGeom prst="rect">
            <a:avLst/>
          </a:prstGeom>
          <a:noFill/>
          <a:ln/>
        </p:spPr>
        <p:txBody>
          <a:bodyPr wrap="square" lIns="0" tIns="0" rIns="0" bIns="0" rtlCol="0" anchor="ctr">
            <a:normAutofit/>
          </a:bodyPr>
          <a:lstStyle/>
          <a:p>
            <a:pPr algn="ctr" indent="0" marL="0">
              <a:buNone/>
            </a:pPr>
            <a:r>
              <a:rPr lang="en-US" sz="750" b="1" dirty="0">
                <a:solidFill>
                  <a:srgbClr val="4F6176"/>
                </a:solidFill>
                <a:latin typeface="Arial" pitchFamily="34" charset="0"/>
                <a:ea typeface="Arial" pitchFamily="34" charset="-122"/>
                <a:cs typeface="Arial" pitchFamily="34" charset="-120"/>
              </a:rPr>
              <a:t>SCEPTICISM + PRIDE</a:t>
            </a:r>
            <a:endParaRPr lang="en-US" sz="750" dirty="0"/>
          </a:p>
        </p:txBody>
      </p:sp>
      <p:sp>
        <p:nvSpPr>
          <p:cNvPr id="33" name="Shape 31"/>
          <p:cNvSpPr/>
          <p:nvPr/>
        </p:nvSpPr>
        <p:spPr>
          <a:xfrm>
            <a:off x="3364992" y="3758184"/>
            <a:ext cx="2139696" cy="1042416"/>
          </a:xfrm>
          <a:prstGeom prst="roundRect">
            <a:avLst>
              <a:gd name="adj" fmla="val 5263"/>
            </a:avLst>
          </a:prstGeom>
          <a:solidFill>
            <a:srgbClr val="FFFFFF"/>
          </a:solidFill>
          <a:ln w="12700">
            <a:solidFill>
              <a:srgbClr val="D7E1EA"/>
            </a:solidFill>
            <a:prstDash val="solid"/>
          </a:ln>
        </p:spPr>
      </p:sp>
      <p:sp>
        <p:nvSpPr>
          <p:cNvPr id="34" name="Text 32"/>
          <p:cNvSpPr/>
          <p:nvPr/>
        </p:nvSpPr>
        <p:spPr>
          <a:xfrm>
            <a:off x="3502152" y="3877056"/>
            <a:ext cx="1865376" cy="219456"/>
          </a:xfrm>
          <a:prstGeom prst="rect">
            <a:avLst/>
          </a:prstGeom>
          <a:noFill/>
          <a:ln/>
        </p:spPr>
        <p:txBody>
          <a:bodyPr wrap="square" lIns="0" tIns="0" rIns="0" bIns="0" rtlCol="0" anchor="ctr"/>
          <a:lstStyle/>
          <a:p>
            <a:pPr indent="0" marL="0">
              <a:buNone/>
            </a:pPr>
            <a:r>
              <a:rPr lang="en-US" sz="1500" b="1" dirty="0">
                <a:solidFill>
                  <a:srgbClr val="12233F"/>
                </a:solidFill>
              </a:rPr>
              <a:t>Aisha</a:t>
            </a:r>
            <a:endParaRPr lang="en-US" sz="1500" dirty="0"/>
          </a:p>
        </p:txBody>
      </p:sp>
      <p:sp>
        <p:nvSpPr>
          <p:cNvPr id="35" name="Text 33"/>
          <p:cNvSpPr/>
          <p:nvPr/>
        </p:nvSpPr>
        <p:spPr>
          <a:xfrm>
            <a:off x="3502152" y="4142232"/>
            <a:ext cx="1865376" cy="182880"/>
          </a:xfrm>
          <a:prstGeom prst="rect">
            <a:avLst/>
          </a:prstGeom>
          <a:noFill/>
          <a:ln/>
        </p:spPr>
        <p:txBody>
          <a:bodyPr wrap="square" lIns="0" tIns="0" rIns="0" bIns="0" rtlCol="0" anchor="ctr">
            <a:normAutofit/>
          </a:bodyPr>
          <a:lstStyle/>
          <a:p>
            <a:pPr indent="0" marL="0">
              <a:buNone/>
            </a:pPr>
            <a:r>
              <a:rPr lang="en-US" sz="1050" b="1" dirty="0">
                <a:solidFill>
                  <a:srgbClr val="0B6E75"/>
                </a:solidFill>
              </a:rPr>
              <a:t>Web Operations</a:t>
            </a:r>
            <a:endParaRPr lang="en-US" sz="1050" dirty="0"/>
          </a:p>
        </p:txBody>
      </p:sp>
      <p:sp>
        <p:nvSpPr>
          <p:cNvPr id="36" name="Shape 34"/>
          <p:cNvSpPr/>
          <p:nvPr/>
        </p:nvSpPr>
        <p:spPr>
          <a:xfrm>
            <a:off x="3502152" y="4443984"/>
            <a:ext cx="1810512" cy="310896"/>
          </a:xfrm>
          <a:prstGeom prst="roundRect">
            <a:avLst>
              <a:gd name="adj" fmla="val 47059"/>
            </a:avLst>
          </a:prstGeom>
          <a:solidFill>
            <a:srgbClr val="EEF2F6"/>
          </a:solidFill>
          <a:ln w="12700">
            <a:solidFill>
              <a:srgbClr val="EEF2F6"/>
            </a:solidFill>
            <a:prstDash val="solid"/>
          </a:ln>
        </p:spPr>
      </p:sp>
      <p:sp>
        <p:nvSpPr>
          <p:cNvPr id="37" name="Text 35"/>
          <p:cNvSpPr/>
          <p:nvPr/>
        </p:nvSpPr>
        <p:spPr>
          <a:xfrm>
            <a:off x="3502152" y="4462272"/>
            <a:ext cx="1810512" cy="201168"/>
          </a:xfrm>
          <a:prstGeom prst="rect">
            <a:avLst/>
          </a:prstGeom>
          <a:noFill/>
          <a:ln/>
        </p:spPr>
        <p:txBody>
          <a:bodyPr wrap="square" lIns="0" tIns="0" rIns="0" bIns="0" rtlCol="0" anchor="ctr">
            <a:normAutofit/>
          </a:bodyPr>
          <a:lstStyle/>
          <a:p>
            <a:pPr algn="ctr" indent="0" marL="0">
              <a:buNone/>
            </a:pPr>
            <a:r>
              <a:rPr lang="en-US" sz="750" b="1" dirty="0">
                <a:solidFill>
                  <a:srgbClr val="4F6176"/>
                </a:solidFill>
                <a:latin typeface="Arial" pitchFamily="34" charset="0"/>
                <a:ea typeface="Arial" pitchFamily="34" charset="-122"/>
                <a:cs typeface="Arial" pitchFamily="34" charset="-120"/>
              </a:rPr>
              <a:t>CONTROL + ACCOUNTABILITY</a:t>
            </a:r>
            <a:endParaRPr lang="en-US" sz="750" dirty="0"/>
          </a:p>
        </p:txBody>
      </p:sp>
      <p:sp>
        <p:nvSpPr>
          <p:cNvPr id="38" name="Shape 36"/>
          <p:cNvSpPr/>
          <p:nvPr/>
        </p:nvSpPr>
        <p:spPr>
          <a:xfrm>
            <a:off x="5742432" y="3758184"/>
            <a:ext cx="2139696" cy="1042416"/>
          </a:xfrm>
          <a:prstGeom prst="roundRect">
            <a:avLst>
              <a:gd name="adj" fmla="val 5263"/>
            </a:avLst>
          </a:prstGeom>
          <a:solidFill>
            <a:srgbClr val="FFFFFF"/>
          </a:solidFill>
          <a:ln w="12700">
            <a:solidFill>
              <a:srgbClr val="D7E1EA"/>
            </a:solidFill>
            <a:prstDash val="solid"/>
          </a:ln>
        </p:spPr>
      </p:sp>
      <p:sp>
        <p:nvSpPr>
          <p:cNvPr id="39" name="Text 37"/>
          <p:cNvSpPr/>
          <p:nvPr/>
        </p:nvSpPr>
        <p:spPr>
          <a:xfrm>
            <a:off x="5879592" y="3877056"/>
            <a:ext cx="1865376" cy="219456"/>
          </a:xfrm>
          <a:prstGeom prst="rect">
            <a:avLst/>
          </a:prstGeom>
          <a:noFill/>
          <a:ln/>
        </p:spPr>
        <p:txBody>
          <a:bodyPr wrap="square" lIns="0" tIns="0" rIns="0" bIns="0" rtlCol="0" anchor="ctr"/>
          <a:lstStyle/>
          <a:p>
            <a:pPr indent="0" marL="0">
              <a:buNone/>
            </a:pPr>
            <a:r>
              <a:rPr lang="en-US" sz="1500" b="1" dirty="0">
                <a:solidFill>
                  <a:srgbClr val="12233F"/>
                </a:solidFill>
              </a:rPr>
              <a:t>Farah</a:t>
            </a:r>
            <a:endParaRPr lang="en-US" sz="1500" dirty="0"/>
          </a:p>
        </p:txBody>
      </p:sp>
      <p:sp>
        <p:nvSpPr>
          <p:cNvPr id="40" name="Text 38"/>
          <p:cNvSpPr/>
          <p:nvPr/>
        </p:nvSpPr>
        <p:spPr>
          <a:xfrm>
            <a:off x="5879592" y="4142232"/>
            <a:ext cx="1865376" cy="182880"/>
          </a:xfrm>
          <a:prstGeom prst="rect">
            <a:avLst/>
          </a:prstGeom>
          <a:noFill/>
          <a:ln/>
        </p:spPr>
        <p:txBody>
          <a:bodyPr wrap="square" lIns="0" tIns="0" rIns="0" bIns="0" rtlCol="0" anchor="ctr">
            <a:normAutofit/>
          </a:bodyPr>
          <a:lstStyle/>
          <a:p>
            <a:pPr indent="0" marL="0">
              <a:buNone/>
            </a:pPr>
            <a:r>
              <a:rPr lang="en-US" sz="1050" b="1" dirty="0">
                <a:solidFill>
                  <a:srgbClr val="0B6E75"/>
                </a:solidFill>
              </a:rPr>
              <a:t>HR Executive</a:t>
            </a:r>
            <a:endParaRPr lang="en-US" sz="1050" dirty="0"/>
          </a:p>
        </p:txBody>
      </p:sp>
      <p:sp>
        <p:nvSpPr>
          <p:cNvPr id="41" name="Shape 39"/>
          <p:cNvSpPr/>
          <p:nvPr/>
        </p:nvSpPr>
        <p:spPr>
          <a:xfrm>
            <a:off x="5879592" y="4443984"/>
            <a:ext cx="1810512" cy="310896"/>
          </a:xfrm>
          <a:prstGeom prst="roundRect">
            <a:avLst>
              <a:gd name="adj" fmla="val 47059"/>
            </a:avLst>
          </a:prstGeom>
          <a:solidFill>
            <a:srgbClr val="EEF2F6"/>
          </a:solidFill>
          <a:ln w="12700">
            <a:solidFill>
              <a:srgbClr val="EEF2F6"/>
            </a:solidFill>
            <a:prstDash val="solid"/>
          </a:ln>
        </p:spPr>
      </p:sp>
      <p:sp>
        <p:nvSpPr>
          <p:cNvPr id="42" name="Text 40"/>
          <p:cNvSpPr/>
          <p:nvPr/>
        </p:nvSpPr>
        <p:spPr>
          <a:xfrm>
            <a:off x="5879592" y="4462272"/>
            <a:ext cx="1810512" cy="201168"/>
          </a:xfrm>
          <a:prstGeom prst="rect">
            <a:avLst/>
          </a:prstGeom>
          <a:noFill/>
          <a:ln/>
        </p:spPr>
        <p:txBody>
          <a:bodyPr wrap="square" lIns="0" tIns="0" rIns="0" bIns="0" rtlCol="0" anchor="ctr">
            <a:normAutofit/>
          </a:bodyPr>
          <a:lstStyle/>
          <a:p>
            <a:pPr algn="ctr" indent="0" marL="0">
              <a:buNone/>
            </a:pPr>
            <a:r>
              <a:rPr lang="en-US" sz="750" b="1" dirty="0">
                <a:solidFill>
                  <a:srgbClr val="4F6176"/>
                </a:solidFill>
                <a:latin typeface="Arial" pitchFamily="34" charset="0"/>
                <a:ea typeface="Arial" pitchFamily="34" charset="-122"/>
                <a:cs typeface="Arial" pitchFamily="34" charset="-120"/>
              </a:rPr>
              <a:t>ETHICS + PURPOSE</a:t>
            </a:r>
            <a:endParaRPr lang="en-US" sz="750" dirty="0"/>
          </a:p>
        </p:txBody>
      </p:sp>
      <p:sp>
        <p:nvSpPr>
          <p:cNvPr id="43" name="Shape 41"/>
          <p:cNvSpPr/>
          <p:nvPr/>
        </p:nvSpPr>
        <p:spPr>
          <a:xfrm>
            <a:off x="987552" y="5166360"/>
            <a:ext cx="6894576" cy="438912"/>
          </a:xfrm>
          <a:prstGeom prst="roundRect">
            <a:avLst>
              <a:gd name="adj" fmla="val 12500"/>
            </a:avLst>
          </a:prstGeom>
          <a:solidFill>
            <a:srgbClr val="092F57"/>
          </a:solidFill>
          <a:ln w="12700">
            <a:solidFill>
              <a:srgbClr val="092F57"/>
            </a:solidFill>
            <a:prstDash val="solid"/>
          </a:ln>
        </p:spPr>
      </p:sp>
      <p:sp>
        <p:nvSpPr>
          <p:cNvPr id="44" name="Text 42">
            <a:hlinkClick r:id="rId2" tooltip=""/>
          </p:cNvPr>
          <p:cNvSpPr/>
          <p:nvPr/>
        </p:nvSpPr>
        <p:spPr>
          <a:xfrm>
            <a:off x="1234440" y="5294376"/>
            <a:ext cx="6400800" cy="182880"/>
          </a:xfrm>
          <a:prstGeom prst="rect">
            <a:avLst/>
          </a:prstGeom>
          <a:noFill/>
          <a:ln/>
        </p:spPr>
        <p:txBody>
          <a:bodyPr wrap="square" lIns="0" tIns="0" rIns="0" bIns="0" rtlCol="0" anchor="ctr">
            <a:normAutofit/>
          </a:bodyPr>
          <a:lstStyle/>
          <a:p>
            <a:pPr algn="ctr" indent="0" marL="0">
              <a:buNone/>
            </a:pPr>
            <a:r>
              <a:rPr lang="en-US" sz="1100" b="1" u="sng" spc="45" kern="0"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PICK A PERSON  &gt;  COACH THE TRANSITION  &gt;  GET GROW FEEDBACK</a:t>
            </a:r>
            <a:endParaRPr lang="en-US" sz="1100" dirty="0"/>
          </a:p>
        </p:txBody>
      </p:sp>
      <p:sp>
        <p:nvSpPr>
          <p:cNvPr id="45" name="Text 43">
            <a:hlinkClick r:id="rId3" tooltip=""/>
          </p:cNvPr>
          <p:cNvSpPr/>
          <p:nvPr/>
        </p:nvSpPr>
        <p:spPr>
          <a:xfrm>
            <a:off x="2852928" y="5669280"/>
            <a:ext cx="3474720" cy="219456"/>
          </a:xfrm>
          <a:prstGeom prst="rect">
            <a:avLst/>
          </a:prstGeom>
          <a:noFill/>
          <a:ln/>
        </p:spPr>
        <p:txBody>
          <a:bodyPr wrap="square" lIns="0" tIns="0" rIns="0" bIns="0" rtlCol="0" anchor="ctr"/>
          <a:lstStyle/>
          <a:p>
            <a:pPr algn="ctr" indent="0" marL="0">
              <a:buNone/>
            </a:pPr>
            <a:r>
              <a:rPr lang="en-US" sz="1200" b="1" u="sng" spc="100" kern="0" dirty="0">
                <a:solidFill>
                  <a:srgbClr val="0B6E75"/>
                </a:solidFill>
                <a:hlinkClick r:id="rId3" invalidUrl="" action="" tgtFrame="" tooltip="" history="1" highlightClick="0" endSnd="0">
                  <a:extLst>
                    <a:ext uri="{A12FA001-AC4F-418D-AE19-62706E023703}">
                      <ahyp:hlinkClr xmlns:ahyp="http://schemas.microsoft.com/office/drawing/2018/hyperlinkcolor" val="tx"/>
                    </a:ext>
                  </a:extLst>
                </a:hlinkClick>
              </a:rPr>
              <a:t>CLICK TO OPEN LIVE SIMULATOR</a:t>
            </a:r>
            <a:endParaRPr lang="en-US" sz="1200" dirty="0"/>
          </a:p>
        </p:txBody>
      </p:sp>
      <p:sp>
        <p:nvSpPr>
          <p:cNvPr id="46" name="Shape 44"/>
          <p:cNvSpPr/>
          <p:nvPr/>
        </p:nvSpPr>
        <p:spPr>
          <a:xfrm>
            <a:off x="8823960" y="1664208"/>
            <a:ext cx="2724912" cy="4407408"/>
          </a:xfrm>
          <a:prstGeom prst="roundRect">
            <a:avLst>
              <a:gd name="adj" fmla="val 3356"/>
            </a:avLst>
          </a:prstGeom>
          <a:solidFill>
            <a:srgbClr val="092F57"/>
          </a:solidFill>
          <a:ln w="12700">
            <a:solidFill>
              <a:srgbClr val="092F57"/>
            </a:solidFill>
            <a:prstDash val="solid"/>
          </a:ln>
          <a:effectLst>
            <a:outerShdw sx="100000" sy="100000" kx="0" ky="0" algn="bl" rotWithShape="0" blurRad="25400" dist="50800" dir="2700000">
              <a:srgbClr val="0B1F33">
                <a:alpha val="12000"/>
              </a:srgbClr>
            </a:outerShdw>
          </a:effectLst>
        </p:spPr>
      </p:sp>
      <p:sp>
        <p:nvSpPr>
          <p:cNvPr id="47" name="Text 45"/>
          <p:cNvSpPr/>
          <p:nvPr/>
        </p:nvSpPr>
        <p:spPr>
          <a:xfrm>
            <a:off x="9144000" y="1956816"/>
            <a:ext cx="2084832" cy="274320"/>
          </a:xfrm>
          <a:prstGeom prst="rect">
            <a:avLst/>
          </a:prstGeom>
          <a:noFill/>
          <a:ln/>
        </p:spPr>
        <p:txBody>
          <a:bodyPr wrap="square" lIns="0" tIns="0" rIns="0" bIns="0" rtlCol="0" anchor="ctr"/>
          <a:lstStyle/>
          <a:p>
            <a:pPr algn="ctr" indent="0" marL="0">
              <a:buNone/>
            </a:pPr>
            <a:r>
              <a:rPr lang="en-US" sz="1500" b="1" spc="120" kern="0" dirty="0">
                <a:solidFill>
                  <a:srgbClr val="55D6BE"/>
                </a:solidFill>
              </a:rPr>
              <a:t>TRY IT</a:t>
            </a:r>
            <a:endParaRPr lang="en-US" sz="1500" dirty="0"/>
          </a:p>
        </p:txBody>
      </p:sp>
      <p:pic>
        <p:nvPicPr>
          <p:cNvPr id="48" name="Image 0" descr="QR code to the live AI Agent Job Redesign Coach">
            <a:hlinkClick r:id="rId5" tooltip=""/>
          </p:cNvPr>
          <p:cNvPicPr>
            <a:picLocks noChangeAspect="1"/>
          </p:cNvPicPr>
          <p:nvPr/>
        </p:nvPicPr>
        <p:blipFill>
          <a:blip r:embed="rId4"/>
          <a:stretch>
            <a:fillRect/>
          </a:stretch>
        </p:blipFill>
        <p:spPr>
          <a:xfrm>
            <a:off x="9262872" y="2395728"/>
            <a:ext cx="1828800" cy="1828800"/>
          </a:xfrm>
          <a:prstGeom prst="rect">
            <a:avLst/>
          </a:prstGeom>
        </p:spPr>
      </p:pic>
      <p:sp>
        <p:nvSpPr>
          <p:cNvPr id="49" name="Text 46"/>
          <p:cNvSpPr/>
          <p:nvPr/>
        </p:nvSpPr>
        <p:spPr>
          <a:xfrm>
            <a:off x="9144000" y="4425696"/>
            <a:ext cx="2084832" cy="548640"/>
          </a:xfrm>
          <a:prstGeom prst="rect">
            <a:avLst/>
          </a:prstGeom>
          <a:noFill/>
          <a:ln/>
        </p:spPr>
        <p:txBody>
          <a:bodyPr wrap="square" lIns="0" tIns="0" rIns="0" bIns="0" rtlCol="0" anchor="ctr"/>
          <a:lstStyle/>
          <a:p>
            <a:pPr algn="ctr" indent="0" marL="0">
              <a:buNone/>
            </a:pPr>
            <a:r>
              <a:rPr lang="en-US" sz="1700" b="1" dirty="0">
                <a:solidFill>
                  <a:srgbClr val="FFFFFF"/>
                </a:solidFill>
              </a:rPr>
              <a:t>No API key needed</a:t>
            </a:r>
            <a:endParaRPr lang="en-US" sz="1700" dirty="0"/>
          </a:p>
          <a:p>
            <a:pPr algn="ctr" indent="0" marL="0">
              <a:buNone/>
            </a:pPr>
            <a:r>
              <a:rPr lang="en-US" sz="1700" b="1" dirty="0">
                <a:solidFill>
                  <a:srgbClr val="FFFFFF"/>
                </a:solidFill>
              </a:rPr>
              <a:t>in demo mode</a:t>
            </a:r>
            <a:endParaRPr lang="en-US" sz="1700" dirty="0"/>
          </a:p>
        </p:txBody>
      </p:sp>
      <p:sp>
        <p:nvSpPr>
          <p:cNvPr id="50" name="Text 47">
            <a:hlinkClick r:id="rId6" tooltip=""/>
          </p:cNvPr>
          <p:cNvSpPr/>
          <p:nvPr/>
        </p:nvSpPr>
        <p:spPr>
          <a:xfrm>
            <a:off x="9144000" y="5138928"/>
            <a:ext cx="2084832" cy="457200"/>
          </a:xfrm>
          <a:prstGeom prst="rect">
            <a:avLst/>
          </a:prstGeom>
          <a:noFill/>
          <a:ln/>
        </p:spPr>
        <p:txBody>
          <a:bodyPr wrap="square" lIns="0" tIns="0" rIns="0" bIns="0" rtlCol="0" anchor="ctr"/>
          <a:lstStyle/>
          <a:p>
            <a:pPr algn="ctr" indent="0" marL="0">
              <a:buNone/>
            </a:pPr>
            <a:r>
              <a:rPr lang="en-US" sz="1250" u="sng" dirty="0">
                <a:solidFill>
                  <a:srgbClr val="C7E3E7"/>
                </a:solidFill>
                <a:hlinkClick r:id="rId6" invalidUrl="" action="" tgtFrame="" tooltip="" history="1" highlightClick="0" endSnd="0">
                  <a:extLst>
                    <a:ext uri="{A12FA001-AC4F-418D-AE19-62706E023703}">
                      <ahyp:hlinkClr xmlns:ahyp="http://schemas.microsoft.com/office/drawing/2018/hyperlinkcolor" val="tx"/>
                    </a:ext>
                  </a:extLst>
                </a:hlinkClick>
              </a:rPr>
              <a:t>alfredang.github.io/</a:t>
            </a:r>
            <a:endParaRPr lang="en-US" sz="1250" dirty="0"/>
          </a:p>
          <a:p>
            <a:pPr algn="ctr" indent="0" marL="0">
              <a:buNone/>
            </a:pPr>
            <a:r>
              <a:rPr lang="en-US" sz="1250" u="sng" dirty="0">
                <a:solidFill>
                  <a:srgbClr val="C7E3E7"/>
                </a:solidFill>
                <a:hlinkClick r:id="rId6" invalidUrl="" action="" tgtFrame="" tooltip="" history="1" highlightClick="0" endSnd="0">
                  <a:extLst>
                    <a:ext uri="{A12FA001-AC4F-418D-AE19-62706E023703}">
                      <ahyp:hlinkClr xmlns:ahyp="http://schemas.microsoft.com/office/drawing/2018/hyperlinkcolor" val="tx"/>
                    </a:ext>
                  </a:extLst>
                </a:hlinkClick>
              </a:rPr>
              <a:t>AICoahcing</a:t>
            </a:r>
            <a:endParaRPr lang="en-US" sz="1250" dirty="0"/>
          </a:p>
        </p:txBody>
      </p:sp>
      <p:sp>
        <p:nvSpPr>
          <p:cNvPr id="51" name="Text 48">
            <a:hlinkClick r:id="rId7" tooltip=""/>
          </p:cNvPr>
          <p:cNvSpPr/>
          <p:nvPr/>
        </p:nvSpPr>
        <p:spPr>
          <a:xfrm>
            <a:off x="658368" y="6428232"/>
            <a:ext cx="9921240" cy="219456"/>
          </a:xfrm>
          <a:prstGeom prst="rect">
            <a:avLst/>
          </a:prstGeom>
          <a:noFill/>
          <a:ln/>
        </p:spPr>
        <p:txBody>
          <a:bodyPr wrap="square" lIns="0" tIns="0" rIns="0" bIns="0" rtlCol="0" anchor="ctr">
            <a:normAutofit/>
          </a:bodyPr>
          <a:lstStyle/>
          <a:p>
            <a:pPr indent="0" marL="0">
              <a:buNone/>
            </a:pPr>
            <a:r>
              <a:rPr lang="en-US" sz="1000" u="sng" dirty="0">
                <a:solidFill>
                  <a:srgbClr val="728197"/>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Live training simulator - six fictional scenarios; demo mode makes no external API calls</a:t>
            </a:r>
            <a:endParaRPr lang="en-US" sz="1000" dirty="0"/>
          </a:p>
        </p:txBody>
      </p:sp>
      <p:sp>
        <p:nvSpPr>
          <p:cNvPr id="52" name="Text 49"/>
          <p:cNvSpPr/>
          <p:nvPr/>
        </p:nvSpPr>
        <p:spPr>
          <a:xfrm>
            <a:off x="9464040" y="6446520"/>
            <a:ext cx="2176272" cy="201168"/>
          </a:xfrm>
          <a:prstGeom prst="rect">
            <a:avLst/>
          </a:prstGeom>
          <a:noFill/>
          <a:ln/>
        </p:spPr>
        <p:txBody>
          <a:bodyPr wrap="square" lIns="0" tIns="0" rIns="0" bIns="0" rtlCol="0" anchor="ctr"/>
          <a:lstStyle/>
          <a:p>
            <a:pPr algn="r" indent="0" marL="0">
              <a:buNone/>
            </a:pPr>
            <a:r>
              <a:rPr lang="en-US" sz="850" b="1" spc="60" kern="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sp>
      <p:sp>
        <p:nvSpPr>
          <p:cNvPr id="3" name="Text 1"/>
          <p:cNvSpPr/>
          <p:nvPr/>
        </p:nvSpPr>
        <p:spPr>
          <a:xfrm>
            <a:off x="658368" y="228600"/>
            <a:ext cx="3474720" cy="219456"/>
          </a:xfrm>
          <a:prstGeom prst="rect">
            <a:avLst/>
          </a:prstGeom>
          <a:noFill/>
          <a:ln/>
        </p:spPr>
        <p:txBody>
          <a:bodyPr wrap="square" lIns="0" tIns="0" rIns="0" bIns="0" rtlCol="0" anchor="ctr"/>
          <a:lstStyle/>
          <a:p>
            <a:pPr indent="0" marL="0">
              <a:buNone/>
            </a:pPr>
            <a:r>
              <a:rPr lang="en-US" sz="900" b="1" spc="170" kern="0" dirty="0">
                <a:solidFill>
                  <a:srgbClr val="0B6E75"/>
                </a:solidFill>
                <a:latin typeface="Arial" pitchFamily="34" charset="0"/>
                <a:ea typeface="Arial" pitchFamily="34" charset="-122"/>
                <a:cs typeface="Arial" pitchFamily="34" charset="-120"/>
              </a:rPr>
              <a:t>ONE WORKED EXAMPLE</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algn="r" indent="0" marL="0">
              <a:buNone/>
            </a:pPr>
            <a:r>
              <a:rPr lang="en-US" sz="1000" b="1" dirty="0">
                <a:solidFill>
                  <a:srgbClr val="728197"/>
                </a:solidFill>
                <a:latin typeface="Arial" pitchFamily="34" charset="0"/>
                <a:ea typeface="Arial" pitchFamily="34" charset="-122"/>
                <a:cs typeface="Arial" pitchFamily="34" charset="-120"/>
              </a:rPr>
              <a:t>09</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indent="0" marL="0">
              <a:buNone/>
            </a:pPr>
            <a:r>
              <a:rPr lang="en-US" sz="2900" b="1" dirty="0">
                <a:solidFill>
                  <a:srgbClr val="12233F"/>
                </a:solidFill>
                <a:latin typeface="Arial" pitchFamily="34" charset="0"/>
                <a:ea typeface="Arial" pitchFamily="34" charset="-122"/>
                <a:cs typeface="Arial" pitchFamily="34" charset="-120"/>
              </a:rPr>
              <a:t>Sarah did not need reassurance. She needed a new role.</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indent="0" marL="0">
              <a:buNone/>
            </a:pPr>
            <a:r>
              <a:rPr lang="en-US" sz="1500" dirty="0">
                <a:solidFill>
                  <a:srgbClr val="4F6176"/>
                </a:solidFill>
                <a:latin typeface="Arial" pitchFamily="34" charset="0"/>
                <a:ea typeface="Arial" pitchFamily="34" charset="-122"/>
                <a:cs typeface="Arial" pitchFamily="34" charset="-120"/>
              </a:rPr>
              <a:t>The coaching conversation moved from fear of redundancy to supported human ownership.</a:t>
            </a:r>
            <a:endParaRPr lang="en-US" sz="1500" dirty="0"/>
          </a:p>
        </p:txBody>
      </p:sp>
      <p:sp>
        <p:nvSpPr>
          <p:cNvPr id="7" name="Shape 5"/>
          <p:cNvSpPr/>
          <p:nvPr/>
        </p:nvSpPr>
        <p:spPr>
          <a:xfrm>
            <a:off x="640080" y="1737360"/>
            <a:ext cx="3794760" cy="4352544"/>
          </a:xfrm>
          <a:prstGeom prst="roundRect">
            <a:avLst>
              <a:gd name="adj" fmla="val 2410"/>
            </a:avLst>
          </a:prstGeom>
          <a:solidFill>
            <a:srgbClr val="FFF0EE"/>
          </a:solidFill>
          <a:ln w="12700">
            <a:solidFill>
              <a:srgbClr val="F4B8B3"/>
            </a:solidFill>
            <a:prstDash val="solid"/>
          </a:ln>
          <a:effectLst>
            <a:outerShdw sx="100000" sy="100000" kx="0" ky="0" algn="bl" rotWithShape="0" blurRad="25400" dist="50800" dir="2700000">
              <a:srgbClr val="0B1F33">
                <a:alpha val="12000"/>
              </a:srgbClr>
            </a:outerShdw>
          </a:effectLst>
        </p:spPr>
      </p:sp>
      <p:sp>
        <p:nvSpPr>
          <p:cNvPr id="8" name="Shape 6"/>
          <p:cNvSpPr/>
          <p:nvPr/>
        </p:nvSpPr>
        <p:spPr>
          <a:xfrm>
            <a:off x="932688" y="2039112"/>
            <a:ext cx="896112" cy="310896"/>
          </a:xfrm>
          <a:prstGeom prst="roundRect">
            <a:avLst>
              <a:gd name="adj" fmla="val 47059"/>
            </a:avLst>
          </a:prstGeom>
          <a:solidFill>
            <a:srgbClr val="F5665C"/>
          </a:solidFill>
          <a:ln w="12700">
            <a:solidFill>
              <a:srgbClr val="F5665C"/>
            </a:solidFill>
            <a:prstDash val="solid"/>
          </a:ln>
        </p:spPr>
      </p:sp>
      <p:sp>
        <p:nvSpPr>
          <p:cNvPr id="9" name="Text 7"/>
          <p:cNvSpPr/>
          <p:nvPr/>
        </p:nvSpPr>
        <p:spPr>
          <a:xfrm>
            <a:off x="932688" y="2057400"/>
            <a:ext cx="896112" cy="20116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REALITY</a:t>
            </a:r>
            <a:endParaRPr lang="en-US" sz="1000" dirty="0"/>
          </a:p>
        </p:txBody>
      </p:sp>
      <p:sp>
        <p:nvSpPr>
          <p:cNvPr id="10" name="Text 8"/>
          <p:cNvSpPr/>
          <p:nvPr/>
        </p:nvSpPr>
        <p:spPr>
          <a:xfrm>
            <a:off x="914400" y="2633472"/>
            <a:ext cx="3246120" cy="1325880"/>
          </a:xfrm>
          <a:prstGeom prst="rect">
            <a:avLst/>
          </a:prstGeom>
          <a:noFill/>
          <a:ln/>
        </p:spPr>
        <p:txBody>
          <a:bodyPr wrap="square" lIns="0" tIns="0" rIns="0" bIns="0" rtlCol="0" anchor="ctr">
            <a:normAutofit/>
          </a:bodyPr>
          <a:lstStyle/>
          <a:p>
            <a:pPr indent="0" marL="0">
              <a:buNone/>
            </a:pPr>
            <a:r>
              <a:rPr lang="en-US" sz="2300" b="1" i="1" dirty="0">
                <a:solidFill>
                  <a:srgbClr val="12233F"/>
                </a:solidFill>
              </a:rPr>
              <a:t>"The agent writes the campaign copy and builds the decks. That is basically my whole job."</a:t>
            </a:r>
            <a:endParaRPr lang="en-US" sz="2300" dirty="0"/>
          </a:p>
        </p:txBody>
      </p:sp>
      <p:sp>
        <p:nvSpPr>
          <p:cNvPr id="11" name="Text 9"/>
          <p:cNvSpPr/>
          <p:nvPr/>
        </p:nvSpPr>
        <p:spPr>
          <a:xfrm>
            <a:off x="960120" y="4315968"/>
            <a:ext cx="3063240" cy="1051560"/>
          </a:xfrm>
          <a:prstGeom prst="rect">
            <a:avLst/>
          </a:prstGeom>
          <a:noFill/>
          <a:ln/>
        </p:spPr>
        <p:txBody>
          <a:bodyPr wrap="square" lIns="0" tIns="0" rIns="0" bIns="0" rtlCol="0" anchor="ctr">
            <a:normAutofit/>
          </a:bodyPr>
          <a:lstStyle/>
          <a:p>
            <a:pPr indent="0" marL="0">
              <a:buNone/>
            </a:pPr>
            <a:r>
              <a:rPr lang="en-US" sz="1600" dirty="0">
                <a:solidFill>
                  <a:srgbClr val="4F6176"/>
                </a:solidFill>
              </a:rPr>
              <a:t>Fear of redundancy</a:t>
            </a:r>
            <a:endParaRPr lang="en-US" sz="1600" dirty="0"/>
          </a:p>
          <a:p>
            <a:pPr indent="0" marL="0">
              <a:buNone/>
            </a:pPr>
            <a:r>
              <a:rPr lang="en-US" sz="1600" dirty="0">
                <a:solidFill>
                  <a:srgbClr val="4F6176"/>
                </a:solidFill>
              </a:rPr>
              <a:t>Loss of identity</a:t>
            </a:r>
            <a:endParaRPr lang="en-US" sz="1600" dirty="0"/>
          </a:p>
          <a:p>
            <a:pPr indent="0" marL="0">
              <a:buNone/>
            </a:pPr>
            <a:r>
              <a:rPr lang="en-US" sz="1600" dirty="0">
                <a:solidFill>
                  <a:srgbClr val="4F6176"/>
                </a:solidFill>
              </a:rPr>
              <a:t>No consultation</a:t>
            </a:r>
            <a:endParaRPr lang="en-US" sz="1600" dirty="0"/>
          </a:p>
          <a:p>
            <a:pPr indent="0" marL="0">
              <a:buNone/>
            </a:pPr>
            <a:r>
              <a:rPr lang="en-US" sz="1600" dirty="0">
                <a:solidFill>
                  <a:srgbClr val="4F6176"/>
                </a:solidFill>
              </a:rPr>
              <a:t>Anxiety about blame</a:t>
            </a:r>
            <a:endParaRPr lang="en-US" sz="1600" dirty="0"/>
          </a:p>
        </p:txBody>
      </p:sp>
      <p:sp>
        <p:nvSpPr>
          <p:cNvPr id="12" name="Shape 10"/>
          <p:cNvSpPr/>
          <p:nvPr/>
        </p:nvSpPr>
        <p:spPr>
          <a:xfrm>
            <a:off x="4663440" y="3127248"/>
            <a:ext cx="685800" cy="1097280"/>
          </a:xfrm>
          <a:prstGeom prst="chevron">
            <a:avLst/>
          </a:prstGeom>
          <a:solidFill>
            <a:srgbClr val="F4B942"/>
          </a:solidFill>
          <a:ln w="12700">
            <a:solidFill>
              <a:srgbClr val="F4B942">
                <a:alpha val="0"/>
              </a:srgbClr>
            </a:solidFill>
            <a:prstDash val="solid"/>
          </a:ln>
        </p:spPr>
      </p:sp>
      <p:sp>
        <p:nvSpPr>
          <p:cNvPr id="13" name="Shape 11"/>
          <p:cNvSpPr/>
          <p:nvPr/>
        </p:nvSpPr>
        <p:spPr>
          <a:xfrm>
            <a:off x="5532120" y="1737360"/>
            <a:ext cx="5943600" cy="4352544"/>
          </a:xfrm>
          <a:prstGeom prst="roundRect">
            <a:avLst>
              <a:gd name="adj" fmla="val 2101"/>
            </a:avLst>
          </a:prstGeom>
          <a:solidFill>
            <a:srgbClr val="E9F8F4"/>
          </a:solidFill>
          <a:ln w="12700">
            <a:solidFill>
              <a:srgbClr val="A9DDD3"/>
            </a:solidFill>
            <a:prstDash val="solid"/>
          </a:ln>
          <a:effectLst>
            <a:outerShdw sx="100000" sy="100000" kx="0" ky="0" algn="bl" rotWithShape="0" blurRad="25400" dist="50800" dir="2700000">
              <a:srgbClr val="0B1F33">
                <a:alpha val="12000"/>
              </a:srgbClr>
            </a:outerShdw>
          </a:effectLst>
        </p:spPr>
      </p:sp>
      <p:sp>
        <p:nvSpPr>
          <p:cNvPr id="14" name="Shape 12"/>
          <p:cNvSpPr/>
          <p:nvPr/>
        </p:nvSpPr>
        <p:spPr>
          <a:xfrm>
            <a:off x="5833872" y="2039112"/>
            <a:ext cx="1536192" cy="310896"/>
          </a:xfrm>
          <a:prstGeom prst="roundRect">
            <a:avLst>
              <a:gd name="adj" fmla="val 47059"/>
            </a:avLst>
          </a:prstGeom>
          <a:solidFill>
            <a:srgbClr val="0C8A78"/>
          </a:solidFill>
          <a:ln w="12700">
            <a:solidFill>
              <a:srgbClr val="0C8A78"/>
            </a:solidFill>
            <a:prstDash val="solid"/>
          </a:ln>
        </p:spPr>
      </p:sp>
      <p:sp>
        <p:nvSpPr>
          <p:cNvPr id="15" name="Text 13"/>
          <p:cNvSpPr/>
          <p:nvPr/>
        </p:nvSpPr>
        <p:spPr>
          <a:xfrm>
            <a:off x="5833872" y="2057400"/>
            <a:ext cx="1536192" cy="20116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REDESIGNED ROLE</a:t>
            </a:r>
            <a:endParaRPr lang="en-US" sz="1000" dirty="0"/>
          </a:p>
        </p:txBody>
      </p:sp>
      <p:sp>
        <p:nvSpPr>
          <p:cNvPr id="16" name="Text 14"/>
          <p:cNvSpPr/>
          <p:nvPr/>
        </p:nvSpPr>
        <p:spPr>
          <a:xfrm>
            <a:off x="5833872" y="2578608"/>
            <a:ext cx="5303520" cy="502920"/>
          </a:xfrm>
          <a:prstGeom prst="rect">
            <a:avLst/>
          </a:prstGeom>
          <a:noFill/>
          <a:ln/>
        </p:spPr>
        <p:txBody>
          <a:bodyPr wrap="square" lIns="0" tIns="0" rIns="0" bIns="0" rtlCol="0" anchor="ctr">
            <a:normAutofit/>
          </a:bodyPr>
          <a:lstStyle/>
          <a:p>
            <a:pPr algn="ctr" indent="0" marL="0">
              <a:buNone/>
            </a:pPr>
            <a:r>
              <a:rPr lang="en-US" sz="2800" b="1" dirty="0">
                <a:solidFill>
                  <a:srgbClr val="092F57"/>
                </a:solidFill>
              </a:rPr>
              <a:t>AI-Augmented Marketing Lead</a:t>
            </a:r>
            <a:endParaRPr lang="en-US" sz="2800" dirty="0"/>
          </a:p>
        </p:txBody>
      </p:sp>
      <p:sp>
        <p:nvSpPr>
          <p:cNvPr id="17" name="Text 15"/>
          <p:cNvSpPr/>
          <p:nvPr/>
        </p:nvSpPr>
        <p:spPr>
          <a:xfrm>
            <a:off x="5925312" y="3337560"/>
            <a:ext cx="1143000" cy="201168"/>
          </a:xfrm>
          <a:prstGeom prst="rect">
            <a:avLst/>
          </a:prstGeom>
          <a:noFill/>
          <a:ln/>
        </p:spPr>
        <p:txBody>
          <a:bodyPr wrap="square" lIns="0" tIns="0" rIns="0" bIns="0" rtlCol="0" anchor="ctr"/>
          <a:lstStyle/>
          <a:p>
            <a:pPr indent="0" marL="0">
              <a:buNone/>
            </a:pPr>
            <a:r>
              <a:rPr lang="en-US" sz="1050" b="1" spc="70" kern="0" dirty="0">
                <a:solidFill>
                  <a:srgbClr val="0B6E75"/>
                </a:solidFill>
              </a:rPr>
              <a:t>DIRECTION</a:t>
            </a:r>
            <a:endParaRPr lang="en-US" sz="1050" dirty="0"/>
          </a:p>
        </p:txBody>
      </p:sp>
      <p:sp>
        <p:nvSpPr>
          <p:cNvPr id="18" name="Text 16"/>
          <p:cNvSpPr/>
          <p:nvPr/>
        </p:nvSpPr>
        <p:spPr>
          <a:xfrm>
            <a:off x="7095744" y="3328416"/>
            <a:ext cx="3794760" cy="228600"/>
          </a:xfrm>
          <a:prstGeom prst="rect">
            <a:avLst/>
          </a:prstGeom>
          <a:noFill/>
          <a:ln/>
        </p:spPr>
        <p:txBody>
          <a:bodyPr wrap="square" lIns="0" tIns="0" rIns="0" bIns="0" rtlCol="0" anchor="ctr">
            <a:normAutofit/>
          </a:bodyPr>
          <a:lstStyle/>
          <a:p>
            <a:pPr indent="0" marL="0">
              <a:buNone/>
            </a:pPr>
            <a:r>
              <a:rPr lang="en-US" sz="1520" dirty="0">
                <a:solidFill>
                  <a:srgbClr val="12233F"/>
                </a:solidFill>
              </a:rPr>
              <a:t>Goals, creative angle and brand voice</a:t>
            </a:r>
            <a:endParaRPr lang="en-US" sz="1520" dirty="0"/>
          </a:p>
        </p:txBody>
      </p:sp>
      <p:sp>
        <p:nvSpPr>
          <p:cNvPr id="19" name="Text 17"/>
          <p:cNvSpPr/>
          <p:nvPr/>
        </p:nvSpPr>
        <p:spPr>
          <a:xfrm>
            <a:off x="5925312" y="3767328"/>
            <a:ext cx="1143000" cy="201168"/>
          </a:xfrm>
          <a:prstGeom prst="rect">
            <a:avLst/>
          </a:prstGeom>
          <a:noFill/>
          <a:ln/>
        </p:spPr>
        <p:txBody>
          <a:bodyPr wrap="square" lIns="0" tIns="0" rIns="0" bIns="0" rtlCol="0" anchor="ctr"/>
          <a:lstStyle/>
          <a:p>
            <a:pPr indent="0" marL="0">
              <a:buNone/>
            </a:pPr>
            <a:r>
              <a:rPr lang="en-US" sz="1050" b="1" spc="70" kern="0" dirty="0">
                <a:solidFill>
                  <a:srgbClr val="0B6E75"/>
                </a:solidFill>
              </a:rPr>
              <a:t>CHALLENGE</a:t>
            </a:r>
            <a:endParaRPr lang="en-US" sz="1050" dirty="0"/>
          </a:p>
        </p:txBody>
      </p:sp>
      <p:sp>
        <p:nvSpPr>
          <p:cNvPr id="20" name="Text 18"/>
          <p:cNvSpPr/>
          <p:nvPr/>
        </p:nvSpPr>
        <p:spPr>
          <a:xfrm>
            <a:off x="7095744" y="3758184"/>
            <a:ext cx="3794760" cy="228600"/>
          </a:xfrm>
          <a:prstGeom prst="rect">
            <a:avLst/>
          </a:prstGeom>
          <a:noFill/>
          <a:ln/>
        </p:spPr>
        <p:txBody>
          <a:bodyPr wrap="square" lIns="0" tIns="0" rIns="0" bIns="0" rtlCol="0" anchor="ctr">
            <a:normAutofit/>
          </a:bodyPr>
          <a:lstStyle/>
          <a:p>
            <a:pPr indent="0" marL="0">
              <a:buNone/>
            </a:pPr>
            <a:r>
              <a:rPr lang="en-US" sz="1520" dirty="0">
                <a:solidFill>
                  <a:srgbClr val="12233F"/>
                </a:solidFill>
              </a:rPr>
              <a:t>Audit assumptions, facts and market fit</a:t>
            </a:r>
            <a:endParaRPr lang="en-US" sz="1520" dirty="0"/>
          </a:p>
        </p:txBody>
      </p:sp>
      <p:sp>
        <p:nvSpPr>
          <p:cNvPr id="21" name="Text 19"/>
          <p:cNvSpPr/>
          <p:nvPr/>
        </p:nvSpPr>
        <p:spPr>
          <a:xfrm>
            <a:off x="5925312" y="4197096"/>
            <a:ext cx="1143000" cy="201168"/>
          </a:xfrm>
          <a:prstGeom prst="rect">
            <a:avLst/>
          </a:prstGeom>
          <a:noFill/>
          <a:ln/>
        </p:spPr>
        <p:txBody>
          <a:bodyPr wrap="square" lIns="0" tIns="0" rIns="0" bIns="0" rtlCol="0" anchor="ctr"/>
          <a:lstStyle/>
          <a:p>
            <a:pPr indent="0" marL="0">
              <a:buNone/>
            </a:pPr>
            <a:r>
              <a:rPr lang="en-US" sz="1050" b="1" spc="70" kern="0" dirty="0">
                <a:solidFill>
                  <a:srgbClr val="0B6E75"/>
                </a:solidFill>
              </a:rPr>
              <a:t>APPROVAL</a:t>
            </a:r>
            <a:endParaRPr lang="en-US" sz="1050" dirty="0"/>
          </a:p>
        </p:txBody>
      </p:sp>
      <p:sp>
        <p:nvSpPr>
          <p:cNvPr id="22" name="Text 20"/>
          <p:cNvSpPr/>
          <p:nvPr/>
        </p:nvSpPr>
        <p:spPr>
          <a:xfrm>
            <a:off x="7095744" y="4187952"/>
            <a:ext cx="3794760" cy="228600"/>
          </a:xfrm>
          <a:prstGeom prst="rect">
            <a:avLst/>
          </a:prstGeom>
          <a:noFill/>
          <a:ln/>
        </p:spPr>
        <p:txBody>
          <a:bodyPr wrap="square" lIns="0" tIns="0" rIns="0" bIns="0" rtlCol="0" anchor="ctr">
            <a:normAutofit/>
          </a:bodyPr>
          <a:lstStyle/>
          <a:p>
            <a:pPr indent="0" marL="0">
              <a:buNone/>
            </a:pPr>
            <a:r>
              <a:rPr lang="en-US" sz="1520" dirty="0">
                <a:solidFill>
                  <a:srgbClr val="12233F"/>
                </a:solidFill>
              </a:rPr>
              <a:t>Final gate for external content</a:t>
            </a:r>
            <a:endParaRPr lang="en-US" sz="1520" dirty="0"/>
          </a:p>
        </p:txBody>
      </p:sp>
      <p:sp>
        <p:nvSpPr>
          <p:cNvPr id="23" name="Text 21"/>
          <p:cNvSpPr/>
          <p:nvPr/>
        </p:nvSpPr>
        <p:spPr>
          <a:xfrm>
            <a:off x="5925312" y="4626864"/>
            <a:ext cx="1143000" cy="201168"/>
          </a:xfrm>
          <a:prstGeom prst="rect">
            <a:avLst/>
          </a:prstGeom>
          <a:noFill/>
          <a:ln/>
        </p:spPr>
        <p:txBody>
          <a:bodyPr wrap="square" lIns="0" tIns="0" rIns="0" bIns="0" rtlCol="0" anchor="ctr"/>
          <a:lstStyle/>
          <a:p>
            <a:pPr indent="0" marL="0">
              <a:buNone/>
            </a:pPr>
            <a:r>
              <a:rPr lang="en-US" sz="1050" b="1" spc="70" kern="0" dirty="0">
                <a:solidFill>
                  <a:srgbClr val="0B6E75"/>
                </a:solidFill>
              </a:rPr>
              <a:t>INSIGHT</a:t>
            </a:r>
            <a:endParaRPr lang="en-US" sz="1050" dirty="0"/>
          </a:p>
        </p:txBody>
      </p:sp>
      <p:sp>
        <p:nvSpPr>
          <p:cNvPr id="24" name="Text 22"/>
          <p:cNvSpPr/>
          <p:nvPr/>
        </p:nvSpPr>
        <p:spPr>
          <a:xfrm>
            <a:off x="7095744" y="4617720"/>
            <a:ext cx="3794760" cy="228600"/>
          </a:xfrm>
          <a:prstGeom prst="rect">
            <a:avLst/>
          </a:prstGeom>
          <a:noFill/>
          <a:ln/>
        </p:spPr>
        <p:txBody>
          <a:bodyPr wrap="square" lIns="0" tIns="0" rIns="0" bIns="0" rtlCol="0" anchor="ctr">
            <a:normAutofit/>
          </a:bodyPr>
          <a:lstStyle/>
          <a:p>
            <a:pPr indent="0" marL="0">
              <a:buNone/>
            </a:pPr>
            <a:r>
              <a:rPr lang="en-US" sz="1520" dirty="0">
                <a:solidFill>
                  <a:srgbClr val="12233F"/>
                </a:solidFill>
              </a:rPr>
              <a:t>Feed live client and market context back</a:t>
            </a:r>
            <a:endParaRPr lang="en-US" sz="1520" dirty="0"/>
          </a:p>
        </p:txBody>
      </p:sp>
      <p:sp>
        <p:nvSpPr>
          <p:cNvPr id="25" name="Text 23"/>
          <p:cNvSpPr/>
          <p:nvPr/>
        </p:nvSpPr>
        <p:spPr>
          <a:xfrm>
            <a:off x="5925312" y="5056632"/>
            <a:ext cx="1143000" cy="201168"/>
          </a:xfrm>
          <a:prstGeom prst="rect">
            <a:avLst/>
          </a:prstGeom>
          <a:noFill/>
          <a:ln/>
        </p:spPr>
        <p:txBody>
          <a:bodyPr wrap="square" lIns="0" tIns="0" rIns="0" bIns="0" rtlCol="0" anchor="ctr"/>
          <a:lstStyle/>
          <a:p>
            <a:pPr indent="0" marL="0">
              <a:buNone/>
            </a:pPr>
            <a:r>
              <a:rPr lang="en-US" sz="1050" b="1" spc="70" kern="0" dirty="0">
                <a:solidFill>
                  <a:srgbClr val="0B6E75"/>
                </a:solidFill>
              </a:rPr>
              <a:t>LEARNING</a:t>
            </a:r>
            <a:endParaRPr lang="en-US" sz="1050" dirty="0"/>
          </a:p>
        </p:txBody>
      </p:sp>
      <p:sp>
        <p:nvSpPr>
          <p:cNvPr id="26" name="Text 24"/>
          <p:cNvSpPr/>
          <p:nvPr/>
        </p:nvSpPr>
        <p:spPr>
          <a:xfrm>
            <a:off x="7095744" y="5047488"/>
            <a:ext cx="3794760" cy="228600"/>
          </a:xfrm>
          <a:prstGeom prst="rect">
            <a:avLst/>
          </a:prstGeom>
          <a:noFill/>
          <a:ln/>
        </p:spPr>
        <p:txBody>
          <a:bodyPr wrap="square" lIns="0" tIns="0" rIns="0" bIns="0" rtlCol="0" anchor="ctr">
            <a:normAutofit/>
          </a:bodyPr>
          <a:lstStyle/>
          <a:p>
            <a:pPr indent="0" marL="0">
              <a:buNone/>
            </a:pPr>
            <a:r>
              <a:rPr lang="en-US" sz="1520" dirty="0">
                <a:solidFill>
                  <a:srgbClr val="12233F"/>
                </a:solidFill>
              </a:rPr>
              <a:t>Refine the human-agent workflow</a:t>
            </a:r>
            <a:endParaRPr lang="en-US" sz="1520" dirty="0"/>
          </a:p>
        </p:txBody>
      </p:sp>
      <p:sp>
        <p:nvSpPr>
          <p:cNvPr id="27" name="Text 25"/>
          <p:cNvSpPr/>
          <p:nvPr/>
        </p:nvSpPr>
        <p:spPr>
          <a:xfrm>
            <a:off x="5989320" y="5541264"/>
            <a:ext cx="5074920" cy="292608"/>
          </a:xfrm>
          <a:prstGeom prst="rect">
            <a:avLst/>
          </a:prstGeom>
          <a:noFill/>
          <a:ln/>
        </p:spPr>
        <p:txBody>
          <a:bodyPr wrap="square" lIns="0" tIns="0" rIns="0" bIns="0" rtlCol="0" anchor="ctr"/>
          <a:lstStyle/>
          <a:p>
            <a:pPr algn="ctr" indent="0" marL="0">
              <a:buNone/>
            </a:pPr>
            <a:r>
              <a:rPr lang="en-US" sz="1800" b="1" dirty="0">
                <a:solidFill>
                  <a:srgbClr val="0B6E75"/>
                </a:solidFill>
              </a:rPr>
              <a:t>AI lights the way. The human decides the path.</a:t>
            </a:r>
            <a:endParaRPr lang="en-US" sz="1800" dirty="0"/>
          </a:p>
        </p:txBody>
      </p:sp>
      <p:sp>
        <p:nvSpPr>
          <p:cNvPr id="28" name="Text 26">
            <a:hlinkClick r:id="rId1" tooltip=""/>
          </p:cNvPr>
          <p:cNvSpPr/>
          <p:nvPr/>
        </p:nvSpPr>
        <p:spPr>
          <a:xfrm>
            <a:off x="658368" y="6428232"/>
            <a:ext cx="9921240" cy="219456"/>
          </a:xfrm>
          <a:prstGeom prst="rect">
            <a:avLst/>
          </a:prstGeom>
          <a:noFill/>
          <a:ln/>
        </p:spPr>
        <p:txBody>
          <a:bodyPr wrap="square" lIns="0" tIns="0" rIns="0" bIns="0" rtlCol="0" anchor="ctr">
            <a:normAutofit/>
          </a:bodyPr>
          <a:lstStyle/>
          <a:p>
            <a:pPr indent="0" marL="0">
              <a:buNone/>
            </a:pPr>
            <a:r>
              <a:rPr lang="en-US" sz="1000" u="sng" dirty="0">
                <a:solidFill>
                  <a:srgbClr val="72819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A6 coaching scenario supplied for this presentation; fictional staff and company data</a:t>
            </a:r>
            <a:endParaRPr lang="en-US" sz="1000" dirty="0"/>
          </a:p>
        </p:txBody>
      </p:sp>
      <p:sp>
        <p:nvSpPr>
          <p:cNvPr id="29" name="Text 27"/>
          <p:cNvSpPr/>
          <p:nvPr/>
        </p:nvSpPr>
        <p:spPr>
          <a:xfrm>
            <a:off x="9464040" y="6446520"/>
            <a:ext cx="2176272" cy="201168"/>
          </a:xfrm>
          <a:prstGeom prst="rect">
            <a:avLst/>
          </a:prstGeom>
          <a:noFill/>
          <a:ln/>
        </p:spPr>
        <p:txBody>
          <a:bodyPr wrap="square" lIns="0" tIns="0" rIns="0" bIns="0" rtlCol="0" anchor="ctr"/>
          <a:lstStyle/>
          <a:p>
            <a:pPr algn="r" indent="0" marL="0">
              <a:buNone/>
            </a:pPr>
            <a:r>
              <a:rPr lang="en-US" sz="850" b="1" spc="60" kern="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2F57"/>
        </a:solidFill>
      </p:bgPr>
    </p:bg>
    <p:spTree>
      <p:nvGrpSpPr>
        <p:cNvPr id="1" name=""/>
        <p:cNvGrpSpPr/>
        <p:nvPr/>
      </p:nvGrpSpPr>
      <p:grpSpPr>
        <a:xfrm>
          <a:off x="0" y="0"/>
          <a:ext cx="0" cy="0"/>
          <a:chOff x="0" y="0"/>
          <a:chExt cx="0" cy="0"/>
        </a:xfrm>
      </p:grpSpPr>
      <p:sp>
        <p:nvSpPr>
          <p:cNvPr id="2" name="Text 0"/>
          <p:cNvSpPr/>
          <p:nvPr/>
        </p:nvSpPr>
        <p:spPr>
          <a:xfrm>
            <a:off x="658368" y="228600"/>
            <a:ext cx="3474720" cy="219456"/>
          </a:xfrm>
          <a:prstGeom prst="rect">
            <a:avLst/>
          </a:prstGeom>
          <a:noFill/>
          <a:ln/>
        </p:spPr>
        <p:txBody>
          <a:bodyPr wrap="square" lIns="0" tIns="0" rIns="0" bIns="0" rtlCol="0" anchor="ctr"/>
          <a:lstStyle/>
          <a:p>
            <a:pPr indent="0" marL="0">
              <a:buNone/>
            </a:pPr>
            <a:r>
              <a:rPr lang="en-US" sz="900" b="1" spc="170" kern="0" dirty="0">
                <a:solidFill>
                  <a:srgbClr val="55D6BE"/>
                </a:solidFill>
                <a:latin typeface="Arial" pitchFamily="34" charset="0"/>
                <a:ea typeface="Arial" pitchFamily="34" charset="-122"/>
                <a:cs typeface="Arial" pitchFamily="34" charset="-120"/>
              </a:rPr>
              <a:t>THE CALL TO ACTION</a:t>
            </a:r>
            <a:endParaRPr lang="en-US" sz="900" dirty="0"/>
          </a:p>
        </p:txBody>
      </p:sp>
      <p:sp>
        <p:nvSpPr>
          <p:cNvPr id="3" name="Text 1"/>
          <p:cNvSpPr/>
          <p:nvPr/>
        </p:nvSpPr>
        <p:spPr>
          <a:xfrm>
            <a:off x="11109960" y="219456"/>
            <a:ext cx="530352" cy="219456"/>
          </a:xfrm>
          <a:prstGeom prst="rect">
            <a:avLst/>
          </a:prstGeom>
          <a:noFill/>
          <a:ln/>
        </p:spPr>
        <p:txBody>
          <a:bodyPr wrap="square" lIns="0" tIns="0" rIns="0" bIns="0" rtlCol="0" anchor="ctr"/>
          <a:lstStyle/>
          <a:p>
            <a:pPr algn="r" indent="0" marL="0">
              <a:buNone/>
            </a:pPr>
            <a:r>
              <a:rPr lang="en-US" sz="1000" b="1" dirty="0">
                <a:solidFill>
                  <a:srgbClr val="A7C9D2"/>
                </a:solidFill>
                <a:latin typeface="Arial" pitchFamily="34" charset="0"/>
                <a:ea typeface="Arial" pitchFamily="34" charset="-122"/>
                <a:cs typeface="Arial" pitchFamily="34" charset="-120"/>
              </a:rPr>
              <a:t>10</a:t>
            </a:r>
            <a:endParaRPr lang="en-US" sz="1000" dirty="0"/>
          </a:p>
        </p:txBody>
      </p:sp>
      <p:sp>
        <p:nvSpPr>
          <p:cNvPr id="4" name="Text 2"/>
          <p:cNvSpPr/>
          <p:nvPr/>
        </p:nvSpPr>
        <p:spPr>
          <a:xfrm>
            <a:off x="640080" y="822960"/>
            <a:ext cx="7726680" cy="1143000"/>
          </a:xfrm>
          <a:prstGeom prst="rect">
            <a:avLst/>
          </a:prstGeom>
          <a:noFill/>
          <a:ln/>
        </p:spPr>
        <p:txBody>
          <a:bodyPr wrap="square" lIns="0" tIns="0" rIns="0" bIns="0" rtlCol="0" anchor="ctr">
            <a:normAutofit/>
          </a:bodyPr>
          <a:lstStyle/>
          <a:p>
            <a:pPr indent="0" marL="0">
              <a:buNone/>
            </a:pPr>
            <a:r>
              <a:rPr lang="en-US" sz="3900" b="1" dirty="0">
                <a:solidFill>
                  <a:srgbClr val="FFFFFF"/>
                </a:solidFill>
              </a:rPr>
              <a:t>DO NOT DEPLOY AGENTS</a:t>
            </a:r>
            <a:endParaRPr lang="en-US" sz="3900" dirty="0"/>
          </a:p>
          <a:p>
            <a:pPr indent="0" marL="0">
              <a:buNone/>
            </a:pPr>
            <a:r>
              <a:rPr lang="en-US" sz="3900" b="1" dirty="0">
                <a:solidFill>
                  <a:srgbClr val="FFFFFF"/>
                </a:solidFill>
              </a:rPr>
              <a:t>INTO YESTERDAY'S JOBS.</a:t>
            </a:r>
            <a:endParaRPr lang="en-US" sz="3900" dirty="0"/>
          </a:p>
        </p:txBody>
      </p:sp>
      <p:sp>
        <p:nvSpPr>
          <p:cNvPr id="5" name="Text 3"/>
          <p:cNvSpPr/>
          <p:nvPr/>
        </p:nvSpPr>
        <p:spPr>
          <a:xfrm>
            <a:off x="658368" y="2148840"/>
            <a:ext cx="7315200" cy="438912"/>
          </a:xfrm>
          <a:prstGeom prst="rect">
            <a:avLst/>
          </a:prstGeom>
          <a:noFill/>
          <a:ln/>
        </p:spPr>
        <p:txBody>
          <a:bodyPr wrap="square" lIns="0" tIns="0" rIns="0" bIns="0" rtlCol="0" anchor="ctr"/>
          <a:lstStyle/>
          <a:p>
            <a:pPr indent="0" marL="0">
              <a:buNone/>
            </a:pPr>
            <a:r>
              <a:rPr lang="en-US" sz="2200" dirty="0">
                <a:solidFill>
                  <a:srgbClr val="C7E3E7"/>
                </a:solidFill>
              </a:rPr>
              <a:t>Redesign the work. Name the human owner. Coach the transition.</a:t>
            </a:r>
            <a:endParaRPr lang="en-US" sz="2200" dirty="0"/>
          </a:p>
        </p:txBody>
      </p:sp>
      <p:sp>
        <p:nvSpPr>
          <p:cNvPr id="6" name="Shape 4"/>
          <p:cNvSpPr/>
          <p:nvPr/>
        </p:nvSpPr>
        <p:spPr>
          <a:xfrm>
            <a:off x="658368" y="3035808"/>
            <a:ext cx="2331720" cy="1965960"/>
          </a:xfrm>
          <a:prstGeom prst="roundRect">
            <a:avLst>
              <a:gd name="adj" fmla="val 3721"/>
            </a:avLst>
          </a:prstGeom>
          <a:solidFill>
            <a:srgbClr val="0D3E59"/>
          </a:solidFill>
          <a:ln w="15240">
            <a:solidFill>
              <a:srgbClr val="0C8A78"/>
            </a:solidFill>
            <a:prstDash val="solid"/>
          </a:ln>
        </p:spPr>
      </p:sp>
      <p:sp>
        <p:nvSpPr>
          <p:cNvPr id="7" name="Shape 5"/>
          <p:cNvSpPr/>
          <p:nvPr/>
        </p:nvSpPr>
        <p:spPr>
          <a:xfrm>
            <a:off x="822960" y="3227832"/>
            <a:ext cx="475488" cy="475488"/>
          </a:xfrm>
          <a:prstGeom prst="ellipse">
            <a:avLst/>
          </a:prstGeom>
          <a:solidFill>
            <a:srgbClr val="0C8A78"/>
          </a:solidFill>
          <a:ln w="12700">
            <a:solidFill>
              <a:srgbClr val="0C8A78"/>
            </a:solidFill>
            <a:prstDash val="solid"/>
          </a:ln>
        </p:spPr>
      </p:sp>
      <p:sp>
        <p:nvSpPr>
          <p:cNvPr id="8" name="Text 6"/>
          <p:cNvSpPr/>
          <p:nvPr/>
        </p:nvSpPr>
        <p:spPr>
          <a:xfrm>
            <a:off x="822960" y="3346704"/>
            <a:ext cx="475488" cy="190195"/>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841248" y="3858768"/>
            <a:ext cx="1956816" cy="274320"/>
          </a:xfrm>
          <a:prstGeom prst="rect">
            <a:avLst/>
          </a:prstGeom>
          <a:noFill/>
          <a:ln/>
        </p:spPr>
        <p:txBody>
          <a:bodyPr wrap="square" lIns="0" tIns="0" rIns="0" bIns="0" rtlCol="0" anchor="ctr"/>
          <a:lstStyle/>
          <a:p>
            <a:pPr algn="ctr" indent="0" marL="0">
              <a:buNone/>
            </a:pPr>
            <a:r>
              <a:rPr lang="en-US" sz="1300" b="1" spc="80" kern="0" dirty="0">
                <a:solidFill>
                  <a:srgbClr val="55D6BE"/>
                </a:solidFill>
              </a:rPr>
              <a:t>MAP THE WORK</a:t>
            </a:r>
            <a:endParaRPr lang="en-US" sz="1300" dirty="0"/>
          </a:p>
        </p:txBody>
      </p:sp>
      <p:sp>
        <p:nvSpPr>
          <p:cNvPr id="10" name="Text 8"/>
          <p:cNvSpPr/>
          <p:nvPr/>
        </p:nvSpPr>
        <p:spPr>
          <a:xfrm>
            <a:off x="886968" y="4279392"/>
            <a:ext cx="1874520" cy="502920"/>
          </a:xfrm>
          <a:prstGeom prst="rect">
            <a:avLst/>
          </a:prstGeom>
          <a:noFill/>
          <a:ln/>
        </p:spPr>
        <p:txBody>
          <a:bodyPr wrap="square" lIns="0" tIns="0" rIns="0" bIns="0" rtlCol="0" anchor="ctr">
            <a:normAutofit/>
          </a:bodyPr>
          <a:lstStyle/>
          <a:p>
            <a:pPr algn="ctr" indent="0" marL="0">
              <a:buNone/>
            </a:pPr>
            <a:r>
              <a:rPr lang="en-US" sz="1450" dirty="0">
                <a:solidFill>
                  <a:srgbClr val="FFFFFF"/>
                </a:solidFill>
              </a:rPr>
              <a:t>What should the agent do - and never do?</a:t>
            </a:r>
            <a:endParaRPr lang="en-US" sz="1450" dirty="0"/>
          </a:p>
        </p:txBody>
      </p:sp>
      <p:sp>
        <p:nvSpPr>
          <p:cNvPr id="11" name="Shape 9"/>
          <p:cNvSpPr/>
          <p:nvPr/>
        </p:nvSpPr>
        <p:spPr>
          <a:xfrm>
            <a:off x="3291840" y="3035808"/>
            <a:ext cx="2331720" cy="1965960"/>
          </a:xfrm>
          <a:prstGeom prst="roundRect">
            <a:avLst>
              <a:gd name="adj" fmla="val 3721"/>
            </a:avLst>
          </a:prstGeom>
          <a:solidFill>
            <a:srgbClr val="0D3E59"/>
          </a:solidFill>
          <a:ln w="15240">
            <a:solidFill>
              <a:srgbClr val="0C8A78"/>
            </a:solidFill>
            <a:prstDash val="solid"/>
          </a:ln>
        </p:spPr>
      </p:sp>
      <p:sp>
        <p:nvSpPr>
          <p:cNvPr id="12" name="Shape 10"/>
          <p:cNvSpPr/>
          <p:nvPr/>
        </p:nvSpPr>
        <p:spPr>
          <a:xfrm>
            <a:off x="3456432" y="3227832"/>
            <a:ext cx="475488" cy="475488"/>
          </a:xfrm>
          <a:prstGeom prst="ellipse">
            <a:avLst/>
          </a:prstGeom>
          <a:solidFill>
            <a:srgbClr val="0C8A78"/>
          </a:solidFill>
          <a:ln w="12700">
            <a:solidFill>
              <a:srgbClr val="0C8A78"/>
            </a:solidFill>
            <a:prstDash val="solid"/>
          </a:ln>
        </p:spPr>
      </p:sp>
      <p:sp>
        <p:nvSpPr>
          <p:cNvPr id="13" name="Text 11"/>
          <p:cNvSpPr/>
          <p:nvPr/>
        </p:nvSpPr>
        <p:spPr>
          <a:xfrm>
            <a:off x="3456432" y="3346704"/>
            <a:ext cx="475488" cy="190195"/>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3474720" y="3858768"/>
            <a:ext cx="1956816" cy="274320"/>
          </a:xfrm>
          <a:prstGeom prst="rect">
            <a:avLst/>
          </a:prstGeom>
          <a:noFill/>
          <a:ln/>
        </p:spPr>
        <p:txBody>
          <a:bodyPr wrap="square" lIns="0" tIns="0" rIns="0" bIns="0" rtlCol="0" anchor="ctr"/>
          <a:lstStyle/>
          <a:p>
            <a:pPr algn="ctr" indent="0" marL="0">
              <a:buNone/>
            </a:pPr>
            <a:r>
              <a:rPr lang="en-US" sz="1300" b="1" spc="80" kern="0" dirty="0">
                <a:solidFill>
                  <a:srgbClr val="55D6BE"/>
                </a:solidFill>
              </a:rPr>
              <a:t>NAME THE OWNER</a:t>
            </a:r>
            <a:endParaRPr lang="en-US" sz="1300" dirty="0"/>
          </a:p>
        </p:txBody>
      </p:sp>
      <p:sp>
        <p:nvSpPr>
          <p:cNvPr id="15" name="Text 13"/>
          <p:cNvSpPr/>
          <p:nvPr/>
        </p:nvSpPr>
        <p:spPr>
          <a:xfrm>
            <a:off x="3520440" y="4279392"/>
            <a:ext cx="1874520" cy="502920"/>
          </a:xfrm>
          <a:prstGeom prst="rect">
            <a:avLst/>
          </a:prstGeom>
          <a:noFill/>
          <a:ln/>
        </p:spPr>
        <p:txBody>
          <a:bodyPr wrap="square" lIns="0" tIns="0" rIns="0" bIns="0" rtlCol="0" anchor="ctr">
            <a:normAutofit/>
          </a:bodyPr>
          <a:lstStyle/>
          <a:p>
            <a:pPr algn="ctr" indent="0" marL="0">
              <a:buNone/>
            </a:pPr>
            <a:r>
              <a:rPr lang="en-US" sz="1450" dirty="0">
                <a:solidFill>
                  <a:srgbClr val="FFFFFF"/>
                </a:solidFill>
              </a:rPr>
              <a:t>Who reviews, approves, escalates and stops?</a:t>
            </a:r>
            <a:endParaRPr lang="en-US" sz="1450" dirty="0"/>
          </a:p>
        </p:txBody>
      </p:sp>
      <p:sp>
        <p:nvSpPr>
          <p:cNvPr id="16" name="Shape 14"/>
          <p:cNvSpPr/>
          <p:nvPr/>
        </p:nvSpPr>
        <p:spPr>
          <a:xfrm>
            <a:off x="5925312" y="3035808"/>
            <a:ext cx="2331720" cy="1965960"/>
          </a:xfrm>
          <a:prstGeom prst="roundRect">
            <a:avLst>
              <a:gd name="adj" fmla="val 3721"/>
            </a:avLst>
          </a:prstGeom>
          <a:solidFill>
            <a:srgbClr val="163D55"/>
          </a:solidFill>
          <a:ln w="15240">
            <a:solidFill>
              <a:srgbClr val="F4B942"/>
            </a:solidFill>
            <a:prstDash val="solid"/>
          </a:ln>
        </p:spPr>
      </p:sp>
      <p:sp>
        <p:nvSpPr>
          <p:cNvPr id="17" name="Shape 15"/>
          <p:cNvSpPr/>
          <p:nvPr/>
        </p:nvSpPr>
        <p:spPr>
          <a:xfrm>
            <a:off x="6089904" y="3227832"/>
            <a:ext cx="475488" cy="475488"/>
          </a:xfrm>
          <a:prstGeom prst="ellipse">
            <a:avLst/>
          </a:prstGeom>
          <a:solidFill>
            <a:srgbClr val="F4B942"/>
          </a:solidFill>
          <a:ln w="12700">
            <a:solidFill>
              <a:srgbClr val="F4B942"/>
            </a:solidFill>
            <a:prstDash val="solid"/>
          </a:ln>
        </p:spPr>
      </p:sp>
      <p:sp>
        <p:nvSpPr>
          <p:cNvPr id="18" name="Text 16"/>
          <p:cNvSpPr/>
          <p:nvPr/>
        </p:nvSpPr>
        <p:spPr>
          <a:xfrm>
            <a:off x="6089904" y="3346704"/>
            <a:ext cx="475488" cy="190195"/>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6108192" y="3858768"/>
            <a:ext cx="1956816" cy="274320"/>
          </a:xfrm>
          <a:prstGeom prst="rect">
            <a:avLst/>
          </a:prstGeom>
          <a:noFill/>
          <a:ln/>
        </p:spPr>
        <p:txBody>
          <a:bodyPr wrap="square" lIns="0" tIns="0" rIns="0" bIns="0" rtlCol="0" anchor="ctr"/>
          <a:lstStyle/>
          <a:p>
            <a:pPr algn="ctr" indent="0" marL="0">
              <a:buNone/>
            </a:pPr>
            <a:r>
              <a:rPr lang="en-US" sz="1300" b="1" spc="80" kern="0" dirty="0">
                <a:solidFill>
                  <a:srgbClr val="F4B942"/>
                </a:solidFill>
              </a:rPr>
              <a:t>COACH ONE PERSON</a:t>
            </a:r>
            <a:endParaRPr lang="en-US" sz="1300" dirty="0"/>
          </a:p>
        </p:txBody>
      </p:sp>
      <p:sp>
        <p:nvSpPr>
          <p:cNvPr id="20" name="Text 18"/>
          <p:cNvSpPr/>
          <p:nvPr/>
        </p:nvSpPr>
        <p:spPr>
          <a:xfrm>
            <a:off x="6153912" y="4279392"/>
            <a:ext cx="1874520" cy="502920"/>
          </a:xfrm>
          <a:prstGeom prst="rect">
            <a:avLst/>
          </a:prstGeom>
          <a:noFill/>
          <a:ln/>
        </p:spPr>
        <p:txBody>
          <a:bodyPr wrap="square" lIns="0" tIns="0" rIns="0" bIns="0" rtlCol="0" anchor="ctr">
            <a:normAutofit/>
          </a:bodyPr>
          <a:lstStyle/>
          <a:p>
            <a:pPr algn="ctr" indent="0" marL="0">
              <a:buNone/>
            </a:pPr>
            <a:r>
              <a:rPr lang="en-US" sz="1450" dirty="0">
                <a:solidFill>
                  <a:srgbClr val="FFFFFF"/>
                </a:solidFill>
              </a:rPr>
              <a:t>Use GROW and agree a safe two-week experiment.</a:t>
            </a:r>
            <a:endParaRPr lang="en-US" sz="1450" dirty="0"/>
          </a:p>
        </p:txBody>
      </p:sp>
      <p:pic>
        <p:nvPicPr>
          <p:cNvPr id="21" name="Image 0" descr="QR code to the AI Agent Job Redesign Coach">
            <a:hlinkClick r:id="rId2" tooltip=""/>
          </p:cNvPr>
          <p:cNvPicPr>
            <a:picLocks noChangeAspect="1"/>
          </p:cNvPicPr>
          <p:nvPr/>
        </p:nvPicPr>
        <p:blipFill>
          <a:blip r:embed="rId1"/>
          <a:stretch>
            <a:fillRect/>
          </a:stretch>
        </p:blipFill>
        <p:spPr>
          <a:xfrm>
            <a:off x="9281160" y="1124712"/>
            <a:ext cx="1828800" cy="1828800"/>
          </a:xfrm>
          <a:prstGeom prst="rect">
            <a:avLst/>
          </a:prstGeom>
        </p:spPr>
      </p:pic>
      <p:sp>
        <p:nvSpPr>
          <p:cNvPr id="22" name="Text 19"/>
          <p:cNvSpPr/>
          <p:nvPr/>
        </p:nvSpPr>
        <p:spPr>
          <a:xfrm>
            <a:off x="9235440" y="3200400"/>
            <a:ext cx="1920240" cy="256032"/>
          </a:xfrm>
          <a:prstGeom prst="rect">
            <a:avLst/>
          </a:prstGeom>
          <a:noFill/>
          <a:ln/>
        </p:spPr>
        <p:txBody>
          <a:bodyPr wrap="square" lIns="0" tIns="0" rIns="0" bIns="0" rtlCol="0" anchor="ctr"/>
          <a:lstStyle/>
          <a:p>
            <a:pPr algn="ctr" indent="0" marL="0">
              <a:buNone/>
            </a:pPr>
            <a:r>
              <a:rPr lang="en-US" sz="1500" b="1" spc="120" kern="0" dirty="0">
                <a:solidFill>
                  <a:srgbClr val="55D6BE"/>
                </a:solidFill>
              </a:rPr>
              <a:t>PRACTISE NOW</a:t>
            </a:r>
            <a:endParaRPr lang="en-US" sz="1500" dirty="0"/>
          </a:p>
        </p:txBody>
      </p:sp>
      <p:sp>
        <p:nvSpPr>
          <p:cNvPr id="23" name="Text 20">
            <a:hlinkClick r:id="rId3" tooltip=""/>
          </p:cNvPr>
          <p:cNvSpPr/>
          <p:nvPr/>
        </p:nvSpPr>
        <p:spPr>
          <a:xfrm>
            <a:off x="9162288" y="3639312"/>
            <a:ext cx="2057400" cy="502920"/>
          </a:xfrm>
          <a:prstGeom prst="rect">
            <a:avLst/>
          </a:prstGeom>
          <a:noFill/>
          <a:ln/>
        </p:spPr>
        <p:txBody>
          <a:bodyPr wrap="square" lIns="0" tIns="0" rIns="0" bIns="0" rtlCol="0" anchor="ctr"/>
          <a:lstStyle/>
          <a:p>
            <a:pPr algn="ctr" indent="0" marL="0">
              <a:buNone/>
            </a:pPr>
            <a:r>
              <a:rPr lang="en-US" sz="1300"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alfredang.github.io/</a:t>
            </a:r>
            <a:endParaRPr lang="en-US" sz="1300" dirty="0"/>
          </a:p>
          <a:p>
            <a:pPr algn="ctr" indent="0" marL="0">
              <a:buNone/>
            </a:pPr>
            <a:r>
              <a:rPr lang="en-US" sz="1300"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AICoahcing</a:t>
            </a:r>
            <a:endParaRPr lang="en-US" sz="1300" dirty="0"/>
          </a:p>
        </p:txBody>
      </p:sp>
      <p:sp>
        <p:nvSpPr>
          <p:cNvPr id="24" name="Text 21"/>
          <p:cNvSpPr/>
          <p:nvPr/>
        </p:nvSpPr>
        <p:spPr>
          <a:xfrm>
            <a:off x="658368" y="5705856"/>
            <a:ext cx="10378440" cy="475488"/>
          </a:xfrm>
          <a:prstGeom prst="rect">
            <a:avLst/>
          </a:prstGeom>
          <a:noFill/>
          <a:ln/>
        </p:spPr>
        <p:txBody>
          <a:bodyPr wrap="square" lIns="0" tIns="0" rIns="0" bIns="0" rtlCol="0" anchor="ctr">
            <a:normAutofit/>
          </a:bodyPr>
          <a:lstStyle/>
          <a:p>
            <a:pPr algn="l" indent="0" marL="0">
              <a:buNone/>
            </a:pPr>
            <a:r>
              <a:rPr lang="en-US" sz="2500" b="1" dirty="0">
                <a:solidFill>
                  <a:srgbClr val="F4B942"/>
                </a:solidFill>
              </a:rPr>
              <a:t>If an AI agent joined your team tomorrow, who would coach the human?</a:t>
            </a:r>
            <a:endParaRPr lang="en-US" sz="2500" dirty="0"/>
          </a:p>
        </p:txBody>
      </p:sp>
      <p:sp>
        <p:nvSpPr>
          <p:cNvPr id="25" name="Text 22">
            <a:hlinkClick r:id="rId4" tooltip=""/>
          </p:cNvPr>
          <p:cNvSpPr/>
          <p:nvPr/>
        </p:nvSpPr>
        <p:spPr>
          <a:xfrm>
            <a:off x="658368" y="6428232"/>
            <a:ext cx="9921240" cy="219456"/>
          </a:xfrm>
          <a:prstGeom prst="rect">
            <a:avLst/>
          </a:prstGeom>
          <a:noFill/>
          <a:ln/>
        </p:spPr>
        <p:txBody>
          <a:bodyPr wrap="square" lIns="0" tIns="0" rIns="0" bIns="0" rtlCol="0" anchor="ctr">
            <a:normAutofit/>
          </a:bodyPr>
          <a:lstStyle/>
          <a:p>
            <a:pPr indent="0" marL="0">
              <a:buNone/>
            </a:pPr>
            <a:r>
              <a:rPr lang="en-US" sz="1000" u="sng" dirty="0">
                <a:solidFill>
                  <a:srgbClr val="A7C9D2"/>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Simulator and slides: github.com/alfredang/AICoahcing</a:t>
            </a:r>
            <a:endParaRPr lang="en-US" sz="1000" dirty="0"/>
          </a:p>
        </p:txBody>
      </p:sp>
      <p:sp>
        <p:nvSpPr>
          <p:cNvPr id="26" name="Text 23"/>
          <p:cNvSpPr/>
          <p:nvPr/>
        </p:nvSpPr>
        <p:spPr>
          <a:xfrm>
            <a:off x="9464040" y="6446520"/>
            <a:ext cx="2176272" cy="201168"/>
          </a:xfrm>
          <a:prstGeom prst="rect">
            <a:avLst/>
          </a:prstGeom>
          <a:noFill/>
          <a:ln/>
        </p:spPr>
        <p:txBody>
          <a:bodyPr wrap="square" lIns="0" tIns="0" rIns="0" bIns="0" rtlCol="0" anchor="ctr"/>
          <a:lstStyle/>
          <a:p>
            <a:pPr algn="r" indent="0" marL="0">
              <a:buNone/>
            </a:pPr>
            <a:r>
              <a:rPr lang="en-US" sz="850" b="1" spc="60" kern="0" dirty="0">
                <a:solidFill>
                  <a:srgbClr val="55D6BE"/>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Tertiary Infotech Academy Pte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Redesign for Managing AI Agents</dc:title>
  <dc:subject>Community of Practice practitioner sharing on work redesign for managing AI agents</dc:subject>
  <dc:creator>Dr Alfred Ang</dc:creator>
  <cp:lastModifiedBy>Dr Alfred Ang</cp:lastModifiedBy>
  <cp:revision>1</cp:revision>
  <dcterms:created xsi:type="dcterms:W3CDTF">2026-08-26T12:49:10Z</dcterms:created>
  <dcterms:modified xsi:type="dcterms:W3CDTF">2026-08-26T12:49:10Z</dcterms:modified>
</cp:coreProperties>
</file>