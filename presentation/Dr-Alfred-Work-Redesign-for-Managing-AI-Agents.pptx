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0:00-0:35
Open with the business tension: AI agents are moving into workflows faster than organisations are redesigning roles. The advantage will not come from deploying the most agents. It will come from giving people clearer ownership, stronger judgement and safer ways to work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0:35-1:25
This is not a future prediction. In roughly three months, healthcare professionals created more than 12,000 agents. The official speech is explicit: professionals build, deploy and manage them, and the doctor still owns the clinical decision. That is job redesign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1:25-2:25
WEF does not say every job becomes an agent manager. It says 86 percent of employers expect AI transformation, 77 percent plan to upskill, while 41 percent also anticipate reductions. The opportunity is to add agent direction, checking and governance to existing roles before ambiguity turns into resistance or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2:25-3:15
This is our operating model. Agents already contribute to websites and software, and we help clients use them in similar workflows. The repeatable pattern is not hands-off automation. It is human framing, agent execution, human challenge and named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3:15-4:10
The hidden cost is adoption debt when roles lag behind deployment. If we answer fear with a product demo or say "just upskill", we make it worse. The objection may sound technical, but the deeper questions are: am I still valued, what do I own, can I stop the system, and will I be blamed? Treat resistance as design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4:10-5:10
Our solution is a Human Owner role, not a vague instruction to supervise AI. The person sets intent, challenges evidence, approves consequential actions, handles exceptions and improves the workflow. That is a clear job proposition: higher-value judgement with visible authority.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5:10-6:10
The intervention is a structured redesign conversation. Validate the emotion, explore reality and strengths, co-create specific decision rights, and finish with a safe experiment. Empathy is how we obtain honest design input from the person closest to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6:10-7:20
This is the practical product: six scenarios spanning fear, anger, anxiety, scepticism, accountability and ethical purpose. In Slide Show mode, click the large gold launch button to open the live simulator, or invite the audience to scan the QR code. Demo one exchange and show that the staff member opens up when the manager combines empathy with concrete ownership. No-key mode makes the practice reliable in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7:20-8:35
Sarah begins with the identity question: what do you still need me for? The turning point is not reassurance. It is acknowledging the rushed rollout, drawing out her market strengths and co-creating a more valuable role where she directs, challenges and approves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8:35-10:00
Make the ask concrete: pilot one role for two weeks. Map the work, name the accountable human owner, and coach one person through a bounded experiment with stop rules. Measure cycle time, quality, exception handling, ownership clarity and staff confidence. End with the challenge: do not deploy agents into yesterday's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www.straitstimes.com/tech/new-platform-to-create-ai-agents-available-to-all-public-healthcare-professionals" TargetMode="External"/><Relationship Id="rId3" Type="http://schemas.openxmlformats.org/officeDocument/2006/relationships/hyperlink" Target="https://www.moh.gov.sg/newsroom/speech-by-mr-tan-kiat-how--senior-minister-of-state--ministry-of-digital-development-and-information---ministry-of-health--at-himss26-apac-health-conference-and-exhibition--24-august-2026/" TargetMode="External"/><Relationship Id="rId1" Type="http://schemas.openxmlformats.org/officeDocument/2006/relationships/image" Target="../media/image-2-1.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weforum.org/publications/the-future-of-jobs-report-2025/in-full/4-workforce-strategies/"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tertiaryinfotech.com/"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performanceconsultants.com/grow-mode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hyperlink" Target="https://alfredang.github.io/AICoahcing/" TargetMode="External"/><Relationship Id="rId3" Type="http://schemas.openxmlformats.org/officeDocument/2006/relationships/hyperlink" Target="https://alfredang.github.io/AICoahcing/" TargetMode="External"/><Relationship Id="rId4" Type="http://schemas.openxmlformats.org/officeDocument/2006/relationships/hyperlink" Target="https://alfredang.github.io/AICoahcing/" TargetMode="External"/><Relationship Id="rId6" Type="http://schemas.openxmlformats.org/officeDocument/2006/relationships/hyperlink" Target="https://alfredang.github.io/AICoahcing/" TargetMode="External"/><Relationship Id="rId7" Type="http://schemas.openxmlformats.org/officeDocument/2006/relationships/hyperlink" Target="https://alfredang.github.io/AICoahcing/" TargetMode="External"/><Relationship Id="rId5" Type="http://schemas.openxmlformats.org/officeDocument/2006/relationships/image" Target="../media/image-8-1.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lfredang.github.io/AICoahcing/"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alfredang.github.io/AICoahcing/" TargetMode="External"/><Relationship Id="rId3" Type="http://schemas.openxmlformats.org/officeDocument/2006/relationships/hyperlink" Target="https://github.com/alfredang/AICoahcing"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2F57"/>
        </a:solidFill>
      </p:bgPr>
    </p:bg>
    <p:spTree>
      <p:nvGrpSpPr>
        <p:cNvPr id="1" name=""/>
        <p:cNvGrpSpPr/>
        <p:nvPr/>
      </p:nvGrpSpPr>
      <p:grpSpPr>
        <a:xfrm>
          <a:off x="0" y="0"/>
          <a:ext cx="0" cy="0"/>
          <a:chOff x="0" y="0"/>
          <a:chExt cx="0" cy="0"/>
        </a:xfrm>
      </p:grpSpPr>
      <p:sp>
        <p:nvSpPr>
          <p:cNvPr id="2" name="Text 0"/>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55D6BE"/>
                </a:solidFill>
                <a:latin typeface="Arial" pitchFamily="34" charset="0"/>
                <a:ea typeface="Arial" pitchFamily="34" charset="-122"/>
                <a:cs typeface="Arial" pitchFamily="34" charset="-120"/>
              </a:rPr>
              <a:t>WORK REDESIGN FOR MANAGING AI AGENTS</a:t>
            </a:r>
            <a:endParaRPr lang="en-US" sz="900" dirty="0"/>
          </a:p>
        </p:txBody>
      </p:sp>
      <p:sp>
        <p:nvSpPr>
          <p:cNvPr id="3" name="Text 1"/>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A7C9D2"/>
                </a:solidFill>
                <a:latin typeface="Arial" pitchFamily="34" charset="0"/>
                <a:ea typeface="Arial" pitchFamily="34" charset="-122"/>
                <a:cs typeface="Arial" pitchFamily="34" charset="-120"/>
              </a:rPr>
              <a:t>01</a:t>
            </a:r>
            <a:endParaRPr lang="en-US" sz="1000" dirty="0"/>
          </a:p>
        </p:txBody>
      </p:sp>
      <p:sp>
        <p:nvSpPr>
          <p:cNvPr id="4" name="Text 2"/>
          <p:cNvSpPr/>
          <p:nvPr/>
        </p:nvSpPr>
        <p:spPr>
          <a:xfrm>
            <a:off x="594360" y="1298448"/>
            <a:ext cx="6309360" cy="1691640"/>
          </a:xfrm>
          <a:prstGeom prst="rect">
            <a:avLst/>
          </a:prstGeom>
          <a:noFill/>
          <a:ln/>
        </p:spPr>
        <p:txBody>
          <a:bodyPr wrap="square" lIns="0" tIns="0" rIns="0" bIns="0" rtlCol="0" anchor="ctr">
            <a:normAutofit/>
          </a:bodyPr>
          <a:lstStyle/>
          <a:p>
            <a:pPr indent="0" marL="0">
              <a:buNone/>
            </a:pPr>
            <a:r>
              <a:rPr lang="en-US" sz="3300" b="1" dirty="0">
                <a:solidFill>
                  <a:srgbClr val="FFFFFF"/>
                </a:solidFill>
              </a:rPr>
              <a:t>AI agents move fast.</a:t>
            </a:r>
            <a:endParaRPr lang="en-US" sz="3300" dirty="0"/>
          </a:p>
          <a:p>
            <a:pPr indent="0" marL="0">
              <a:buNone/>
            </a:pPr>
            <a:r>
              <a:rPr lang="en-US" sz="3300" b="1" dirty="0">
                <a:solidFill>
                  <a:srgbClr val="FFFFFF"/>
                </a:solidFill>
              </a:rPr>
              <a:t>Work design must catch up.</a:t>
            </a:r>
            <a:endParaRPr lang="en-US" sz="3300" dirty="0"/>
          </a:p>
        </p:txBody>
      </p:sp>
      <p:sp>
        <p:nvSpPr>
          <p:cNvPr id="5" name="Text 3"/>
          <p:cNvSpPr/>
          <p:nvPr/>
        </p:nvSpPr>
        <p:spPr>
          <a:xfrm>
            <a:off x="621792" y="3310128"/>
            <a:ext cx="5440680" cy="749808"/>
          </a:xfrm>
          <a:prstGeom prst="rect">
            <a:avLst/>
          </a:prstGeom>
          <a:noFill/>
          <a:ln/>
        </p:spPr>
        <p:txBody>
          <a:bodyPr wrap="square" lIns="0" tIns="0" rIns="0" bIns="0" rtlCol="0" anchor="ctr">
            <a:normAutofit/>
          </a:bodyPr>
          <a:lstStyle/>
          <a:p>
            <a:pPr indent="0" marL="0">
              <a:buNone/>
            </a:pPr>
            <a:r>
              <a:rPr lang="en-US" sz="2000" b="1" dirty="0">
                <a:solidFill>
                  <a:srgbClr val="D8EDF1"/>
                </a:solidFill>
              </a:rPr>
              <a:t>The competitive advantage is not more agents.</a:t>
            </a:r>
            <a:endParaRPr lang="en-US" sz="2000" dirty="0"/>
          </a:p>
          <a:p>
            <a:pPr indent="0" marL="0">
              <a:buNone/>
            </a:pPr>
            <a:r>
              <a:rPr lang="en-US" sz="2000" b="1" dirty="0">
                <a:solidFill>
                  <a:srgbClr val="D8EDF1"/>
                </a:solidFill>
              </a:rPr>
              <a:t>It is better human ownership.</a:t>
            </a:r>
            <a:endParaRPr lang="en-US" sz="2000" dirty="0"/>
          </a:p>
        </p:txBody>
      </p:sp>
      <p:sp>
        <p:nvSpPr>
          <p:cNvPr id="6" name="Text 4"/>
          <p:cNvSpPr/>
          <p:nvPr/>
        </p:nvSpPr>
        <p:spPr>
          <a:xfrm>
            <a:off x="621792" y="4828032"/>
            <a:ext cx="5394960" cy="685800"/>
          </a:xfrm>
          <a:prstGeom prst="rect">
            <a:avLst/>
          </a:prstGeom>
          <a:noFill/>
          <a:ln/>
        </p:spPr>
        <p:txBody>
          <a:bodyPr wrap="square" lIns="0" tIns="0" rIns="0" bIns="0" rtlCol="0" anchor="ctr">
            <a:normAutofit/>
          </a:bodyPr>
          <a:lstStyle/>
          <a:p>
            <a:pPr indent="0" marL="0">
              <a:buNone/>
            </a:pPr>
            <a:r>
              <a:rPr lang="en-US" sz="1450" dirty="0">
                <a:solidFill>
                  <a:srgbClr val="B9D7DE"/>
                </a:solidFill>
              </a:rPr>
              <a:t>Dr Alfred Ang  |  Tertiary Infotech Academy Pte Ltd</a:t>
            </a:r>
            <a:endParaRPr lang="en-US" sz="1450" dirty="0"/>
          </a:p>
          <a:p>
            <a:pPr indent="0" marL="0">
              <a:buNone/>
            </a:pPr>
            <a:r>
              <a:rPr lang="en-US" sz="1450" dirty="0">
                <a:solidFill>
                  <a:srgbClr val="B9D7DE"/>
                </a:solidFill>
              </a:rPr>
              <a:t>27 August 2026  |  Institute for Adult Learning</a:t>
            </a:r>
            <a:endParaRPr lang="en-US" sz="1450" dirty="0"/>
          </a:p>
        </p:txBody>
      </p:sp>
      <p:sp>
        <p:nvSpPr>
          <p:cNvPr id="7" name="Shape 5"/>
          <p:cNvSpPr/>
          <p:nvPr/>
        </p:nvSpPr>
        <p:spPr>
          <a:xfrm>
            <a:off x="8823960" y="3246120"/>
            <a:ext cx="-1645920" cy="-1783080"/>
          </a:xfrm>
          <a:prstGeom prst="line">
            <a:avLst/>
          </a:prstGeom>
          <a:noFill/>
          <a:ln w="17780">
            <a:solidFill>
              <a:srgbClr val="3FAF9E">
                <a:alpha val="85000"/>
              </a:srgbClr>
            </a:solidFill>
            <a:prstDash val="solid"/>
            <a:headEnd type="none"/>
            <a:tailEnd type="none"/>
          </a:ln>
        </p:spPr>
      </p:sp>
      <p:sp>
        <p:nvSpPr>
          <p:cNvPr id="8" name="Shape 6"/>
          <p:cNvSpPr/>
          <p:nvPr/>
        </p:nvSpPr>
        <p:spPr>
          <a:xfrm>
            <a:off x="6903720" y="1188720"/>
            <a:ext cx="548640" cy="548640"/>
          </a:xfrm>
          <a:prstGeom prst="ellipse">
            <a:avLst/>
          </a:prstGeom>
          <a:solidFill>
            <a:srgbClr val="15647A"/>
          </a:solidFill>
          <a:ln w="12700">
            <a:solidFill>
              <a:srgbClr val="15647A"/>
            </a:solidFill>
            <a:prstDash val="solid"/>
          </a:ln>
        </p:spPr>
      </p:sp>
      <p:sp>
        <p:nvSpPr>
          <p:cNvPr id="9" name="Text 7"/>
          <p:cNvSpPr/>
          <p:nvPr/>
        </p:nvSpPr>
        <p:spPr>
          <a:xfrm>
            <a:off x="6903720" y="132588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0" name="Shape 8"/>
          <p:cNvSpPr/>
          <p:nvPr/>
        </p:nvSpPr>
        <p:spPr>
          <a:xfrm>
            <a:off x="8823960" y="3246120"/>
            <a:ext cx="-137160" cy="-2103120"/>
          </a:xfrm>
          <a:prstGeom prst="line">
            <a:avLst/>
          </a:prstGeom>
          <a:noFill/>
          <a:ln w="17780">
            <a:solidFill>
              <a:srgbClr val="3FAF9E">
                <a:alpha val="85000"/>
              </a:srgbClr>
            </a:solidFill>
            <a:prstDash val="solid"/>
            <a:headEnd type="none"/>
            <a:tailEnd type="none"/>
          </a:ln>
        </p:spPr>
      </p:sp>
      <p:sp>
        <p:nvSpPr>
          <p:cNvPr id="11" name="Shape 9"/>
          <p:cNvSpPr/>
          <p:nvPr/>
        </p:nvSpPr>
        <p:spPr>
          <a:xfrm>
            <a:off x="8412480" y="868680"/>
            <a:ext cx="548640" cy="548640"/>
          </a:xfrm>
          <a:prstGeom prst="ellipse">
            <a:avLst/>
          </a:prstGeom>
          <a:solidFill>
            <a:srgbClr val="0C8A78"/>
          </a:solidFill>
          <a:ln w="12700">
            <a:solidFill>
              <a:srgbClr val="0C8A78"/>
            </a:solidFill>
            <a:prstDash val="solid"/>
          </a:ln>
        </p:spPr>
      </p:sp>
      <p:sp>
        <p:nvSpPr>
          <p:cNvPr id="12" name="Text 10"/>
          <p:cNvSpPr/>
          <p:nvPr/>
        </p:nvSpPr>
        <p:spPr>
          <a:xfrm>
            <a:off x="8412480" y="10058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3" name="Shape 11"/>
          <p:cNvSpPr/>
          <p:nvPr/>
        </p:nvSpPr>
        <p:spPr>
          <a:xfrm>
            <a:off x="8823960" y="3246120"/>
            <a:ext cx="1691640" cy="-1645920"/>
          </a:xfrm>
          <a:prstGeom prst="line">
            <a:avLst/>
          </a:prstGeom>
          <a:noFill/>
          <a:ln w="17780">
            <a:solidFill>
              <a:srgbClr val="3FAF9E">
                <a:alpha val="85000"/>
              </a:srgbClr>
            </a:solidFill>
            <a:prstDash val="solid"/>
            <a:headEnd type="none"/>
            <a:tailEnd type="none"/>
          </a:ln>
        </p:spPr>
      </p:sp>
      <p:sp>
        <p:nvSpPr>
          <p:cNvPr id="14" name="Shape 12"/>
          <p:cNvSpPr/>
          <p:nvPr/>
        </p:nvSpPr>
        <p:spPr>
          <a:xfrm>
            <a:off x="10241280" y="1325880"/>
            <a:ext cx="548640" cy="548640"/>
          </a:xfrm>
          <a:prstGeom prst="ellipse">
            <a:avLst/>
          </a:prstGeom>
          <a:solidFill>
            <a:srgbClr val="15647A"/>
          </a:solidFill>
          <a:ln w="12700">
            <a:solidFill>
              <a:srgbClr val="15647A"/>
            </a:solidFill>
            <a:prstDash val="solid"/>
          </a:ln>
        </p:spPr>
      </p:sp>
      <p:sp>
        <p:nvSpPr>
          <p:cNvPr id="15" name="Text 13"/>
          <p:cNvSpPr/>
          <p:nvPr/>
        </p:nvSpPr>
        <p:spPr>
          <a:xfrm>
            <a:off x="10241280" y="14630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6" name="Shape 14"/>
          <p:cNvSpPr/>
          <p:nvPr/>
        </p:nvSpPr>
        <p:spPr>
          <a:xfrm>
            <a:off x="8823960" y="3246120"/>
            <a:ext cx="2423160" cy="-182880"/>
          </a:xfrm>
          <a:prstGeom prst="line">
            <a:avLst/>
          </a:prstGeom>
          <a:noFill/>
          <a:ln w="17780">
            <a:solidFill>
              <a:srgbClr val="3FAF9E">
                <a:alpha val="85000"/>
              </a:srgbClr>
            </a:solidFill>
            <a:prstDash val="solid"/>
            <a:headEnd type="none"/>
            <a:tailEnd type="none"/>
          </a:ln>
        </p:spPr>
      </p:sp>
      <p:sp>
        <p:nvSpPr>
          <p:cNvPr id="17" name="Shape 15"/>
          <p:cNvSpPr/>
          <p:nvPr/>
        </p:nvSpPr>
        <p:spPr>
          <a:xfrm>
            <a:off x="10972800" y="2788920"/>
            <a:ext cx="548640" cy="548640"/>
          </a:xfrm>
          <a:prstGeom prst="ellipse">
            <a:avLst/>
          </a:prstGeom>
          <a:solidFill>
            <a:srgbClr val="0C8A78"/>
          </a:solidFill>
          <a:ln w="12700">
            <a:solidFill>
              <a:srgbClr val="0C8A78"/>
            </a:solidFill>
            <a:prstDash val="solid"/>
          </a:ln>
        </p:spPr>
      </p:sp>
      <p:sp>
        <p:nvSpPr>
          <p:cNvPr id="18" name="Text 16"/>
          <p:cNvSpPr/>
          <p:nvPr/>
        </p:nvSpPr>
        <p:spPr>
          <a:xfrm>
            <a:off x="10972800" y="292608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19" name="Shape 17"/>
          <p:cNvSpPr/>
          <p:nvPr/>
        </p:nvSpPr>
        <p:spPr>
          <a:xfrm>
            <a:off x="8823960" y="3246120"/>
            <a:ext cx="2011680" cy="1828800"/>
          </a:xfrm>
          <a:prstGeom prst="line">
            <a:avLst/>
          </a:prstGeom>
          <a:noFill/>
          <a:ln w="17780">
            <a:solidFill>
              <a:srgbClr val="3FAF9E">
                <a:alpha val="85000"/>
              </a:srgbClr>
            </a:solidFill>
            <a:prstDash val="solid"/>
            <a:headEnd type="none"/>
            <a:tailEnd type="none"/>
          </a:ln>
        </p:spPr>
      </p:sp>
      <p:sp>
        <p:nvSpPr>
          <p:cNvPr id="20" name="Shape 18"/>
          <p:cNvSpPr/>
          <p:nvPr/>
        </p:nvSpPr>
        <p:spPr>
          <a:xfrm>
            <a:off x="10561320" y="4800600"/>
            <a:ext cx="548640" cy="548640"/>
          </a:xfrm>
          <a:prstGeom prst="ellipse">
            <a:avLst/>
          </a:prstGeom>
          <a:solidFill>
            <a:srgbClr val="15647A"/>
          </a:solidFill>
          <a:ln w="12700">
            <a:solidFill>
              <a:srgbClr val="15647A"/>
            </a:solidFill>
            <a:prstDash val="solid"/>
          </a:ln>
        </p:spPr>
      </p:sp>
      <p:sp>
        <p:nvSpPr>
          <p:cNvPr id="21" name="Text 19"/>
          <p:cNvSpPr/>
          <p:nvPr/>
        </p:nvSpPr>
        <p:spPr>
          <a:xfrm>
            <a:off x="10561320" y="49377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2" name="Shape 20"/>
          <p:cNvSpPr/>
          <p:nvPr/>
        </p:nvSpPr>
        <p:spPr>
          <a:xfrm>
            <a:off x="8823960" y="3246120"/>
            <a:ext cx="365760" cy="2514600"/>
          </a:xfrm>
          <a:prstGeom prst="line">
            <a:avLst/>
          </a:prstGeom>
          <a:noFill/>
          <a:ln w="17780">
            <a:solidFill>
              <a:srgbClr val="3FAF9E">
                <a:alpha val="85000"/>
              </a:srgbClr>
            </a:solidFill>
            <a:prstDash val="solid"/>
            <a:headEnd type="none"/>
            <a:tailEnd type="none"/>
          </a:ln>
        </p:spPr>
      </p:sp>
      <p:sp>
        <p:nvSpPr>
          <p:cNvPr id="23" name="Shape 21"/>
          <p:cNvSpPr/>
          <p:nvPr/>
        </p:nvSpPr>
        <p:spPr>
          <a:xfrm>
            <a:off x="8915400" y="5486400"/>
            <a:ext cx="548640" cy="548640"/>
          </a:xfrm>
          <a:prstGeom prst="ellipse">
            <a:avLst/>
          </a:prstGeom>
          <a:solidFill>
            <a:srgbClr val="0C8A78"/>
          </a:solidFill>
          <a:ln w="12700">
            <a:solidFill>
              <a:srgbClr val="0C8A78"/>
            </a:solidFill>
            <a:prstDash val="solid"/>
          </a:ln>
        </p:spPr>
      </p:sp>
      <p:sp>
        <p:nvSpPr>
          <p:cNvPr id="24" name="Text 22"/>
          <p:cNvSpPr/>
          <p:nvPr/>
        </p:nvSpPr>
        <p:spPr>
          <a:xfrm>
            <a:off x="8915400" y="56235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5" name="Shape 23"/>
          <p:cNvSpPr/>
          <p:nvPr/>
        </p:nvSpPr>
        <p:spPr>
          <a:xfrm>
            <a:off x="8823960" y="3246120"/>
            <a:ext cx="-1645920" cy="1783080"/>
          </a:xfrm>
          <a:prstGeom prst="line">
            <a:avLst/>
          </a:prstGeom>
          <a:noFill/>
          <a:ln w="17780">
            <a:solidFill>
              <a:srgbClr val="3FAF9E">
                <a:alpha val="85000"/>
              </a:srgbClr>
            </a:solidFill>
            <a:prstDash val="solid"/>
            <a:headEnd type="none"/>
            <a:tailEnd type="none"/>
          </a:ln>
        </p:spPr>
      </p:sp>
      <p:sp>
        <p:nvSpPr>
          <p:cNvPr id="26" name="Shape 24"/>
          <p:cNvSpPr/>
          <p:nvPr/>
        </p:nvSpPr>
        <p:spPr>
          <a:xfrm>
            <a:off x="6903720" y="4754880"/>
            <a:ext cx="548640" cy="548640"/>
          </a:xfrm>
          <a:prstGeom prst="ellipse">
            <a:avLst/>
          </a:prstGeom>
          <a:solidFill>
            <a:srgbClr val="15647A"/>
          </a:solidFill>
          <a:ln w="12700">
            <a:solidFill>
              <a:srgbClr val="15647A"/>
            </a:solidFill>
            <a:prstDash val="solid"/>
          </a:ln>
        </p:spPr>
      </p:sp>
      <p:sp>
        <p:nvSpPr>
          <p:cNvPr id="27" name="Text 25"/>
          <p:cNvSpPr/>
          <p:nvPr/>
        </p:nvSpPr>
        <p:spPr>
          <a:xfrm>
            <a:off x="6903720" y="489204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28" name="Shape 26"/>
          <p:cNvSpPr/>
          <p:nvPr/>
        </p:nvSpPr>
        <p:spPr>
          <a:xfrm>
            <a:off x="8823960" y="3246120"/>
            <a:ext cx="-2194560" cy="-228600"/>
          </a:xfrm>
          <a:prstGeom prst="line">
            <a:avLst/>
          </a:prstGeom>
          <a:noFill/>
          <a:ln w="17780">
            <a:solidFill>
              <a:srgbClr val="3FAF9E">
                <a:alpha val="85000"/>
              </a:srgbClr>
            </a:solidFill>
            <a:prstDash val="solid"/>
            <a:headEnd type="none"/>
            <a:tailEnd type="none"/>
          </a:ln>
        </p:spPr>
      </p:sp>
      <p:sp>
        <p:nvSpPr>
          <p:cNvPr id="29" name="Shape 27"/>
          <p:cNvSpPr/>
          <p:nvPr/>
        </p:nvSpPr>
        <p:spPr>
          <a:xfrm>
            <a:off x="6355080" y="2743200"/>
            <a:ext cx="548640" cy="548640"/>
          </a:xfrm>
          <a:prstGeom prst="ellipse">
            <a:avLst/>
          </a:prstGeom>
          <a:solidFill>
            <a:srgbClr val="0C8A78"/>
          </a:solidFill>
          <a:ln w="12700">
            <a:solidFill>
              <a:srgbClr val="0C8A78"/>
            </a:solidFill>
            <a:prstDash val="solid"/>
          </a:ln>
        </p:spPr>
      </p:sp>
      <p:sp>
        <p:nvSpPr>
          <p:cNvPr id="30" name="Text 28"/>
          <p:cNvSpPr/>
          <p:nvPr/>
        </p:nvSpPr>
        <p:spPr>
          <a:xfrm>
            <a:off x="6355080" y="2880360"/>
            <a:ext cx="548640" cy="219456"/>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rial" pitchFamily="34" charset="0"/>
                <a:ea typeface="Arial" pitchFamily="34" charset="-122"/>
                <a:cs typeface="Arial" pitchFamily="34" charset="-120"/>
              </a:rPr>
              <a:t>A</a:t>
            </a:r>
            <a:endParaRPr lang="en-US" sz="1100" dirty="0"/>
          </a:p>
        </p:txBody>
      </p:sp>
      <p:sp>
        <p:nvSpPr>
          <p:cNvPr id="31" name="Shape 29"/>
          <p:cNvSpPr/>
          <p:nvPr/>
        </p:nvSpPr>
        <p:spPr>
          <a:xfrm>
            <a:off x="8220456" y="2642616"/>
            <a:ext cx="1207008" cy="1207008"/>
          </a:xfrm>
          <a:prstGeom prst="ellipse">
            <a:avLst/>
          </a:prstGeom>
          <a:solidFill>
            <a:srgbClr val="FFFFFF"/>
          </a:solidFill>
          <a:ln w="50800">
            <a:solidFill>
              <a:srgbClr val="F4B942"/>
            </a:solidFill>
            <a:prstDash val="solid"/>
          </a:ln>
        </p:spPr>
      </p:sp>
      <p:sp>
        <p:nvSpPr>
          <p:cNvPr id="32" name="Text 30"/>
          <p:cNvSpPr/>
          <p:nvPr/>
        </p:nvSpPr>
        <p:spPr>
          <a:xfrm>
            <a:off x="8321040" y="3026664"/>
            <a:ext cx="1005840" cy="502920"/>
          </a:xfrm>
          <a:prstGeom prst="rect">
            <a:avLst/>
          </a:prstGeom>
          <a:noFill/>
          <a:ln/>
        </p:spPr>
        <p:txBody>
          <a:bodyPr wrap="square" lIns="0" tIns="0" rIns="0" bIns="0" rtlCol="0" anchor="ctr">
            <a:normAutofit/>
          </a:bodyPr>
          <a:lstStyle/>
          <a:p>
            <a:pPr algn="ctr" indent="0" marL="0">
              <a:buNone/>
            </a:pPr>
            <a:r>
              <a:rPr lang="en-US" sz="1300" b="1" dirty="0">
                <a:solidFill>
                  <a:srgbClr val="092F57"/>
                </a:solidFill>
              </a:rPr>
              <a:t>HUMAN</a:t>
            </a:r>
            <a:endParaRPr lang="en-US" sz="1300" dirty="0"/>
          </a:p>
          <a:p>
            <a:pPr algn="ctr" indent="0" marL="0">
              <a:buNone/>
            </a:pPr>
            <a:r>
              <a:rPr lang="en-US" sz="1300" b="1" dirty="0">
                <a:solidFill>
                  <a:srgbClr val="092F57"/>
                </a:solidFill>
              </a:rPr>
              <a:t>OWNER</a:t>
            </a:r>
            <a:endParaRPr lang="en-US" sz="1300" dirty="0"/>
          </a:p>
        </p:txBody>
      </p:sp>
      <p:sp>
        <p:nvSpPr>
          <p:cNvPr id="33" name="Text 31"/>
          <p:cNvSpPr/>
          <p:nvPr/>
        </p:nvSpPr>
        <p:spPr>
          <a:xfrm>
            <a:off x="6446520" y="6080760"/>
            <a:ext cx="4800600" cy="256032"/>
          </a:xfrm>
          <a:prstGeom prst="rect">
            <a:avLst/>
          </a:prstGeom>
          <a:noFill/>
          <a:ln/>
        </p:spPr>
        <p:txBody>
          <a:bodyPr wrap="square" lIns="0" tIns="0" rIns="0" bIns="0" rtlCol="0" anchor="ctr"/>
          <a:lstStyle/>
          <a:p>
            <a:pPr algn="ctr" indent="0" marL="0">
              <a:buNone/>
            </a:pPr>
            <a:r>
              <a:rPr lang="en-US" sz="1100" b="1" spc="120" kern="0" dirty="0">
                <a:solidFill>
                  <a:srgbClr val="55D6BE"/>
                </a:solidFill>
              </a:rPr>
              <a:t>REDESIGN  &gt;  REHEARSE  &gt;  RELEASE</a:t>
            </a:r>
            <a:endParaRPr lang="en-US" sz="1100" dirty="0"/>
          </a:p>
        </p:txBody>
      </p:sp>
      <p:sp>
        <p:nvSpPr>
          <p:cNvPr id="34" name="Text 32"/>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55D6BE"/>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WHY NOW</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02</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12,000+ agents. One lesson: ownership cannot be automated.</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AgentSea shows frontline professionals building and managing agents while humans retain consequential decisions.</a:t>
            </a:r>
            <a:endParaRPr lang="en-US" sz="1500" dirty="0"/>
          </a:p>
        </p:txBody>
      </p:sp>
      <p:sp>
        <p:nvSpPr>
          <p:cNvPr id="7" name="Shape 5"/>
          <p:cNvSpPr/>
          <p:nvPr/>
        </p:nvSpPr>
        <p:spPr>
          <a:xfrm>
            <a:off x="594360" y="1719072"/>
            <a:ext cx="4663440" cy="4315968"/>
          </a:xfrm>
          <a:prstGeom prst="roundRect">
            <a:avLst>
              <a:gd name="adj" fmla="val 2119"/>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8" name="Text 6"/>
          <p:cNvSpPr/>
          <p:nvPr/>
        </p:nvSpPr>
        <p:spPr>
          <a:xfrm>
            <a:off x="868680" y="1993392"/>
            <a:ext cx="4069080" cy="914400"/>
          </a:xfrm>
          <a:prstGeom prst="rect">
            <a:avLst/>
          </a:prstGeom>
          <a:noFill/>
          <a:ln/>
        </p:spPr>
        <p:txBody>
          <a:bodyPr wrap="square" lIns="0" tIns="0" rIns="0" bIns="0" rtlCol="0" anchor="ctr">
            <a:normAutofit/>
          </a:bodyPr>
          <a:lstStyle/>
          <a:p>
            <a:pPr indent="0" marL="0">
              <a:buNone/>
            </a:pPr>
            <a:r>
              <a:rPr lang="en-US" sz="6100" b="1" dirty="0">
                <a:solidFill>
                  <a:srgbClr val="55D6BE"/>
                </a:solidFill>
              </a:rPr>
              <a:t>12,000+</a:t>
            </a:r>
            <a:endParaRPr lang="en-US" sz="6100" dirty="0"/>
          </a:p>
        </p:txBody>
      </p:sp>
      <p:sp>
        <p:nvSpPr>
          <p:cNvPr id="9" name="Text 7"/>
          <p:cNvSpPr/>
          <p:nvPr/>
        </p:nvSpPr>
        <p:spPr>
          <a:xfrm>
            <a:off x="877824" y="2880360"/>
            <a:ext cx="3566160" cy="384048"/>
          </a:xfrm>
          <a:prstGeom prst="rect">
            <a:avLst/>
          </a:prstGeom>
          <a:noFill/>
          <a:ln/>
        </p:spPr>
        <p:txBody>
          <a:bodyPr wrap="square" lIns="0" tIns="0" rIns="0" bIns="0" rtlCol="0" anchor="ctr"/>
          <a:lstStyle/>
          <a:p>
            <a:pPr indent="0" marL="0">
              <a:buNone/>
            </a:pPr>
            <a:r>
              <a:rPr lang="en-US" sz="2300" b="1" dirty="0">
                <a:solidFill>
                  <a:srgbClr val="FFFFFF"/>
                </a:solidFill>
              </a:rPr>
              <a:t>AI agents created</a:t>
            </a:r>
            <a:endParaRPr lang="en-US" sz="2300" dirty="0"/>
          </a:p>
        </p:txBody>
      </p:sp>
      <p:sp>
        <p:nvSpPr>
          <p:cNvPr id="10" name="Text 8"/>
          <p:cNvSpPr/>
          <p:nvPr/>
        </p:nvSpPr>
        <p:spPr>
          <a:xfrm>
            <a:off x="896112" y="3346704"/>
            <a:ext cx="3794760" cy="786384"/>
          </a:xfrm>
          <a:prstGeom prst="rect">
            <a:avLst/>
          </a:prstGeom>
          <a:noFill/>
          <a:ln/>
        </p:spPr>
        <p:txBody>
          <a:bodyPr wrap="square" lIns="0" tIns="0" rIns="0" bIns="0" rtlCol="0" anchor="ctr">
            <a:normAutofit/>
          </a:bodyPr>
          <a:lstStyle/>
          <a:p>
            <a:pPr indent="0" marL="0">
              <a:buNone/>
            </a:pPr>
            <a:r>
              <a:rPr lang="en-US" sz="1700" dirty="0">
                <a:solidFill>
                  <a:srgbClr val="D8EDF1"/>
                </a:solidFill>
              </a:rPr>
              <a:t>by Singapore public healthcare professionals since the platform launched in late May 2026</a:t>
            </a:r>
            <a:endParaRPr lang="en-US" sz="1700" dirty="0"/>
          </a:p>
        </p:txBody>
      </p:sp>
      <p:sp>
        <p:nvSpPr>
          <p:cNvPr id="11" name="Shape 9"/>
          <p:cNvSpPr/>
          <p:nvPr/>
        </p:nvSpPr>
        <p:spPr>
          <a:xfrm>
            <a:off x="896112" y="4572000"/>
            <a:ext cx="1572768" cy="310896"/>
          </a:xfrm>
          <a:prstGeom prst="roundRect">
            <a:avLst>
              <a:gd name="adj" fmla="val 47059"/>
            </a:avLst>
          </a:prstGeom>
          <a:solidFill>
            <a:srgbClr val="0C8A78"/>
          </a:solidFill>
          <a:ln w="12700">
            <a:solidFill>
              <a:srgbClr val="0C8A78"/>
            </a:solidFill>
            <a:prstDash val="solid"/>
          </a:ln>
        </p:spPr>
      </p:sp>
      <p:sp>
        <p:nvSpPr>
          <p:cNvPr id="12" name="Text 10"/>
          <p:cNvSpPr/>
          <p:nvPr/>
        </p:nvSpPr>
        <p:spPr>
          <a:xfrm>
            <a:off x="896112" y="4590288"/>
            <a:ext cx="1572768"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NO CODE REQUIRED</a:t>
            </a:r>
            <a:endParaRPr lang="en-US" sz="1000" dirty="0"/>
          </a:p>
        </p:txBody>
      </p:sp>
      <p:sp>
        <p:nvSpPr>
          <p:cNvPr id="13" name="Shape 11"/>
          <p:cNvSpPr/>
          <p:nvPr/>
        </p:nvSpPr>
        <p:spPr>
          <a:xfrm>
            <a:off x="2587752" y="4572000"/>
            <a:ext cx="1417320" cy="310896"/>
          </a:xfrm>
          <a:prstGeom prst="roundRect">
            <a:avLst>
              <a:gd name="adj" fmla="val 47059"/>
            </a:avLst>
          </a:prstGeom>
          <a:solidFill>
            <a:srgbClr val="F4B942"/>
          </a:solidFill>
          <a:ln w="12700">
            <a:solidFill>
              <a:srgbClr val="F4B942"/>
            </a:solidFill>
            <a:prstDash val="solid"/>
          </a:ln>
        </p:spPr>
      </p:sp>
      <p:sp>
        <p:nvSpPr>
          <p:cNvPr id="14" name="Text 12"/>
          <p:cNvSpPr/>
          <p:nvPr/>
        </p:nvSpPr>
        <p:spPr>
          <a:xfrm>
            <a:off x="2587752" y="4590288"/>
            <a:ext cx="1417320" cy="201168"/>
          </a:xfrm>
          <a:prstGeom prst="rect">
            <a:avLst/>
          </a:prstGeom>
          <a:noFill/>
          <a:ln/>
        </p:spPr>
        <p:txBody>
          <a:bodyPr wrap="square" lIns="0" tIns="0" rIns="0" bIns="0" rtlCol="0" anchor="ctr">
            <a:normAutofit/>
          </a:bodyPr>
          <a:lstStyle/>
          <a:p>
            <a:pPr algn="ctr" indent="0" marL="0">
              <a:buNone/>
            </a:pPr>
            <a:r>
              <a:rPr lang="en-US" sz="1000" b="1" dirty="0">
                <a:solidFill>
                  <a:srgbClr val="092F57"/>
                </a:solidFill>
                <a:latin typeface="Arial" pitchFamily="34" charset="0"/>
                <a:ea typeface="Arial" pitchFamily="34" charset="-122"/>
                <a:cs typeface="Arial" pitchFamily="34" charset="-120"/>
              </a:rPr>
              <a:t>HUMAN REVIEW</a:t>
            </a:r>
            <a:endParaRPr lang="en-US" sz="1000" dirty="0"/>
          </a:p>
        </p:txBody>
      </p:sp>
      <p:sp>
        <p:nvSpPr>
          <p:cNvPr id="15" name="Text 13"/>
          <p:cNvSpPr/>
          <p:nvPr/>
        </p:nvSpPr>
        <p:spPr>
          <a:xfrm>
            <a:off x="896112" y="5138928"/>
            <a:ext cx="3794760" cy="475488"/>
          </a:xfrm>
          <a:prstGeom prst="rect">
            <a:avLst/>
          </a:prstGeom>
          <a:noFill/>
          <a:ln/>
        </p:spPr>
        <p:txBody>
          <a:bodyPr wrap="square" lIns="0" tIns="0" rIns="0" bIns="0" rtlCol="0" anchor="ctr">
            <a:normAutofit/>
          </a:bodyPr>
          <a:lstStyle/>
          <a:p>
            <a:pPr indent="0" marL="0">
              <a:buNone/>
            </a:pPr>
            <a:r>
              <a:rPr lang="en-US" sz="1400" b="1" dirty="0">
                <a:solidFill>
                  <a:srgbClr val="FFFFFF"/>
                </a:solidFill>
              </a:rPr>
              <a:t>MOH: when AI can act, assurance must shift from outputs to actions.</a:t>
            </a:r>
            <a:endParaRPr lang="en-US" sz="1400" dirty="0"/>
          </a:p>
        </p:txBody>
      </p:sp>
      <p:sp>
        <p:nvSpPr>
          <p:cNvPr id="16" name="Shape 14"/>
          <p:cNvSpPr/>
          <p:nvPr/>
        </p:nvSpPr>
        <p:spPr>
          <a:xfrm>
            <a:off x="5577840" y="1719072"/>
            <a:ext cx="5989320" cy="4315968"/>
          </a:xfrm>
          <a:prstGeom prst="roundRect">
            <a:avLst>
              <a:gd name="adj" fmla="val 211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pic>
        <p:nvPicPr>
          <p:cNvPr id="17" name="Image 0" descr="Straits Times report showing a clinician with an AgentSea clinical assistant">
            <a:hlinkClick r:id="rId2" tooltip=""/>
          </p:cNvPr>
          <p:cNvPicPr>
            <a:picLocks noChangeAspect="1"/>
          </p:cNvPicPr>
          <p:nvPr/>
        </p:nvPicPr>
        <p:blipFill>
          <a:blip r:embed="rId1"/>
          <a:stretch>
            <a:fillRect/>
          </a:stretch>
        </p:blipFill>
        <p:spPr>
          <a:xfrm>
            <a:off x="6327648" y="1956816"/>
            <a:ext cx="4498848" cy="3639312"/>
          </a:xfrm>
          <a:prstGeom prst="rect">
            <a:avLst/>
          </a:prstGeom>
        </p:spPr>
      </p:pic>
      <p:sp>
        <p:nvSpPr>
          <p:cNvPr id="18" name="Text 15"/>
          <p:cNvSpPr/>
          <p:nvPr/>
        </p:nvSpPr>
        <p:spPr>
          <a:xfrm>
            <a:off x="5998464" y="5431536"/>
            <a:ext cx="5166360" cy="384048"/>
          </a:xfrm>
          <a:prstGeom prst="rect">
            <a:avLst/>
          </a:prstGeom>
          <a:solidFill>
            <a:srgbClr val="FFF5DA"/>
          </a:solidFill>
          <a:ln/>
        </p:spPr>
        <p:txBody>
          <a:bodyPr wrap="square" lIns="635" tIns="635" rIns="635" bIns="635" rtlCol="0" anchor="ctr">
            <a:normAutofit/>
          </a:bodyPr>
          <a:lstStyle/>
          <a:p>
            <a:pPr algn="ctr" indent="0" marL="0">
              <a:buNone/>
            </a:pPr>
            <a:r>
              <a:rPr lang="en-US" sz="1700" b="1" dirty="0">
                <a:solidFill>
                  <a:srgbClr val="092F57"/>
                </a:solidFill>
              </a:rPr>
              <a:t>The doctor remains responsible for the clinical decision.</a:t>
            </a:r>
            <a:endParaRPr lang="en-US" sz="1700" dirty="0"/>
          </a:p>
        </p:txBody>
      </p:sp>
      <p:sp>
        <p:nvSpPr>
          <p:cNvPr id="19" name="Text 16">
            <a:hlinkClick r:id="rId3"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Source: Singapore Ministry of Health, HIMSS26 APAC speech, 24 Aug 2026</a:t>
            </a:r>
            <a:endParaRPr lang="en-US" sz="1000" dirty="0"/>
          </a:p>
        </p:txBody>
      </p:sp>
      <p:sp>
        <p:nvSpPr>
          <p:cNvPr id="20" name="Text 17"/>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STAKES</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03</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The advantage comes from redesigning work—not merely deploying AI.</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WEF projects creation and displacement at the same time. The transition must be deliberately designed.</a:t>
            </a:r>
            <a:endParaRPr lang="en-US" sz="1500" dirty="0"/>
          </a:p>
        </p:txBody>
      </p:sp>
      <p:sp>
        <p:nvSpPr>
          <p:cNvPr id="7" name="Shape 5"/>
          <p:cNvSpPr/>
          <p:nvPr/>
        </p:nvSpPr>
        <p:spPr>
          <a:xfrm>
            <a:off x="594360" y="1719072"/>
            <a:ext cx="6400800" cy="4315968"/>
          </a:xfrm>
          <a:prstGeom prst="roundRect">
            <a:avLst>
              <a:gd name="adj" fmla="val 211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Text 6"/>
          <p:cNvSpPr/>
          <p:nvPr/>
        </p:nvSpPr>
        <p:spPr>
          <a:xfrm>
            <a:off x="896112" y="1965960"/>
            <a:ext cx="3017520" cy="219456"/>
          </a:xfrm>
          <a:prstGeom prst="rect">
            <a:avLst/>
          </a:prstGeom>
          <a:noFill/>
          <a:ln/>
        </p:spPr>
        <p:txBody>
          <a:bodyPr wrap="square" lIns="0" tIns="0" rIns="0" bIns="0" rtlCol="0" anchor="ctr"/>
          <a:lstStyle/>
          <a:p>
            <a:pPr indent="0" marL="0">
              <a:buNone/>
            </a:pPr>
            <a:r>
              <a:rPr lang="en-US" sz="1000" b="1" spc="110" kern="0" dirty="0">
                <a:solidFill>
                  <a:srgbClr val="728197"/>
                </a:solidFill>
              </a:rPr>
              <a:t>GLOBAL JOB CHANGE BY 2030</a:t>
            </a:r>
            <a:endParaRPr lang="en-US" sz="1000" dirty="0"/>
          </a:p>
        </p:txBody>
      </p:sp>
      <p:sp>
        <p:nvSpPr>
          <p:cNvPr id="9" name="Shape 7"/>
          <p:cNvSpPr/>
          <p:nvPr/>
        </p:nvSpPr>
        <p:spPr>
          <a:xfrm>
            <a:off x="896112" y="4663440"/>
            <a:ext cx="5623560" cy="0"/>
          </a:xfrm>
          <a:prstGeom prst="line">
            <a:avLst/>
          </a:prstGeom>
          <a:noFill/>
          <a:ln w="15240">
            <a:solidFill>
              <a:srgbClr val="12233F"/>
            </a:solidFill>
            <a:prstDash val="solid"/>
          </a:ln>
        </p:spPr>
      </p:sp>
      <p:sp>
        <p:nvSpPr>
          <p:cNvPr id="10" name="Shape 8"/>
          <p:cNvSpPr/>
          <p:nvPr/>
        </p:nvSpPr>
        <p:spPr>
          <a:xfrm>
            <a:off x="1005840" y="2743200"/>
            <a:ext cx="1325880" cy="1920240"/>
          </a:xfrm>
          <a:prstGeom prst="rect">
            <a:avLst/>
          </a:prstGeom>
          <a:solidFill>
            <a:srgbClr val="0C8A78"/>
          </a:solidFill>
          <a:ln w="12700">
            <a:solidFill>
              <a:srgbClr val="0C8A78"/>
            </a:solidFill>
            <a:prstDash val="solid"/>
          </a:ln>
        </p:spPr>
      </p:sp>
      <p:sp>
        <p:nvSpPr>
          <p:cNvPr id="11" name="Text 9"/>
          <p:cNvSpPr/>
          <p:nvPr/>
        </p:nvSpPr>
        <p:spPr>
          <a:xfrm>
            <a:off x="914400" y="223113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+170M</a:t>
            </a:r>
            <a:endParaRPr lang="en-US" sz="2500" dirty="0"/>
          </a:p>
        </p:txBody>
      </p:sp>
      <p:sp>
        <p:nvSpPr>
          <p:cNvPr id="12" name="Text 10"/>
          <p:cNvSpPr/>
          <p:nvPr/>
        </p:nvSpPr>
        <p:spPr>
          <a:xfrm>
            <a:off x="91440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created</a:t>
            </a:r>
            <a:endParaRPr lang="en-US" sz="1400" dirty="0"/>
          </a:p>
        </p:txBody>
      </p:sp>
      <p:sp>
        <p:nvSpPr>
          <p:cNvPr id="13" name="Shape 11"/>
          <p:cNvSpPr/>
          <p:nvPr/>
        </p:nvSpPr>
        <p:spPr>
          <a:xfrm>
            <a:off x="2971800" y="3794760"/>
            <a:ext cx="1325880" cy="868680"/>
          </a:xfrm>
          <a:prstGeom prst="rect">
            <a:avLst/>
          </a:prstGeom>
          <a:solidFill>
            <a:srgbClr val="F5665C"/>
          </a:solidFill>
          <a:ln w="12700">
            <a:solidFill>
              <a:srgbClr val="F5665C"/>
            </a:solidFill>
            <a:prstDash val="solid"/>
          </a:ln>
        </p:spPr>
      </p:sp>
      <p:sp>
        <p:nvSpPr>
          <p:cNvPr id="14" name="Text 12"/>
          <p:cNvSpPr/>
          <p:nvPr/>
        </p:nvSpPr>
        <p:spPr>
          <a:xfrm>
            <a:off x="2880360" y="328269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-92M</a:t>
            </a:r>
            <a:endParaRPr lang="en-US" sz="2500" dirty="0"/>
          </a:p>
        </p:txBody>
      </p:sp>
      <p:sp>
        <p:nvSpPr>
          <p:cNvPr id="15" name="Text 13"/>
          <p:cNvSpPr/>
          <p:nvPr/>
        </p:nvSpPr>
        <p:spPr>
          <a:xfrm>
            <a:off x="288036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displaced</a:t>
            </a:r>
            <a:endParaRPr lang="en-US" sz="1400" dirty="0"/>
          </a:p>
        </p:txBody>
      </p:sp>
      <p:sp>
        <p:nvSpPr>
          <p:cNvPr id="16" name="Shape 14"/>
          <p:cNvSpPr/>
          <p:nvPr/>
        </p:nvSpPr>
        <p:spPr>
          <a:xfrm>
            <a:off x="4937760" y="3429000"/>
            <a:ext cx="1325880" cy="1234440"/>
          </a:xfrm>
          <a:prstGeom prst="rect">
            <a:avLst/>
          </a:prstGeom>
          <a:solidFill>
            <a:srgbClr val="2F6FED"/>
          </a:solidFill>
          <a:ln w="12700">
            <a:solidFill>
              <a:srgbClr val="2F6FED"/>
            </a:solidFill>
            <a:prstDash val="solid"/>
          </a:ln>
        </p:spPr>
      </p:sp>
      <p:sp>
        <p:nvSpPr>
          <p:cNvPr id="17" name="Text 15"/>
          <p:cNvSpPr/>
          <p:nvPr/>
        </p:nvSpPr>
        <p:spPr>
          <a:xfrm>
            <a:off x="4846320" y="2916936"/>
            <a:ext cx="1508760" cy="384048"/>
          </a:xfrm>
          <a:prstGeom prst="rect">
            <a:avLst/>
          </a:prstGeom>
          <a:noFill/>
          <a:ln/>
        </p:spPr>
        <p:txBody>
          <a:bodyPr wrap="square" lIns="0" tIns="0" rIns="0" bIns="0" rtlCol="0" anchor="ctr"/>
          <a:lstStyle/>
          <a:p>
            <a:pPr algn="ctr" indent="0" marL="0">
              <a:buNone/>
            </a:pPr>
            <a:r>
              <a:rPr lang="en-US" sz="2500" b="1" dirty="0">
                <a:solidFill>
                  <a:srgbClr val="12233F"/>
                </a:solidFill>
              </a:rPr>
              <a:t>+78M</a:t>
            </a:r>
            <a:endParaRPr lang="en-US" sz="2500" dirty="0"/>
          </a:p>
        </p:txBody>
      </p:sp>
      <p:sp>
        <p:nvSpPr>
          <p:cNvPr id="18" name="Text 16"/>
          <p:cNvSpPr/>
          <p:nvPr/>
        </p:nvSpPr>
        <p:spPr>
          <a:xfrm>
            <a:off x="4846320" y="4846320"/>
            <a:ext cx="1508760" cy="274320"/>
          </a:xfrm>
          <a:prstGeom prst="rect">
            <a:avLst/>
          </a:prstGeom>
          <a:noFill/>
          <a:ln/>
        </p:spPr>
        <p:txBody>
          <a:bodyPr wrap="square" lIns="0" tIns="0" rIns="0" bIns="0" rtlCol="0" anchor="ctr"/>
          <a:lstStyle/>
          <a:p>
            <a:pPr algn="ctr" indent="0" marL="0">
              <a:buNone/>
            </a:pPr>
            <a:r>
              <a:rPr lang="en-US" sz="1400" b="1" dirty="0">
                <a:solidFill>
                  <a:srgbClr val="4F6176"/>
                </a:solidFill>
              </a:rPr>
              <a:t>net</a:t>
            </a:r>
            <a:endParaRPr lang="en-US" sz="1400" dirty="0"/>
          </a:p>
        </p:txBody>
      </p:sp>
      <p:sp>
        <p:nvSpPr>
          <p:cNvPr id="19" name="Text 17"/>
          <p:cNvSpPr/>
          <p:nvPr/>
        </p:nvSpPr>
        <p:spPr>
          <a:xfrm>
            <a:off x="914400" y="5367528"/>
            <a:ext cx="5440680" cy="347472"/>
          </a:xfrm>
          <a:prstGeom prst="rect">
            <a:avLst/>
          </a:prstGeom>
          <a:noFill/>
          <a:ln/>
        </p:spPr>
        <p:txBody>
          <a:bodyPr wrap="square" lIns="0" tIns="0" rIns="0" bIns="0" rtlCol="0" anchor="ctr"/>
          <a:lstStyle/>
          <a:p>
            <a:pPr algn="ctr" indent="0" marL="0">
              <a:buNone/>
            </a:pPr>
            <a:r>
              <a:rPr lang="en-US" sz="1700" b="1" dirty="0">
                <a:solidFill>
                  <a:srgbClr val="092F57"/>
                </a:solidFill>
              </a:rPr>
              <a:t>22% of today's formal jobs are projected to be disrupted.</a:t>
            </a:r>
            <a:endParaRPr lang="en-US" sz="1700" dirty="0"/>
          </a:p>
        </p:txBody>
      </p:sp>
      <p:sp>
        <p:nvSpPr>
          <p:cNvPr id="20" name="Shape 18"/>
          <p:cNvSpPr/>
          <p:nvPr/>
        </p:nvSpPr>
        <p:spPr>
          <a:xfrm>
            <a:off x="7269480" y="1719072"/>
            <a:ext cx="4297680" cy="4315968"/>
          </a:xfrm>
          <a:prstGeom prst="roundRect">
            <a:avLst>
              <a:gd name="adj" fmla="val 2128"/>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21" name="Text 19"/>
          <p:cNvSpPr/>
          <p:nvPr/>
        </p:nvSpPr>
        <p:spPr>
          <a:xfrm>
            <a:off x="7589520" y="1984248"/>
            <a:ext cx="3474720" cy="228600"/>
          </a:xfrm>
          <a:prstGeom prst="rect">
            <a:avLst/>
          </a:prstGeom>
          <a:noFill/>
          <a:ln/>
        </p:spPr>
        <p:txBody>
          <a:bodyPr wrap="square" lIns="0" tIns="0" rIns="0" bIns="0" rtlCol="0" anchor="ctr"/>
          <a:lstStyle/>
          <a:p>
            <a:pPr indent="0" marL="0">
              <a:buNone/>
            </a:pPr>
            <a:r>
              <a:rPr lang="en-US" sz="1000" b="1" spc="110" kern="0" dirty="0">
                <a:solidFill>
                  <a:srgbClr val="55D6BE"/>
                </a:solidFill>
              </a:rPr>
              <a:t>THE EMPLOYER RESPONSE</a:t>
            </a:r>
            <a:endParaRPr lang="en-US" sz="1000" dirty="0"/>
          </a:p>
        </p:txBody>
      </p:sp>
      <p:sp>
        <p:nvSpPr>
          <p:cNvPr id="22" name="Text 20"/>
          <p:cNvSpPr/>
          <p:nvPr/>
        </p:nvSpPr>
        <p:spPr>
          <a:xfrm>
            <a:off x="7571232" y="2450592"/>
            <a:ext cx="1097280" cy="502920"/>
          </a:xfrm>
          <a:prstGeom prst="rect">
            <a:avLst/>
          </a:prstGeom>
          <a:noFill/>
          <a:ln/>
        </p:spPr>
        <p:txBody>
          <a:bodyPr wrap="square" lIns="0" tIns="0" rIns="0" bIns="0" rtlCol="0" anchor="ctr"/>
          <a:lstStyle/>
          <a:p>
            <a:pPr indent="0" marL="0">
              <a:buNone/>
            </a:pPr>
            <a:r>
              <a:rPr lang="en-US" sz="3100" b="1" dirty="0">
                <a:solidFill>
                  <a:srgbClr val="55D6BE"/>
                </a:solidFill>
              </a:rPr>
              <a:t>86%</a:t>
            </a:r>
            <a:endParaRPr lang="en-US" sz="3100" dirty="0"/>
          </a:p>
        </p:txBody>
      </p:sp>
      <p:sp>
        <p:nvSpPr>
          <p:cNvPr id="23" name="Text 21"/>
          <p:cNvSpPr/>
          <p:nvPr/>
        </p:nvSpPr>
        <p:spPr>
          <a:xfrm>
            <a:off x="8732520" y="24780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expect AI to transform their business</a:t>
            </a:r>
            <a:endParaRPr lang="en-US" sz="1500" dirty="0"/>
          </a:p>
        </p:txBody>
      </p:sp>
      <p:sp>
        <p:nvSpPr>
          <p:cNvPr id="24" name="Text 22"/>
          <p:cNvSpPr/>
          <p:nvPr/>
        </p:nvSpPr>
        <p:spPr>
          <a:xfrm>
            <a:off x="7571232" y="3364992"/>
            <a:ext cx="1097280" cy="502920"/>
          </a:xfrm>
          <a:prstGeom prst="rect">
            <a:avLst/>
          </a:prstGeom>
          <a:noFill/>
          <a:ln/>
        </p:spPr>
        <p:txBody>
          <a:bodyPr wrap="square" lIns="0" tIns="0" rIns="0" bIns="0" rtlCol="0" anchor="ctr"/>
          <a:lstStyle/>
          <a:p>
            <a:pPr indent="0" marL="0">
              <a:buNone/>
            </a:pPr>
            <a:r>
              <a:rPr lang="en-US" sz="3100" b="1" dirty="0">
                <a:solidFill>
                  <a:srgbClr val="55D6BE"/>
                </a:solidFill>
              </a:rPr>
              <a:t>77%</a:t>
            </a:r>
            <a:endParaRPr lang="en-US" sz="3100" dirty="0"/>
          </a:p>
        </p:txBody>
      </p:sp>
      <p:sp>
        <p:nvSpPr>
          <p:cNvPr id="25" name="Text 23"/>
          <p:cNvSpPr/>
          <p:nvPr/>
        </p:nvSpPr>
        <p:spPr>
          <a:xfrm>
            <a:off x="8732520" y="33924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plan to upskill workers for AI</a:t>
            </a:r>
            <a:endParaRPr lang="en-US" sz="1500" dirty="0"/>
          </a:p>
        </p:txBody>
      </p:sp>
      <p:sp>
        <p:nvSpPr>
          <p:cNvPr id="26" name="Text 24"/>
          <p:cNvSpPr/>
          <p:nvPr/>
        </p:nvSpPr>
        <p:spPr>
          <a:xfrm>
            <a:off x="7571232" y="4279392"/>
            <a:ext cx="1097280" cy="502920"/>
          </a:xfrm>
          <a:prstGeom prst="rect">
            <a:avLst/>
          </a:prstGeom>
          <a:noFill/>
          <a:ln/>
        </p:spPr>
        <p:txBody>
          <a:bodyPr wrap="square" lIns="0" tIns="0" rIns="0" bIns="0" rtlCol="0" anchor="ctr"/>
          <a:lstStyle/>
          <a:p>
            <a:pPr indent="0" marL="0">
              <a:buNone/>
            </a:pPr>
            <a:r>
              <a:rPr lang="en-US" sz="3100" b="1" dirty="0">
                <a:solidFill>
                  <a:srgbClr val="F4B942"/>
                </a:solidFill>
              </a:rPr>
              <a:t>41%</a:t>
            </a:r>
            <a:endParaRPr lang="en-US" sz="3100" dirty="0"/>
          </a:p>
        </p:txBody>
      </p:sp>
      <p:sp>
        <p:nvSpPr>
          <p:cNvPr id="27" name="Text 25"/>
          <p:cNvSpPr/>
          <p:nvPr/>
        </p:nvSpPr>
        <p:spPr>
          <a:xfrm>
            <a:off x="8732520" y="4306824"/>
            <a:ext cx="2331720" cy="475488"/>
          </a:xfrm>
          <a:prstGeom prst="rect">
            <a:avLst/>
          </a:prstGeom>
          <a:noFill/>
          <a:ln/>
        </p:spPr>
        <p:txBody>
          <a:bodyPr wrap="square" lIns="0" tIns="0" rIns="0" bIns="0" rtlCol="0" anchor="ctr">
            <a:normAutofit/>
          </a:bodyPr>
          <a:lstStyle/>
          <a:p>
            <a:pPr indent="0" marL="0">
              <a:buNone/>
            </a:pPr>
            <a:r>
              <a:rPr lang="en-US" sz="1500" dirty="0">
                <a:solidFill>
                  <a:srgbClr val="FFFFFF"/>
                </a:solidFill>
              </a:rPr>
              <a:t>also expect workforce reductions from automation</a:t>
            </a:r>
            <a:endParaRPr lang="en-US" sz="1500" dirty="0"/>
          </a:p>
        </p:txBody>
      </p:sp>
      <p:sp>
        <p:nvSpPr>
          <p:cNvPr id="28" name="Shape 26"/>
          <p:cNvSpPr/>
          <p:nvPr/>
        </p:nvSpPr>
        <p:spPr>
          <a:xfrm>
            <a:off x="7571232" y="5010912"/>
            <a:ext cx="3547872" cy="749808"/>
          </a:xfrm>
          <a:prstGeom prst="roundRect">
            <a:avLst>
              <a:gd name="adj" fmla="val 9756"/>
            </a:avLst>
          </a:prstGeom>
          <a:solidFill>
            <a:srgbClr val="F4B942"/>
          </a:solidFill>
          <a:ln w="12700">
            <a:solidFill>
              <a:srgbClr val="F4B942"/>
            </a:solidFill>
            <a:prstDash val="solid"/>
          </a:ln>
        </p:spPr>
      </p:sp>
      <p:sp>
        <p:nvSpPr>
          <p:cNvPr id="29" name="Text 27"/>
          <p:cNvSpPr/>
          <p:nvPr/>
        </p:nvSpPr>
        <p:spPr>
          <a:xfrm>
            <a:off x="7772400" y="5102352"/>
            <a:ext cx="3145536" cy="182880"/>
          </a:xfrm>
          <a:prstGeom prst="rect">
            <a:avLst/>
          </a:prstGeom>
          <a:noFill/>
          <a:ln/>
        </p:spPr>
        <p:txBody>
          <a:bodyPr wrap="square" lIns="0" tIns="0" rIns="0" bIns="0" rtlCol="0" anchor="ctr"/>
          <a:lstStyle/>
          <a:p>
            <a:pPr algn="ctr" indent="0" marL="0">
              <a:buNone/>
            </a:pPr>
            <a:r>
              <a:rPr lang="en-US" sz="950" b="1" spc="70" kern="0" dirty="0">
                <a:solidFill>
                  <a:srgbClr val="092F57"/>
                </a:solidFill>
              </a:rPr>
              <a:t>THE OPPORTUNITY</a:t>
            </a:r>
            <a:endParaRPr lang="en-US" sz="950" dirty="0"/>
          </a:p>
        </p:txBody>
      </p:sp>
      <p:sp>
        <p:nvSpPr>
          <p:cNvPr id="30" name="Text 28"/>
          <p:cNvSpPr/>
          <p:nvPr/>
        </p:nvSpPr>
        <p:spPr>
          <a:xfrm>
            <a:off x="7754112" y="5340096"/>
            <a:ext cx="3182112" cy="256032"/>
          </a:xfrm>
          <a:prstGeom prst="rect">
            <a:avLst/>
          </a:prstGeom>
          <a:noFill/>
          <a:ln/>
        </p:spPr>
        <p:txBody>
          <a:bodyPr wrap="square" lIns="0" tIns="0" rIns="0" bIns="0" rtlCol="0" anchor="ctr">
            <a:normAutofit/>
          </a:bodyPr>
          <a:lstStyle/>
          <a:p>
            <a:pPr algn="ctr" indent="0" marL="0">
              <a:buNone/>
            </a:pPr>
            <a:r>
              <a:rPr lang="en-US" sz="1600" b="1" dirty="0">
                <a:solidFill>
                  <a:srgbClr val="092F57"/>
                </a:solidFill>
              </a:rPr>
              <a:t>Make agent management part of the job.</a:t>
            </a:r>
            <a:endParaRPr lang="en-US" sz="1600" dirty="0"/>
          </a:p>
        </p:txBody>
      </p:sp>
      <p:sp>
        <p:nvSpPr>
          <p:cNvPr id="31" name="Text 29">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Sources: WEF Future of Jobs Report 2025; WEF workforce strategies</a:t>
            </a:r>
            <a:endParaRPr lang="en-US" sz="1000" dirty="0"/>
          </a:p>
        </p:txBody>
      </p:sp>
      <p:sp>
        <p:nvSpPr>
          <p:cNvPr id="32" name="Text 30"/>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OUR OPERATING MODEL</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04</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Keep a human accountable at every consequential gate.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At Tertiary, agents support website and software workflows—and we help clients apply the same pattern.</a:t>
            </a:r>
            <a:endParaRPr lang="en-US" sz="1500" dirty="0"/>
          </a:p>
        </p:txBody>
      </p:sp>
      <p:sp>
        <p:nvSpPr>
          <p:cNvPr id="7" name="Shape 5"/>
          <p:cNvSpPr/>
          <p:nvPr/>
        </p:nvSpPr>
        <p:spPr>
          <a:xfrm>
            <a:off x="621792" y="1627632"/>
            <a:ext cx="1280160" cy="310896"/>
          </a:xfrm>
          <a:prstGeom prst="roundRect">
            <a:avLst>
              <a:gd name="adj" fmla="val 47059"/>
            </a:avLst>
          </a:prstGeom>
          <a:solidFill>
            <a:srgbClr val="E9F8F4"/>
          </a:solidFill>
          <a:ln w="12700">
            <a:solidFill>
              <a:srgbClr val="E9F8F4"/>
            </a:solidFill>
            <a:prstDash val="solid"/>
          </a:ln>
        </p:spPr>
      </p:sp>
      <p:sp>
        <p:nvSpPr>
          <p:cNvPr id="8" name="Text 6"/>
          <p:cNvSpPr/>
          <p:nvPr/>
        </p:nvSpPr>
        <p:spPr>
          <a:xfrm>
            <a:off x="621792" y="1645920"/>
            <a:ext cx="1280160" cy="201168"/>
          </a:xfrm>
          <a:prstGeom prst="rect">
            <a:avLst/>
          </a:prstGeom>
          <a:noFill/>
          <a:ln/>
        </p:spPr>
        <p:txBody>
          <a:bodyPr wrap="square" lIns="0" tIns="0" rIns="0" bIns="0" rtlCol="0" anchor="ctr">
            <a:normAutofit/>
          </a:bodyPr>
          <a:lstStyle/>
          <a:p>
            <a:pPr algn="ctr" indent="0" marL="0">
              <a:buNone/>
            </a:pPr>
            <a:r>
              <a:rPr lang="en-US" sz="1000" b="1" dirty="0">
                <a:solidFill>
                  <a:srgbClr val="0B6E75"/>
                </a:solidFill>
                <a:latin typeface="Arial" pitchFamily="34" charset="0"/>
                <a:ea typeface="Arial" pitchFamily="34" charset="-122"/>
                <a:cs typeface="Arial" pitchFamily="34" charset="-120"/>
              </a:rPr>
              <a:t>LIVE PRACTICE</a:t>
            </a:r>
            <a:endParaRPr lang="en-US" sz="1000" dirty="0"/>
          </a:p>
        </p:txBody>
      </p:sp>
      <p:sp>
        <p:nvSpPr>
          <p:cNvPr id="9" name="Shape 7"/>
          <p:cNvSpPr/>
          <p:nvPr/>
        </p:nvSpPr>
        <p:spPr>
          <a:xfrm>
            <a:off x="658368"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0" name="Shape 8"/>
          <p:cNvSpPr/>
          <p:nvPr/>
        </p:nvSpPr>
        <p:spPr>
          <a:xfrm>
            <a:off x="841248" y="2359152"/>
            <a:ext cx="502920" cy="502920"/>
          </a:xfrm>
          <a:prstGeom prst="ellipse">
            <a:avLst/>
          </a:prstGeom>
          <a:solidFill>
            <a:srgbClr val="2F6FED"/>
          </a:solidFill>
          <a:ln w="12700">
            <a:solidFill>
              <a:srgbClr val="2F6FED"/>
            </a:solidFill>
            <a:prstDash val="solid"/>
          </a:ln>
        </p:spPr>
      </p:sp>
      <p:sp>
        <p:nvSpPr>
          <p:cNvPr id="11" name="Text 9"/>
          <p:cNvSpPr/>
          <p:nvPr/>
        </p:nvSpPr>
        <p:spPr>
          <a:xfrm>
            <a:off x="841248"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2" name="Text 10"/>
          <p:cNvSpPr/>
          <p:nvPr/>
        </p:nvSpPr>
        <p:spPr>
          <a:xfrm>
            <a:off x="859536"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Frame</a:t>
            </a:r>
            <a:endParaRPr lang="en-US" sz="2300" dirty="0"/>
          </a:p>
        </p:txBody>
      </p:sp>
      <p:sp>
        <p:nvSpPr>
          <p:cNvPr id="13" name="Text 11"/>
          <p:cNvSpPr/>
          <p:nvPr/>
        </p:nvSpPr>
        <p:spPr>
          <a:xfrm>
            <a:off x="859536"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Human sets the goal, context and constraints.</a:t>
            </a:r>
            <a:endParaRPr lang="en-US" sz="1500" dirty="0"/>
          </a:p>
        </p:txBody>
      </p:sp>
      <p:sp>
        <p:nvSpPr>
          <p:cNvPr id="14" name="Shape 12"/>
          <p:cNvSpPr/>
          <p:nvPr/>
        </p:nvSpPr>
        <p:spPr>
          <a:xfrm>
            <a:off x="3108960" y="2971800"/>
            <a:ext cx="310896" cy="566928"/>
          </a:xfrm>
          <a:prstGeom prst="chevron">
            <a:avLst/>
          </a:prstGeom>
          <a:solidFill>
            <a:srgbClr val="0C8A78"/>
          </a:solidFill>
          <a:ln w="12700">
            <a:solidFill>
              <a:srgbClr val="0C8A78">
                <a:alpha val="0"/>
              </a:srgbClr>
            </a:solidFill>
            <a:prstDash val="solid"/>
          </a:ln>
        </p:spPr>
      </p:sp>
      <p:sp>
        <p:nvSpPr>
          <p:cNvPr id="15" name="Shape 13"/>
          <p:cNvSpPr/>
          <p:nvPr/>
        </p:nvSpPr>
        <p:spPr>
          <a:xfrm>
            <a:off x="3429000"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6" name="Shape 14"/>
          <p:cNvSpPr/>
          <p:nvPr/>
        </p:nvSpPr>
        <p:spPr>
          <a:xfrm>
            <a:off x="3611880" y="2359152"/>
            <a:ext cx="502920" cy="502920"/>
          </a:xfrm>
          <a:prstGeom prst="ellipse">
            <a:avLst/>
          </a:prstGeom>
          <a:solidFill>
            <a:srgbClr val="0C8A78"/>
          </a:solidFill>
          <a:ln w="12700">
            <a:solidFill>
              <a:srgbClr val="0C8A78"/>
            </a:solidFill>
            <a:prstDash val="solid"/>
          </a:ln>
        </p:spPr>
      </p:sp>
      <p:sp>
        <p:nvSpPr>
          <p:cNvPr id="17" name="Text 15"/>
          <p:cNvSpPr/>
          <p:nvPr/>
        </p:nvSpPr>
        <p:spPr>
          <a:xfrm>
            <a:off x="3611880"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Text 16"/>
          <p:cNvSpPr/>
          <p:nvPr/>
        </p:nvSpPr>
        <p:spPr>
          <a:xfrm>
            <a:off x="3630168"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Orchestrate</a:t>
            </a:r>
            <a:endParaRPr lang="en-US" sz="2300" dirty="0"/>
          </a:p>
        </p:txBody>
      </p:sp>
      <p:sp>
        <p:nvSpPr>
          <p:cNvPr id="19" name="Text 17"/>
          <p:cNvSpPr/>
          <p:nvPr/>
        </p:nvSpPr>
        <p:spPr>
          <a:xfrm>
            <a:off x="3630168"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Agents research, build, test and monitor.</a:t>
            </a:r>
            <a:endParaRPr lang="en-US" sz="1500" dirty="0"/>
          </a:p>
        </p:txBody>
      </p:sp>
      <p:sp>
        <p:nvSpPr>
          <p:cNvPr id="20" name="Shape 18"/>
          <p:cNvSpPr/>
          <p:nvPr/>
        </p:nvSpPr>
        <p:spPr>
          <a:xfrm>
            <a:off x="5879592" y="2971800"/>
            <a:ext cx="310896" cy="566928"/>
          </a:xfrm>
          <a:prstGeom prst="chevron">
            <a:avLst/>
          </a:prstGeom>
          <a:solidFill>
            <a:srgbClr val="0C8A78"/>
          </a:solidFill>
          <a:ln w="12700">
            <a:solidFill>
              <a:srgbClr val="0C8A78">
                <a:alpha val="0"/>
              </a:srgbClr>
            </a:solidFill>
            <a:prstDash val="solid"/>
          </a:ln>
        </p:spPr>
      </p:sp>
      <p:sp>
        <p:nvSpPr>
          <p:cNvPr id="21" name="Shape 19"/>
          <p:cNvSpPr/>
          <p:nvPr/>
        </p:nvSpPr>
        <p:spPr>
          <a:xfrm>
            <a:off x="6199632"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22" name="Shape 20"/>
          <p:cNvSpPr/>
          <p:nvPr/>
        </p:nvSpPr>
        <p:spPr>
          <a:xfrm>
            <a:off x="6382512" y="2359152"/>
            <a:ext cx="502920" cy="502920"/>
          </a:xfrm>
          <a:prstGeom prst="ellipse">
            <a:avLst/>
          </a:prstGeom>
          <a:solidFill>
            <a:srgbClr val="F4B942"/>
          </a:solidFill>
          <a:ln w="12700">
            <a:solidFill>
              <a:srgbClr val="F4B942"/>
            </a:solidFill>
            <a:prstDash val="solid"/>
          </a:ln>
        </p:spPr>
      </p:sp>
      <p:sp>
        <p:nvSpPr>
          <p:cNvPr id="23" name="Text 21"/>
          <p:cNvSpPr/>
          <p:nvPr/>
        </p:nvSpPr>
        <p:spPr>
          <a:xfrm>
            <a:off x="6382512"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4" name="Text 22"/>
          <p:cNvSpPr/>
          <p:nvPr/>
        </p:nvSpPr>
        <p:spPr>
          <a:xfrm>
            <a:off x="6400800"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Challenge</a:t>
            </a:r>
            <a:endParaRPr lang="en-US" sz="2300" dirty="0"/>
          </a:p>
        </p:txBody>
      </p:sp>
      <p:sp>
        <p:nvSpPr>
          <p:cNvPr id="25" name="Text 23"/>
          <p:cNvSpPr/>
          <p:nvPr/>
        </p:nvSpPr>
        <p:spPr>
          <a:xfrm>
            <a:off x="6400800"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Human reviews evidence, risks and exceptions.</a:t>
            </a:r>
            <a:endParaRPr lang="en-US" sz="1500" dirty="0"/>
          </a:p>
        </p:txBody>
      </p:sp>
      <p:sp>
        <p:nvSpPr>
          <p:cNvPr id="26" name="Shape 24"/>
          <p:cNvSpPr/>
          <p:nvPr/>
        </p:nvSpPr>
        <p:spPr>
          <a:xfrm>
            <a:off x="8650224" y="2971800"/>
            <a:ext cx="310896" cy="566928"/>
          </a:xfrm>
          <a:prstGeom prst="chevron">
            <a:avLst/>
          </a:prstGeom>
          <a:solidFill>
            <a:srgbClr val="0C8A78"/>
          </a:solidFill>
          <a:ln w="12700">
            <a:solidFill>
              <a:srgbClr val="0C8A78">
                <a:alpha val="0"/>
              </a:srgbClr>
            </a:solidFill>
            <a:prstDash val="solid"/>
          </a:ln>
        </p:spPr>
      </p:sp>
      <p:sp>
        <p:nvSpPr>
          <p:cNvPr id="27" name="Shape 25"/>
          <p:cNvSpPr/>
          <p:nvPr/>
        </p:nvSpPr>
        <p:spPr>
          <a:xfrm>
            <a:off x="8970264" y="2148840"/>
            <a:ext cx="2423160" cy="2331720"/>
          </a:xfrm>
          <a:prstGeom prst="roundRect">
            <a:avLst>
              <a:gd name="adj" fmla="val 3922"/>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28" name="Shape 26"/>
          <p:cNvSpPr/>
          <p:nvPr/>
        </p:nvSpPr>
        <p:spPr>
          <a:xfrm>
            <a:off x="9153144" y="2359152"/>
            <a:ext cx="502920" cy="502920"/>
          </a:xfrm>
          <a:prstGeom prst="ellipse">
            <a:avLst/>
          </a:prstGeom>
          <a:solidFill>
            <a:srgbClr val="F5665C"/>
          </a:solidFill>
          <a:ln w="12700">
            <a:solidFill>
              <a:srgbClr val="F5665C"/>
            </a:solidFill>
            <a:prstDash val="solid"/>
          </a:ln>
        </p:spPr>
      </p:sp>
      <p:sp>
        <p:nvSpPr>
          <p:cNvPr id="29" name="Text 27"/>
          <p:cNvSpPr/>
          <p:nvPr/>
        </p:nvSpPr>
        <p:spPr>
          <a:xfrm>
            <a:off x="9153144" y="2484882"/>
            <a:ext cx="502920" cy="201168"/>
          </a:xfrm>
          <a:prstGeom prst="rect">
            <a:avLst/>
          </a:prstGeom>
          <a:noFill/>
          <a:ln/>
        </p:spPr>
        <p:txBody>
          <a:bodyPr wrap="square" lIns="0" tIns="0" rIns="0" bIns="0" rtlCol="0" anchor="ctr">
            <a:normAutofit/>
          </a:bodyP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0" name="Text 28"/>
          <p:cNvSpPr/>
          <p:nvPr/>
        </p:nvSpPr>
        <p:spPr>
          <a:xfrm>
            <a:off x="9171432" y="2999232"/>
            <a:ext cx="1965960" cy="347472"/>
          </a:xfrm>
          <a:prstGeom prst="rect">
            <a:avLst/>
          </a:prstGeom>
          <a:noFill/>
          <a:ln/>
        </p:spPr>
        <p:txBody>
          <a:bodyPr wrap="square" lIns="0" tIns="0" rIns="0" bIns="0" rtlCol="0" anchor="ctr"/>
          <a:lstStyle/>
          <a:p>
            <a:pPr indent="0" marL="0">
              <a:buNone/>
            </a:pPr>
            <a:r>
              <a:rPr lang="en-US" sz="2300" b="1" dirty="0">
                <a:solidFill>
                  <a:srgbClr val="12233F"/>
                </a:solidFill>
              </a:rPr>
              <a:t>Decide</a:t>
            </a:r>
            <a:endParaRPr lang="en-US" sz="2300" dirty="0"/>
          </a:p>
        </p:txBody>
      </p:sp>
      <p:sp>
        <p:nvSpPr>
          <p:cNvPr id="31" name="Text 29"/>
          <p:cNvSpPr/>
          <p:nvPr/>
        </p:nvSpPr>
        <p:spPr>
          <a:xfrm>
            <a:off x="9171432" y="3456432"/>
            <a:ext cx="1901952" cy="713232"/>
          </a:xfrm>
          <a:prstGeom prst="rect">
            <a:avLst/>
          </a:prstGeom>
          <a:noFill/>
          <a:ln/>
        </p:spPr>
        <p:txBody>
          <a:bodyPr wrap="square" lIns="0" tIns="0" rIns="0" bIns="0" rtlCol="0" anchor="ctr">
            <a:normAutofit/>
          </a:bodyPr>
          <a:lstStyle/>
          <a:p>
            <a:pPr indent="0" marL="0">
              <a:buNone/>
            </a:pPr>
            <a:r>
              <a:rPr lang="en-US" sz="1500" dirty="0">
                <a:solidFill>
                  <a:srgbClr val="4F6176"/>
                </a:solidFill>
              </a:rPr>
              <a:t>Named owner approves release and remains accountable.</a:t>
            </a:r>
            <a:endParaRPr lang="en-US" sz="1500" dirty="0"/>
          </a:p>
        </p:txBody>
      </p:sp>
      <p:sp>
        <p:nvSpPr>
          <p:cNvPr id="32" name="Shape 30"/>
          <p:cNvSpPr/>
          <p:nvPr/>
        </p:nvSpPr>
        <p:spPr>
          <a:xfrm>
            <a:off x="658368" y="4828032"/>
            <a:ext cx="10744200" cy="914400"/>
          </a:xfrm>
          <a:prstGeom prst="roundRect">
            <a:avLst>
              <a:gd name="adj" fmla="val 10000"/>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33" name="Text 31"/>
          <p:cNvSpPr/>
          <p:nvPr/>
        </p:nvSpPr>
        <p:spPr>
          <a:xfrm>
            <a:off x="914400" y="5001768"/>
            <a:ext cx="1234440" cy="201168"/>
          </a:xfrm>
          <a:prstGeom prst="rect">
            <a:avLst/>
          </a:prstGeom>
          <a:noFill/>
          <a:ln/>
        </p:spPr>
        <p:txBody>
          <a:bodyPr wrap="square" lIns="0" tIns="0" rIns="0" bIns="0" rtlCol="0" anchor="ctr"/>
          <a:lstStyle/>
          <a:p>
            <a:pPr indent="0" marL="0">
              <a:buNone/>
            </a:pPr>
            <a:r>
              <a:rPr lang="en-US" sz="950" b="1" spc="110" kern="0" dirty="0">
                <a:solidFill>
                  <a:srgbClr val="55D6BE"/>
                </a:solidFill>
              </a:rPr>
              <a:t>THE VALUE</a:t>
            </a:r>
            <a:endParaRPr lang="en-US" sz="950" dirty="0"/>
          </a:p>
        </p:txBody>
      </p:sp>
      <p:sp>
        <p:nvSpPr>
          <p:cNvPr id="34" name="Text 32"/>
          <p:cNvSpPr/>
          <p:nvPr/>
        </p:nvSpPr>
        <p:spPr>
          <a:xfrm>
            <a:off x="2286000" y="4937760"/>
            <a:ext cx="8549640" cy="411480"/>
          </a:xfrm>
          <a:prstGeom prst="rect">
            <a:avLst/>
          </a:prstGeom>
          <a:noFill/>
          <a:ln/>
        </p:spPr>
        <p:txBody>
          <a:bodyPr wrap="square" lIns="0" tIns="0" rIns="0" bIns="0" rtlCol="0" anchor="ctr">
            <a:normAutofit/>
          </a:bodyPr>
          <a:lstStyle/>
          <a:p>
            <a:pPr algn="l" indent="0" marL="0">
              <a:buNone/>
            </a:pPr>
            <a:r>
              <a:rPr lang="en-US" sz="1950" b="1" dirty="0">
                <a:solidFill>
                  <a:srgbClr val="FFFFFF"/>
                </a:solidFill>
              </a:rPr>
              <a:t>Agents increase throughput. Humans protect judgement and accountability.</a:t>
            </a:r>
            <a:endParaRPr lang="en-US" sz="1950" dirty="0"/>
          </a:p>
        </p:txBody>
      </p:sp>
      <p:sp>
        <p:nvSpPr>
          <p:cNvPr id="35" name="Text 33">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Tertiary Infotech Academy practitioner experience (websites and software projects)</a:t>
            </a:r>
            <a:endParaRPr lang="en-US" sz="1000" dirty="0"/>
          </a:p>
        </p:txBody>
      </p:sp>
      <p:sp>
        <p:nvSpPr>
          <p:cNvPr id="36" name="Text 34"/>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PROBLEM</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05</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AI deployment creates adoption debt when roles lag behind.</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If identity, decision rights and accountability remain unresolved, resistance compounds.</a:t>
            </a:r>
            <a:endParaRPr lang="en-US" sz="1500" dirty="0"/>
          </a:p>
        </p:txBody>
      </p:sp>
      <p:sp>
        <p:nvSpPr>
          <p:cNvPr id="7" name="Shape 5"/>
          <p:cNvSpPr/>
          <p:nvPr/>
        </p:nvSpPr>
        <p:spPr>
          <a:xfrm>
            <a:off x="640080" y="2834640"/>
            <a:ext cx="10881360" cy="0"/>
          </a:xfrm>
          <a:prstGeom prst="line">
            <a:avLst/>
          </a:prstGeom>
          <a:noFill/>
          <a:ln w="50800">
            <a:solidFill>
              <a:srgbClr val="2F6FED"/>
            </a:solidFill>
            <a:prstDash val="solid"/>
          </a:ln>
        </p:spPr>
      </p:sp>
      <p:sp>
        <p:nvSpPr>
          <p:cNvPr id="8" name="Text 6"/>
          <p:cNvSpPr/>
          <p:nvPr/>
        </p:nvSpPr>
        <p:spPr>
          <a:xfrm>
            <a:off x="713232" y="1719072"/>
            <a:ext cx="1737360" cy="219456"/>
          </a:xfrm>
          <a:prstGeom prst="rect">
            <a:avLst/>
          </a:prstGeom>
          <a:noFill/>
          <a:ln/>
        </p:spPr>
        <p:txBody>
          <a:bodyPr wrap="square" lIns="0" tIns="0" rIns="0" bIns="0" rtlCol="0" anchor="ctr"/>
          <a:lstStyle/>
          <a:p>
            <a:pPr indent="0" marL="0">
              <a:buNone/>
            </a:pPr>
            <a:r>
              <a:rPr lang="en-US" sz="1000" b="1" spc="120" kern="0" dirty="0">
                <a:solidFill>
                  <a:srgbClr val="2F6FED"/>
                </a:solidFill>
              </a:rPr>
              <a:t>WHAT WE HEAR</a:t>
            </a:r>
            <a:endParaRPr lang="en-US" sz="1000" dirty="0"/>
          </a:p>
        </p:txBody>
      </p:sp>
      <p:sp>
        <p:nvSpPr>
          <p:cNvPr id="9" name="Shape 7"/>
          <p:cNvSpPr/>
          <p:nvPr/>
        </p:nvSpPr>
        <p:spPr>
          <a:xfrm>
            <a:off x="731520" y="2011680"/>
            <a:ext cx="3154680" cy="566928"/>
          </a:xfrm>
          <a:prstGeom prst="roundRect">
            <a:avLst>
              <a:gd name="adj" fmla="val 1612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0" name="Text 8"/>
          <p:cNvSpPr/>
          <p:nvPr/>
        </p:nvSpPr>
        <p:spPr>
          <a:xfrm>
            <a:off x="89611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"The agent is wrong."</a:t>
            </a:r>
            <a:endParaRPr lang="en-US" sz="1550" dirty="0"/>
          </a:p>
        </p:txBody>
      </p:sp>
      <p:sp>
        <p:nvSpPr>
          <p:cNvPr id="11" name="Shape 9"/>
          <p:cNvSpPr/>
          <p:nvPr/>
        </p:nvSpPr>
        <p:spPr>
          <a:xfrm>
            <a:off x="4114800" y="2011680"/>
            <a:ext cx="3154680" cy="566928"/>
          </a:xfrm>
          <a:prstGeom prst="roundRect">
            <a:avLst>
              <a:gd name="adj" fmla="val 16129"/>
            </a:avLst>
          </a:prstGeom>
          <a:solidFill>
            <a:srgbClr val="FFF5DA"/>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2" name="Text 10"/>
          <p:cNvSpPr/>
          <p:nvPr/>
        </p:nvSpPr>
        <p:spPr>
          <a:xfrm>
            <a:off x="427939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"This will not work here."</a:t>
            </a:r>
            <a:endParaRPr lang="en-US" sz="1550" dirty="0"/>
          </a:p>
        </p:txBody>
      </p:sp>
      <p:sp>
        <p:nvSpPr>
          <p:cNvPr id="13" name="Shape 11"/>
          <p:cNvSpPr/>
          <p:nvPr/>
        </p:nvSpPr>
        <p:spPr>
          <a:xfrm>
            <a:off x="7498080" y="2011680"/>
            <a:ext cx="3154680" cy="566928"/>
          </a:xfrm>
          <a:prstGeom prst="roundRect">
            <a:avLst>
              <a:gd name="adj" fmla="val 16129"/>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14" name="Text 12"/>
          <p:cNvSpPr/>
          <p:nvPr/>
        </p:nvSpPr>
        <p:spPr>
          <a:xfrm>
            <a:off x="7662672" y="2176272"/>
            <a:ext cx="2825496" cy="228600"/>
          </a:xfrm>
          <a:prstGeom prst="rect">
            <a:avLst/>
          </a:prstGeom>
          <a:noFill/>
          <a:ln/>
        </p:spPr>
        <p:txBody>
          <a:bodyPr wrap="square" lIns="0" tIns="0" rIns="0" bIns="0" rtlCol="0" anchor="ctr">
            <a:normAutofit/>
          </a:bodyPr>
          <a:lstStyle/>
          <a:p>
            <a:pPr algn="ctr" indent="0" marL="0">
              <a:buNone/>
            </a:pPr>
            <a:r>
              <a:rPr lang="en-US" sz="1550" b="1" dirty="0">
                <a:solidFill>
                  <a:srgbClr val="12233F"/>
                </a:solidFill>
              </a:rPr>
              <a:t>"I do not have time to learn it."</a:t>
            </a:r>
            <a:endParaRPr lang="en-US" sz="1550" dirty="0"/>
          </a:p>
        </p:txBody>
      </p:sp>
      <p:sp>
        <p:nvSpPr>
          <p:cNvPr id="15" name="Text 13"/>
          <p:cNvSpPr/>
          <p:nvPr/>
        </p:nvSpPr>
        <p:spPr>
          <a:xfrm>
            <a:off x="713232" y="3127248"/>
            <a:ext cx="2743200" cy="219456"/>
          </a:xfrm>
          <a:prstGeom prst="rect">
            <a:avLst/>
          </a:prstGeom>
          <a:noFill/>
          <a:ln/>
        </p:spPr>
        <p:txBody>
          <a:bodyPr wrap="square" lIns="0" tIns="0" rIns="0" bIns="0" rtlCol="0" anchor="ctr"/>
          <a:lstStyle/>
          <a:p>
            <a:pPr indent="0" marL="0">
              <a:buNone/>
            </a:pPr>
            <a:r>
              <a:rPr lang="en-US" sz="1000" b="1" spc="120" kern="0" dirty="0">
                <a:solidFill>
                  <a:srgbClr val="F5665C"/>
                </a:solidFill>
              </a:rPr>
              <a:t>WHAT IS OFTEN UNDERNEATH</a:t>
            </a:r>
            <a:endParaRPr lang="en-US" sz="1000" dirty="0"/>
          </a:p>
        </p:txBody>
      </p:sp>
      <p:sp>
        <p:nvSpPr>
          <p:cNvPr id="16" name="Shape 14"/>
          <p:cNvSpPr/>
          <p:nvPr/>
        </p:nvSpPr>
        <p:spPr>
          <a:xfrm>
            <a:off x="749808" y="3547872"/>
            <a:ext cx="2359152" cy="1572768"/>
          </a:xfrm>
          <a:prstGeom prst="roundRect">
            <a:avLst>
              <a:gd name="adj" fmla="val 4651"/>
            </a:avLst>
          </a:prstGeom>
          <a:solidFill>
            <a:srgbClr val="FFFFFF"/>
          </a:solidFill>
          <a:ln w="19050">
            <a:solidFill>
              <a:srgbClr val="F5665C"/>
            </a:solidFill>
            <a:prstDash val="solid"/>
          </a:ln>
        </p:spPr>
      </p:sp>
      <p:sp>
        <p:nvSpPr>
          <p:cNvPr id="17" name="Text 15"/>
          <p:cNvSpPr/>
          <p:nvPr/>
        </p:nvSpPr>
        <p:spPr>
          <a:xfrm>
            <a:off x="932688"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F5665C"/>
                </a:solidFill>
              </a:rPr>
              <a:t>JOB</a:t>
            </a:r>
            <a:endParaRPr lang="en-US" sz="1300" dirty="0"/>
          </a:p>
        </p:txBody>
      </p:sp>
      <p:sp>
        <p:nvSpPr>
          <p:cNvPr id="18" name="Text 16"/>
          <p:cNvSpPr/>
          <p:nvPr/>
        </p:nvSpPr>
        <p:spPr>
          <a:xfrm>
            <a:off x="932688"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Will I still be needed?</a:t>
            </a:r>
            <a:endParaRPr lang="en-US" sz="1700" dirty="0"/>
          </a:p>
        </p:txBody>
      </p:sp>
      <p:sp>
        <p:nvSpPr>
          <p:cNvPr id="19" name="Shape 17"/>
          <p:cNvSpPr/>
          <p:nvPr/>
        </p:nvSpPr>
        <p:spPr>
          <a:xfrm>
            <a:off x="3429000" y="3547872"/>
            <a:ext cx="2359152" cy="1572768"/>
          </a:xfrm>
          <a:prstGeom prst="roundRect">
            <a:avLst>
              <a:gd name="adj" fmla="val 4651"/>
            </a:avLst>
          </a:prstGeom>
          <a:solidFill>
            <a:srgbClr val="FFFFFF"/>
          </a:solidFill>
          <a:ln w="19050">
            <a:solidFill>
              <a:srgbClr val="F4B942"/>
            </a:solidFill>
            <a:prstDash val="solid"/>
          </a:ln>
        </p:spPr>
      </p:sp>
      <p:sp>
        <p:nvSpPr>
          <p:cNvPr id="20" name="Text 18"/>
          <p:cNvSpPr/>
          <p:nvPr/>
        </p:nvSpPr>
        <p:spPr>
          <a:xfrm>
            <a:off x="3611880"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F4B942"/>
                </a:solidFill>
              </a:rPr>
              <a:t>IDENTITY</a:t>
            </a:r>
            <a:endParaRPr lang="en-US" sz="1300" dirty="0"/>
          </a:p>
        </p:txBody>
      </p:sp>
      <p:sp>
        <p:nvSpPr>
          <p:cNvPr id="21" name="Text 19"/>
          <p:cNvSpPr/>
          <p:nvPr/>
        </p:nvSpPr>
        <p:spPr>
          <a:xfrm>
            <a:off x="3611880"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What happens to my expertise?</a:t>
            </a:r>
            <a:endParaRPr lang="en-US" sz="1700" dirty="0"/>
          </a:p>
        </p:txBody>
      </p:sp>
      <p:sp>
        <p:nvSpPr>
          <p:cNvPr id="22" name="Shape 20"/>
          <p:cNvSpPr/>
          <p:nvPr/>
        </p:nvSpPr>
        <p:spPr>
          <a:xfrm>
            <a:off x="6108192" y="3547872"/>
            <a:ext cx="2359152" cy="1572768"/>
          </a:xfrm>
          <a:prstGeom prst="roundRect">
            <a:avLst>
              <a:gd name="adj" fmla="val 4651"/>
            </a:avLst>
          </a:prstGeom>
          <a:solidFill>
            <a:srgbClr val="FFFFFF"/>
          </a:solidFill>
          <a:ln w="19050">
            <a:solidFill>
              <a:srgbClr val="0C8A78"/>
            </a:solidFill>
            <a:prstDash val="solid"/>
          </a:ln>
        </p:spPr>
      </p:sp>
      <p:sp>
        <p:nvSpPr>
          <p:cNvPr id="23" name="Text 21"/>
          <p:cNvSpPr/>
          <p:nvPr/>
        </p:nvSpPr>
        <p:spPr>
          <a:xfrm>
            <a:off x="6291072"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0C8A78"/>
                </a:solidFill>
              </a:rPr>
              <a:t>CONTROL</a:t>
            </a:r>
            <a:endParaRPr lang="en-US" sz="1300" dirty="0"/>
          </a:p>
        </p:txBody>
      </p:sp>
      <p:sp>
        <p:nvSpPr>
          <p:cNvPr id="24" name="Text 22"/>
          <p:cNvSpPr/>
          <p:nvPr/>
        </p:nvSpPr>
        <p:spPr>
          <a:xfrm>
            <a:off x="6291072"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Can I stop a bad action?</a:t>
            </a:r>
            <a:endParaRPr lang="en-US" sz="1700" dirty="0"/>
          </a:p>
        </p:txBody>
      </p:sp>
      <p:sp>
        <p:nvSpPr>
          <p:cNvPr id="25" name="Shape 23"/>
          <p:cNvSpPr/>
          <p:nvPr/>
        </p:nvSpPr>
        <p:spPr>
          <a:xfrm>
            <a:off x="8787384" y="3547872"/>
            <a:ext cx="2359152" cy="1572768"/>
          </a:xfrm>
          <a:prstGeom prst="roundRect">
            <a:avLst>
              <a:gd name="adj" fmla="val 4651"/>
            </a:avLst>
          </a:prstGeom>
          <a:solidFill>
            <a:srgbClr val="FFFFFF"/>
          </a:solidFill>
          <a:ln w="19050">
            <a:solidFill>
              <a:srgbClr val="2F6FED"/>
            </a:solidFill>
            <a:prstDash val="solid"/>
          </a:ln>
        </p:spPr>
      </p:sp>
      <p:sp>
        <p:nvSpPr>
          <p:cNvPr id="26" name="Text 24"/>
          <p:cNvSpPr/>
          <p:nvPr/>
        </p:nvSpPr>
        <p:spPr>
          <a:xfrm>
            <a:off x="8970264" y="3803904"/>
            <a:ext cx="1965960" cy="256032"/>
          </a:xfrm>
          <a:prstGeom prst="rect">
            <a:avLst/>
          </a:prstGeom>
          <a:noFill/>
          <a:ln/>
        </p:spPr>
        <p:txBody>
          <a:bodyPr wrap="square" lIns="0" tIns="0" rIns="0" bIns="0" rtlCol="0" anchor="ctr"/>
          <a:lstStyle/>
          <a:p>
            <a:pPr algn="ctr" indent="0" marL="0">
              <a:buNone/>
            </a:pPr>
            <a:r>
              <a:rPr lang="en-US" sz="1300" b="1" spc="110" kern="0" dirty="0">
                <a:solidFill>
                  <a:srgbClr val="2F6FED"/>
                </a:solidFill>
              </a:rPr>
              <a:t>BLAME</a:t>
            </a:r>
            <a:endParaRPr lang="en-US" sz="1300" dirty="0"/>
          </a:p>
        </p:txBody>
      </p:sp>
      <p:sp>
        <p:nvSpPr>
          <p:cNvPr id="27" name="Text 25"/>
          <p:cNvSpPr/>
          <p:nvPr/>
        </p:nvSpPr>
        <p:spPr>
          <a:xfrm>
            <a:off x="8970264" y="4224528"/>
            <a:ext cx="1965960" cy="475488"/>
          </a:xfrm>
          <a:prstGeom prst="rect">
            <a:avLst/>
          </a:prstGeom>
          <a:noFill/>
          <a:ln/>
        </p:spPr>
        <p:txBody>
          <a:bodyPr wrap="square" lIns="0" tIns="0" rIns="0" bIns="0" rtlCol="0" anchor="ctr">
            <a:normAutofit/>
          </a:bodyPr>
          <a:lstStyle/>
          <a:p>
            <a:pPr algn="ctr" indent="0" marL="0">
              <a:buNone/>
            </a:pPr>
            <a:r>
              <a:rPr lang="en-US" sz="1700" b="1" dirty="0">
                <a:solidFill>
                  <a:srgbClr val="12233F"/>
                </a:solidFill>
              </a:rPr>
              <a:t>Am I liable for its mistakes?</a:t>
            </a:r>
            <a:endParaRPr lang="en-US" sz="1700" dirty="0"/>
          </a:p>
        </p:txBody>
      </p:sp>
      <p:sp>
        <p:nvSpPr>
          <p:cNvPr id="28" name="Text 26"/>
          <p:cNvSpPr/>
          <p:nvPr/>
        </p:nvSpPr>
        <p:spPr>
          <a:xfrm>
            <a:off x="1371600" y="5559552"/>
            <a:ext cx="9326880" cy="393192"/>
          </a:xfrm>
          <a:prstGeom prst="rect">
            <a:avLst/>
          </a:prstGeom>
          <a:noFill/>
          <a:ln/>
        </p:spPr>
        <p:txBody>
          <a:bodyPr wrap="square" lIns="0" tIns="0" rIns="0" bIns="0" rtlCol="0" anchor="ctr"/>
          <a:lstStyle/>
          <a:p>
            <a:pPr algn="ctr" indent="0" marL="0">
              <a:buNone/>
            </a:pPr>
            <a:r>
              <a:rPr lang="en-US" sz="2300" b="1" dirty="0">
                <a:solidFill>
                  <a:srgbClr val="092F57"/>
                </a:solidFill>
              </a:rPr>
              <a:t>Resistance is not a people problem. It is a role-design signal.</a:t>
            </a:r>
            <a:endParaRPr lang="en-US" sz="2300" dirty="0"/>
          </a:p>
        </p:txBody>
      </p:sp>
      <p:sp>
        <p:nvSpPr>
          <p:cNvPr id="29" name="Text 27">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Tertiary practitioner observations and the Sarah coaching scenario</a:t>
            </a:r>
            <a:endParaRPr lang="en-US" sz="1000" dirty="0"/>
          </a:p>
        </p:txBody>
      </p:sp>
      <p:sp>
        <p:nvSpPr>
          <p:cNvPr id="30" name="Text 28"/>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SOLUTION</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06</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The solution is an explicit Human Owner role.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Move routine production to the agent and make human decision rights visible.</a:t>
            </a:r>
            <a:endParaRPr lang="en-US" sz="1500" dirty="0"/>
          </a:p>
        </p:txBody>
      </p:sp>
      <p:sp>
        <p:nvSpPr>
          <p:cNvPr id="7" name="Shape 5"/>
          <p:cNvSpPr/>
          <p:nvPr/>
        </p:nvSpPr>
        <p:spPr>
          <a:xfrm>
            <a:off x="640080" y="1783080"/>
            <a:ext cx="3657600" cy="4224528"/>
          </a:xfrm>
          <a:prstGeom prst="roundRect">
            <a:avLst>
              <a:gd name="adj" fmla="val 2500"/>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932688" y="2057400"/>
            <a:ext cx="914400" cy="310896"/>
          </a:xfrm>
          <a:prstGeom prst="roundRect">
            <a:avLst>
              <a:gd name="adj" fmla="val 47059"/>
            </a:avLst>
          </a:prstGeom>
          <a:solidFill>
            <a:srgbClr val="EEF2F6"/>
          </a:solidFill>
          <a:ln w="12700">
            <a:solidFill>
              <a:srgbClr val="EEF2F6"/>
            </a:solidFill>
            <a:prstDash val="solid"/>
          </a:ln>
        </p:spPr>
      </p:sp>
      <p:sp>
        <p:nvSpPr>
          <p:cNvPr id="9" name="Text 7"/>
          <p:cNvSpPr/>
          <p:nvPr/>
        </p:nvSpPr>
        <p:spPr>
          <a:xfrm>
            <a:off x="932688" y="2075688"/>
            <a:ext cx="914400" cy="201168"/>
          </a:xfrm>
          <a:prstGeom prst="rect">
            <a:avLst/>
          </a:prstGeom>
          <a:noFill/>
          <a:ln/>
        </p:spPr>
        <p:txBody>
          <a:bodyPr wrap="square" lIns="0" tIns="0" rIns="0" bIns="0" rtlCol="0" anchor="ctr">
            <a:normAutofit/>
          </a:bodyPr>
          <a:lstStyle/>
          <a:p>
            <a:pPr algn="ctr" indent="0" marL="0">
              <a:buNone/>
            </a:pPr>
            <a:r>
              <a:rPr lang="en-US" sz="1000" b="1" dirty="0">
                <a:solidFill>
                  <a:srgbClr val="4F6176"/>
                </a:solidFill>
                <a:latin typeface="Arial" pitchFamily="34" charset="0"/>
                <a:ea typeface="Arial" pitchFamily="34" charset="-122"/>
                <a:cs typeface="Arial" pitchFamily="34" charset="-120"/>
              </a:rPr>
              <a:t>BEFORE</a:t>
            </a:r>
            <a:endParaRPr lang="en-US" sz="1000" dirty="0"/>
          </a:p>
        </p:txBody>
      </p:sp>
      <p:sp>
        <p:nvSpPr>
          <p:cNvPr id="10" name="Text 8"/>
          <p:cNvSpPr/>
          <p:nvPr/>
        </p:nvSpPr>
        <p:spPr>
          <a:xfrm>
            <a:off x="914400" y="2542032"/>
            <a:ext cx="3108960" cy="585216"/>
          </a:xfrm>
          <a:prstGeom prst="rect">
            <a:avLst/>
          </a:prstGeom>
          <a:noFill/>
          <a:ln/>
        </p:spPr>
        <p:txBody>
          <a:bodyPr wrap="square" lIns="0" tIns="0" rIns="0" bIns="0" rtlCol="0" anchor="ctr"/>
          <a:lstStyle/>
          <a:p>
            <a:pPr algn="ctr" indent="0" marL="0">
              <a:buNone/>
            </a:pPr>
            <a:r>
              <a:rPr lang="en-US" sz="3500" b="1" dirty="0">
                <a:solidFill>
                  <a:srgbClr val="12233F"/>
                </a:solidFill>
              </a:rPr>
              <a:t>DOER</a:t>
            </a:r>
            <a:endParaRPr lang="en-US" sz="3500" dirty="0"/>
          </a:p>
        </p:txBody>
      </p:sp>
      <p:sp>
        <p:nvSpPr>
          <p:cNvPr id="11" name="Text 9"/>
          <p:cNvSpPr/>
          <p:nvPr/>
        </p:nvSpPr>
        <p:spPr>
          <a:xfrm>
            <a:off x="1051560" y="329184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Draft every output</a:t>
            </a:r>
            <a:endParaRPr lang="en-US" sz="1600" dirty="0"/>
          </a:p>
        </p:txBody>
      </p:sp>
      <p:sp>
        <p:nvSpPr>
          <p:cNvPr id="12" name="Text 10"/>
          <p:cNvSpPr/>
          <p:nvPr/>
        </p:nvSpPr>
        <p:spPr>
          <a:xfrm>
            <a:off x="1051560" y="379476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Run every check</a:t>
            </a:r>
            <a:endParaRPr lang="en-US" sz="1600" dirty="0"/>
          </a:p>
        </p:txBody>
      </p:sp>
      <p:sp>
        <p:nvSpPr>
          <p:cNvPr id="13" name="Text 11"/>
          <p:cNvSpPr/>
          <p:nvPr/>
        </p:nvSpPr>
        <p:spPr>
          <a:xfrm>
            <a:off x="1051560" y="429768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Handle every routine case</a:t>
            </a:r>
            <a:endParaRPr lang="en-US" sz="1600" dirty="0"/>
          </a:p>
        </p:txBody>
      </p:sp>
      <p:sp>
        <p:nvSpPr>
          <p:cNvPr id="14" name="Text 12"/>
          <p:cNvSpPr/>
          <p:nvPr/>
        </p:nvSpPr>
        <p:spPr>
          <a:xfrm>
            <a:off x="1051560" y="4800600"/>
            <a:ext cx="2788920" cy="274320"/>
          </a:xfrm>
          <a:prstGeom prst="rect">
            <a:avLst/>
          </a:prstGeom>
          <a:noFill/>
          <a:ln/>
        </p:spPr>
        <p:txBody>
          <a:bodyPr wrap="square" lIns="0" tIns="0" rIns="0" bIns="0" rtlCol="0" anchor="ctr"/>
          <a:lstStyle/>
          <a:p>
            <a:pPr algn="ctr" indent="0" marL="0">
              <a:buNone/>
            </a:pPr>
            <a:r>
              <a:rPr lang="en-US" sz="1600" dirty="0">
                <a:solidFill>
                  <a:srgbClr val="4F6176"/>
                </a:solidFill>
              </a:rPr>
              <a:t>Measure effort by volume</a:t>
            </a:r>
            <a:endParaRPr lang="en-US" sz="1600" dirty="0"/>
          </a:p>
        </p:txBody>
      </p:sp>
      <p:sp>
        <p:nvSpPr>
          <p:cNvPr id="15" name="Shape 13"/>
          <p:cNvSpPr/>
          <p:nvPr/>
        </p:nvSpPr>
        <p:spPr>
          <a:xfrm>
            <a:off x="4553712" y="3127248"/>
            <a:ext cx="713232" cy="1097280"/>
          </a:xfrm>
          <a:prstGeom prst="chevron">
            <a:avLst/>
          </a:prstGeom>
          <a:solidFill>
            <a:srgbClr val="F4B942"/>
          </a:solidFill>
          <a:ln w="12700">
            <a:solidFill>
              <a:srgbClr val="F4B942">
                <a:alpha val="0"/>
              </a:srgbClr>
            </a:solidFill>
            <a:prstDash val="solid"/>
          </a:ln>
        </p:spPr>
      </p:sp>
      <p:sp>
        <p:nvSpPr>
          <p:cNvPr id="16" name="Shape 14"/>
          <p:cNvSpPr/>
          <p:nvPr/>
        </p:nvSpPr>
        <p:spPr>
          <a:xfrm>
            <a:off x="5486400" y="1783080"/>
            <a:ext cx="5989320" cy="4224528"/>
          </a:xfrm>
          <a:prstGeom prst="roundRect">
            <a:avLst>
              <a:gd name="adj" fmla="val 2165"/>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17" name="Shape 15"/>
          <p:cNvSpPr/>
          <p:nvPr/>
        </p:nvSpPr>
        <p:spPr>
          <a:xfrm>
            <a:off x="5779008" y="2057400"/>
            <a:ext cx="896112" cy="310896"/>
          </a:xfrm>
          <a:prstGeom prst="roundRect">
            <a:avLst>
              <a:gd name="adj" fmla="val 47059"/>
            </a:avLst>
          </a:prstGeom>
          <a:solidFill>
            <a:srgbClr val="55D6BE"/>
          </a:solidFill>
          <a:ln w="12700">
            <a:solidFill>
              <a:srgbClr val="55D6BE"/>
            </a:solidFill>
            <a:prstDash val="solid"/>
          </a:ln>
        </p:spPr>
      </p:sp>
      <p:sp>
        <p:nvSpPr>
          <p:cNvPr id="18" name="Text 16"/>
          <p:cNvSpPr/>
          <p:nvPr/>
        </p:nvSpPr>
        <p:spPr>
          <a:xfrm>
            <a:off x="5779008" y="2075688"/>
            <a:ext cx="896112" cy="201168"/>
          </a:xfrm>
          <a:prstGeom prst="rect">
            <a:avLst/>
          </a:prstGeom>
          <a:noFill/>
          <a:ln/>
        </p:spPr>
        <p:txBody>
          <a:bodyPr wrap="square" lIns="0" tIns="0" rIns="0" bIns="0" rtlCol="0" anchor="ctr">
            <a:normAutofit/>
          </a:bodyPr>
          <a:lstStyle/>
          <a:p>
            <a:pPr algn="ctr" indent="0" marL="0">
              <a:buNone/>
            </a:pPr>
            <a:r>
              <a:rPr lang="en-US" sz="1000" b="1" dirty="0">
                <a:solidFill>
                  <a:srgbClr val="092F57"/>
                </a:solidFill>
                <a:latin typeface="Arial" pitchFamily="34" charset="0"/>
                <a:ea typeface="Arial" pitchFamily="34" charset="-122"/>
                <a:cs typeface="Arial" pitchFamily="34" charset="-120"/>
              </a:rPr>
              <a:t>AFTER</a:t>
            </a:r>
            <a:endParaRPr lang="en-US" sz="1000" dirty="0"/>
          </a:p>
        </p:txBody>
      </p:sp>
      <p:sp>
        <p:nvSpPr>
          <p:cNvPr id="19" name="Text 17"/>
          <p:cNvSpPr/>
          <p:nvPr/>
        </p:nvSpPr>
        <p:spPr>
          <a:xfrm>
            <a:off x="5779008" y="2523744"/>
            <a:ext cx="5349240" cy="530352"/>
          </a:xfrm>
          <a:prstGeom prst="rect">
            <a:avLst/>
          </a:prstGeom>
          <a:noFill/>
          <a:ln/>
        </p:spPr>
        <p:txBody>
          <a:bodyPr wrap="square" lIns="0" tIns="0" rIns="0" bIns="0" rtlCol="0" anchor="ctr"/>
          <a:lstStyle/>
          <a:p>
            <a:pPr algn="ctr" indent="0" marL="0">
              <a:buNone/>
            </a:pPr>
            <a:r>
              <a:rPr lang="en-US" sz="3300" b="1" dirty="0">
                <a:solidFill>
                  <a:srgbClr val="FFFFFF"/>
                </a:solidFill>
              </a:rPr>
              <a:t>HUMAN OWNER</a:t>
            </a:r>
            <a:endParaRPr lang="en-US" sz="3300" dirty="0"/>
          </a:p>
        </p:txBody>
      </p:sp>
      <p:sp>
        <p:nvSpPr>
          <p:cNvPr id="20" name="Shape 18"/>
          <p:cNvSpPr/>
          <p:nvPr/>
        </p:nvSpPr>
        <p:spPr>
          <a:xfrm>
            <a:off x="5833872" y="3310128"/>
            <a:ext cx="1572768" cy="960120"/>
          </a:xfrm>
          <a:prstGeom prst="roundRect">
            <a:avLst>
              <a:gd name="adj" fmla="val 7619"/>
            </a:avLst>
          </a:prstGeom>
          <a:solidFill>
            <a:srgbClr val="2F6FED"/>
          </a:solidFill>
          <a:ln w="12700">
            <a:solidFill>
              <a:srgbClr val="2F6FED"/>
            </a:solidFill>
            <a:prstDash val="solid"/>
          </a:ln>
        </p:spPr>
      </p:sp>
      <p:sp>
        <p:nvSpPr>
          <p:cNvPr id="21" name="Text 19"/>
          <p:cNvSpPr/>
          <p:nvPr/>
        </p:nvSpPr>
        <p:spPr>
          <a:xfrm>
            <a:off x="5925312"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DIRECT</a:t>
            </a:r>
            <a:endParaRPr lang="en-US" sz="1150" dirty="0"/>
          </a:p>
        </p:txBody>
      </p:sp>
      <p:sp>
        <p:nvSpPr>
          <p:cNvPr id="22" name="Text 20"/>
          <p:cNvSpPr/>
          <p:nvPr/>
        </p:nvSpPr>
        <p:spPr>
          <a:xfrm>
            <a:off x="5925312"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Set intent and boundaries</a:t>
            </a:r>
            <a:endParaRPr lang="en-US" sz="1150" dirty="0"/>
          </a:p>
        </p:txBody>
      </p:sp>
      <p:sp>
        <p:nvSpPr>
          <p:cNvPr id="23" name="Shape 21"/>
          <p:cNvSpPr/>
          <p:nvPr/>
        </p:nvSpPr>
        <p:spPr>
          <a:xfrm>
            <a:off x="7607808" y="3310128"/>
            <a:ext cx="1572768" cy="960120"/>
          </a:xfrm>
          <a:prstGeom prst="roundRect">
            <a:avLst>
              <a:gd name="adj" fmla="val 7619"/>
            </a:avLst>
          </a:prstGeom>
          <a:solidFill>
            <a:srgbClr val="0C8A78"/>
          </a:solidFill>
          <a:ln w="12700">
            <a:solidFill>
              <a:srgbClr val="0C8A78"/>
            </a:solidFill>
            <a:prstDash val="solid"/>
          </a:ln>
        </p:spPr>
      </p:sp>
      <p:sp>
        <p:nvSpPr>
          <p:cNvPr id="24" name="Text 22"/>
          <p:cNvSpPr/>
          <p:nvPr/>
        </p:nvSpPr>
        <p:spPr>
          <a:xfrm>
            <a:off x="7699248"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CHALLENGE</a:t>
            </a:r>
            <a:endParaRPr lang="en-US" sz="1150" dirty="0"/>
          </a:p>
        </p:txBody>
      </p:sp>
      <p:sp>
        <p:nvSpPr>
          <p:cNvPr id="25" name="Text 23"/>
          <p:cNvSpPr/>
          <p:nvPr/>
        </p:nvSpPr>
        <p:spPr>
          <a:xfrm>
            <a:off x="7699248"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Test evidence and assumptions</a:t>
            </a:r>
            <a:endParaRPr lang="en-US" sz="1150" dirty="0"/>
          </a:p>
        </p:txBody>
      </p:sp>
      <p:sp>
        <p:nvSpPr>
          <p:cNvPr id="26" name="Shape 24"/>
          <p:cNvSpPr/>
          <p:nvPr/>
        </p:nvSpPr>
        <p:spPr>
          <a:xfrm>
            <a:off x="9381744" y="3310128"/>
            <a:ext cx="1572768" cy="960120"/>
          </a:xfrm>
          <a:prstGeom prst="roundRect">
            <a:avLst>
              <a:gd name="adj" fmla="val 7619"/>
            </a:avLst>
          </a:prstGeom>
          <a:solidFill>
            <a:srgbClr val="F4B942"/>
          </a:solidFill>
          <a:ln w="12700">
            <a:solidFill>
              <a:srgbClr val="F4B942"/>
            </a:solidFill>
            <a:prstDash val="solid"/>
          </a:ln>
        </p:spPr>
      </p:sp>
      <p:sp>
        <p:nvSpPr>
          <p:cNvPr id="27" name="Text 25"/>
          <p:cNvSpPr/>
          <p:nvPr/>
        </p:nvSpPr>
        <p:spPr>
          <a:xfrm>
            <a:off x="9473184" y="3456432"/>
            <a:ext cx="1389888" cy="201168"/>
          </a:xfrm>
          <a:prstGeom prst="rect">
            <a:avLst/>
          </a:prstGeom>
          <a:noFill/>
          <a:ln/>
        </p:spPr>
        <p:txBody>
          <a:bodyPr wrap="square" lIns="0" tIns="0" rIns="0" bIns="0" rtlCol="0" anchor="ctr"/>
          <a:lstStyle/>
          <a:p>
            <a:pPr algn="ctr" indent="0" marL="0">
              <a:buNone/>
            </a:pPr>
            <a:r>
              <a:rPr lang="en-US" sz="1150" b="1" spc="60" kern="0" dirty="0">
                <a:solidFill>
                  <a:srgbClr val="092F57"/>
                </a:solidFill>
              </a:rPr>
              <a:t>DECIDE</a:t>
            </a:r>
            <a:endParaRPr lang="en-US" sz="1150" dirty="0"/>
          </a:p>
        </p:txBody>
      </p:sp>
      <p:sp>
        <p:nvSpPr>
          <p:cNvPr id="28" name="Text 26"/>
          <p:cNvSpPr/>
          <p:nvPr/>
        </p:nvSpPr>
        <p:spPr>
          <a:xfrm>
            <a:off x="9473184" y="373989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092F57"/>
                </a:solidFill>
              </a:rPr>
              <a:t>Approve consequential actions</a:t>
            </a:r>
            <a:endParaRPr lang="en-US" sz="1150" dirty="0"/>
          </a:p>
        </p:txBody>
      </p:sp>
      <p:sp>
        <p:nvSpPr>
          <p:cNvPr id="29" name="Shape 27"/>
          <p:cNvSpPr/>
          <p:nvPr/>
        </p:nvSpPr>
        <p:spPr>
          <a:xfrm>
            <a:off x="6720840" y="4590288"/>
            <a:ext cx="1572768" cy="960120"/>
          </a:xfrm>
          <a:prstGeom prst="roundRect">
            <a:avLst>
              <a:gd name="adj" fmla="val 7619"/>
            </a:avLst>
          </a:prstGeom>
          <a:solidFill>
            <a:srgbClr val="F5665C"/>
          </a:solidFill>
          <a:ln w="12700">
            <a:solidFill>
              <a:srgbClr val="F5665C"/>
            </a:solidFill>
            <a:prstDash val="solid"/>
          </a:ln>
        </p:spPr>
      </p:sp>
      <p:sp>
        <p:nvSpPr>
          <p:cNvPr id="30" name="Text 28"/>
          <p:cNvSpPr/>
          <p:nvPr/>
        </p:nvSpPr>
        <p:spPr>
          <a:xfrm>
            <a:off x="6812280" y="473659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ESCALATE</a:t>
            </a:r>
            <a:endParaRPr lang="en-US" sz="1150" dirty="0"/>
          </a:p>
        </p:txBody>
      </p:sp>
      <p:sp>
        <p:nvSpPr>
          <p:cNvPr id="31" name="Text 29"/>
          <p:cNvSpPr/>
          <p:nvPr/>
        </p:nvSpPr>
        <p:spPr>
          <a:xfrm>
            <a:off x="6812280" y="502005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Own exceptions and recovery</a:t>
            </a:r>
            <a:endParaRPr lang="en-US" sz="1150" dirty="0"/>
          </a:p>
        </p:txBody>
      </p:sp>
      <p:sp>
        <p:nvSpPr>
          <p:cNvPr id="32" name="Shape 30"/>
          <p:cNvSpPr/>
          <p:nvPr/>
        </p:nvSpPr>
        <p:spPr>
          <a:xfrm>
            <a:off x="8503920" y="4590288"/>
            <a:ext cx="1572768" cy="960120"/>
          </a:xfrm>
          <a:prstGeom prst="roundRect">
            <a:avLst>
              <a:gd name="adj" fmla="val 7619"/>
            </a:avLst>
          </a:prstGeom>
          <a:solidFill>
            <a:srgbClr val="6B55C9"/>
          </a:solidFill>
          <a:ln w="12700">
            <a:solidFill>
              <a:srgbClr val="6B55C9"/>
            </a:solidFill>
            <a:prstDash val="solid"/>
          </a:ln>
        </p:spPr>
      </p:sp>
      <p:sp>
        <p:nvSpPr>
          <p:cNvPr id="33" name="Text 31"/>
          <p:cNvSpPr/>
          <p:nvPr/>
        </p:nvSpPr>
        <p:spPr>
          <a:xfrm>
            <a:off x="8595360" y="4736592"/>
            <a:ext cx="1389888" cy="201168"/>
          </a:xfrm>
          <a:prstGeom prst="rect">
            <a:avLst/>
          </a:prstGeom>
          <a:noFill/>
          <a:ln/>
        </p:spPr>
        <p:txBody>
          <a:bodyPr wrap="square" lIns="0" tIns="0" rIns="0" bIns="0" rtlCol="0" anchor="ctr"/>
          <a:lstStyle/>
          <a:p>
            <a:pPr algn="ctr" indent="0" marL="0">
              <a:buNone/>
            </a:pPr>
            <a:r>
              <a:rPr lang="en-US" sz="1150" b="1" spc="60" kern="0" dirty="0">
                <a:solidFill>
                  <a:srgbClr val="FFFFFF"/>
                </a:solidFill>
              </a:rPr>
              <a:t>IMPROVE</a:t>
            </a:r>
            <a:endParaRPr lang="en-US" sz="1150" dirty="0"/>
          </a:p>
        </p:txBody>
      </p:sp>
      <p:sp>
        <p:nvSpPr>
          <p:cNvPr id="34" name="Text 32"/>
          <p:cNvSpPr/>
          <p:nvPr/>
        </p:nvSpPr>
        <p:spPr>
          <a:xfrm>
            <a:off x="8595360" y="5020056"/>
            <a:ext cx="1389888" cy="347472"/>
          </a:xfrm>
          <a:prstGeom prst="rect">
            <a:avLst/>
          </a:prstGeom>
          <a:noFill/>
          <a:ln/>
        </p:spPr>
        <p:txBody>
          <a:bodyPr wrap="square" lIns="0" tIns="0" rIns="0" bIns="0" rtlCol="0" anchor="ctr">
            <a:normAutofit/>
          </a:bodyPr>
          <a:lstStyle/>
          <a:p>
            <a:pPr algn="ctr" indent="0" marL="0">
              <a:buNone/>
            </a:pPr>
            <a:r>
              <a:rPr lang="en-US" sz="1150" dirty="0">
                <a:solidFill>
                  <a:srgbClr val="FFFFFF"/>
                </a:solidFill>
              </a:rPr>
              <a:t>Refine prompts, tools and rules</a:t>
            </a:r>
            <a:endParaRPr lang="en-US" sz="1150" dirty="0"/>
          </a:p>
        </p:txBody>
      </p:sp>
      <p:sp>
        <p:nvSpPr>
          <p:cNvPr id="35" name="Text 33">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Work redesign pattern: human direction, challenge, approval, escalation and continuous improvement</a:t>
            </a:r>
            <a:endParaRPr lang="en-US" sz="1000" dirty="0"/>
          </a:p>
        </p:txBody>
      </p:sp>
      <p:sp>
        <p:nvSpPr>
          <p:cNvPr id="36" name="Text 34"/>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INTERVENTION</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07</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Turn resistance into a redesign conversation.</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Use GROW to surface the fear, identify strengths and co-create a safe experiment.</a:t>
            </a:r>
            <a:endParaRPr lang="en-US" sz="1500" dirty="0"/>
          </a:p>
        </p:txBody>
      </p:sp>
      <p:sp>
        <p:nvSpPr>
          <p:cNvPr id="7" name="Shape 5"/>
          <p:cNvSpPr/>
          <p:nvPr/>
        </p:nvSpPr>
        <p:spPr>
          <a:xfrm>
            <a:off x="658368" y="1874520"/>
            <a:ext cx="2487168" cy="3063240"/>
          </a:xfrm>
          <a:prstGeom prst="roundRect">
            <a:avLst>
              <a:gd name="adj" fmla="val 3676"/>
            </a:avLst>
          </a:prstGeom>
          <a:solidFill>
            <a:srgbClr val="FFFFFF"/>
          </a:solidFill>
          <a:ln w="12700">
            <a:solidFill>
              <a:srgbClr val="2F6FED"/>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1499616" y="2121408"/>
            <a:ext cx="804672" cy="804672"/>
          </a:xfrm>
          <a:prstGeom prst="ellipse">
            <a:avLst/>
          </a:prstGeom>
          <a:solidFill>
            <a:srgbClr val="2F6FED"/>
          </a:solidFill>
          <a:ln w="12700">
            <a:solidFill>
              <a:srgbClr val="2F6FED"/>
            </a:solidFill>
            <a:prstDash val="solid"/>
          </a:ln>
        </p:spPr>
      </p:sp>
      <p:sp>
        <p:nvSpPr>
          <p:cNvPr id="9" name="Text 7"/>
          <p:cNvSpPr/>
          <p:nvPr/>
        </p:nvSpPr>
        <p:spPr>
          <a:xfrm>
            <a:off x="1499616"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G</a:t>
            </a:r>
            <a:endParaRPr lang="en-US" sz="2600" dirty="0"/>
          </a:p>
        </p:txBody>
      </p:sp>
      <p:sp>
        <p:nvSpPr>
          <p:cNvPr id="10" name="Text 8"/>
          <p:cNvSpPr/>
          <p:nvPr/>
        </p:nvSpPr>
        <p:spPr>
          <a:xfrm>
            <a:off x="859536"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2F6FED"/>
                </a:solidFill>
              </a:rPr>
              <a:t>GOAL</a:t>
            </a:r>
            <a:endParaRPr lang="en-US" sz="1300" dirty="0"/>
          </a:p>
        </p:txBody>
      </p:sp>
      <p:sp>
        <p:nvSpPr>
          <p:cNvPr id="11" name="Text 9"/>
          <p:cNvSpPr/>
          <p:nvPr/>
        </p:nvSpPr>
        <p:spPr>
          <a:xfrm>
            <a:off x="914400"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outcome would be useful?</a:t>
            </a:r>
            <a:endParaRPr lang="en-US" sz="1750" dirty="0"/>
          </a:p>
        </p:txBody>
      </p:sp>
      <p:sp>
        <p:nvSpPr>
          <p:cNvPr id="12" name="Shape 10"/>
          <p:cNvSpPr/>
          <p:nvPr/>
        </p:nvSpPr>
        <p:spPr>
          <a:xfrm>
            <a:off x="3419856" y="1874520"/>
            <a:ext cx="2487168" cy="3063240"/>
          </a:xfrm>
          <a:prstGeom prst="roundRect">
            <a:avLst>
              <a:gd name="adj" fmla="val 3676"/>
            </a:avLst>
          </a:prstGeom>
          <a:solidFill>
            <a:srgbClr val="FFFFFF"/>
          </a:solidFill>
          <a:ln w="12700">
            <a:solidFill>
              <a:srgbClr val="0C8A78"/>
            </a:solidFill>
            <a:prstDash val="solid"/>
          </a:ln>
          <a:effectLst>
            <a:outerShdw sx="100000" sy="100000" kx="0" ky="0" algn="bl" rotWithShape="0" blurRad="25400" dist="50800" dir="2700000">
              <a:srgbClr val="0B1F33">
                <a:alpha val="12000"/>
              </a:srgbClr>
            </a:outerShdw>
          </a:effectLst>
        </p:spPr>
      </p:sp>
      <p:sp>
        <p:nvSpPr>
          <p:cNvPr id="13" name="Shape 11"/>
          <p:cNvSpPr/>
          <p:nvPr/>
        </p:nvSpPr>
        <p:spPr>
          <a:xfrm>
            <a:off x="4261104" y="2121408"/>
            <a:ext cx="804672" cy="804672"/>
          </a:xfrm>
          <a:prstGeom prst="ellipse">
            <a:avLst/>
          </a:prstGeom>
          <a:solidFill>
            <a:srgbClr val="0C8A78"/>
          </a:solidFill>
          <a:ln w="12700">
            <a:solidFill>
              <a:srgbClr val="0C8A78"/>
            </a:solidFill>
            <a:prstDash val="solid"/>
          </a:ln>
        </p:spPr>
      </p:sp>
      <p:sp>
        <p:nvSpPr>
          <p:cNvPr id="14" name="Text 12"/>
          <p:cNvSpPr/>
          <p:nvPr/>
        </p:nvSpPr>
        <p:spPr>
          <a:xfrm>
            <a:off x="4261104"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R</a:t>
            </a:r>
            <a:endParaRPr lang="en-US" sz="2600" dirty="0"/>
          </a:p>
        </p:txBody>
      </p:sp>
      <p:sp>
        <p:nvSpPr>
          <p:cNvPr id="15" name="Text 13"/>
          <p:cNvSpPr/>
          <p:nvPr/>
        </p:nvSpPr>
        <p:spPr>
          <a:xfrm>
            <a:off x="3621024"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0C8A78"/>
                </a:solidFill>
              </a:rPr>
              <a:t>REALITY</a:t>
            </a:r>
            <a:endParaRPr lang="en-US" sz="1300" dirty="0"/>
          </a:p>
        </p:txBody>
      </p:sp>
      <p:sp>
        <p:nvSpPr>
          <p:cNvPr id="16" name="Text 14"/>
          <p:cNvSpPr/>
          <p:nvPr/>
        </p:nvSpPr>
        <p:spPr>
          <a:xfrm>
            <a:off x="3675888"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concerns you? Which strengths matter?</a:t>
            </a:r>
            <a:endParaRPr lang="en-US" sz="1750" dirty="0"/>
          </a:p>
        </p:txBody>
      </p:sp>
      <p:sp>
        <p:nvSpPr>
          <p:cNvPr id="17" name="Shape 15"/>
          <p:cNvSpPr/>
          <p:nvPr/>
        </p:nvSpPr>
        <p:spPr>
          <a:xfrm>
            <a:off x="6181344" y="1874520"/>
            <a:ext cx="2487168" cy="3063240"/>
          </a:xfrm>
          <a:prstGeom prst="roundRect">
            <a:avLst>
              <a:gd name="adj" fmla="val 3676"/>
            </a:avLst>
          </a:prstGeom>
          <a:solidFill>
            <a:srgbClr val="FFFFFF"/>
          </a:solidFill>
          <a:ln w="12700">
            <a:solidFill>
              <a:srgbClr val="6B55C9"/>
            </a:solidFill>
            <a:prstDash val="solid"/>
          </a:ln>
          <a:effectLst>
            <a:outerShdw sx="100000" sy="100000" kx="0" ky="0" algn="bl" rotWithShape="0" blurRad="25400" dist="50800" dir="2700000">
              <a:srgbClr val="0B1F33">
                <a:alpha val="12000"/>
              </a:srgbClr>
            </a:outerShdw>
          </a:effectLst>
        </p:spPr>
      </p:sp>
      <p:sp>
        <p:nvSpPr>
          <p:cNvPr id="18" name="Shape 16"/>
          <p:cNvSpPr/>
          <p:nvPr/>
        </p:nvSpPr>
        <p:spPr>
          <a:xfrm>
            <a:off x="7022592" y="2121408"/>
            <a:ext cx="804672" cy="804672"/>
          </a:xfrm>
          <a:prstGeom prst="ellipse">
            <a:avLst/>
          </a:prstGeom>
          <a:solidFill>
            <a:srgbClr val="6B55C9"/>
          </a:solidFill>
          <a:ln w="12700">
            <a:solidFill>
              <a:srgbClr val="6B55C9"/>
            </a:solidFill>
            <a:prstDash val="solid"/>
          </a:ln>
        </p:spPr>
      </p:sp>
      <p:sp>
        <p:nvSpPr>
          <p:cNvPr id="19" name="Text 17"/>
          <p:cNvSpPr/>
          <p:nvPr/>
        </p:nvSpPr>
        <p:spPr>
          <a:xfrm>
            <a:off x="7022592"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O</a:t>
            </a:r>
            <a:endParaRPr lang="en-US" sz="2600" dirty="0"/>
          </a:p>
        </p:txBody>
      </p:sp>
      <p:sp>
        <p:nvSpPr>
          <p:cNvPr id="20" name="Text 18"/>
          <p:cNvSpPr/>
          <p:nvPr/>
        </p:nvSpPr>
        <p:spPr>
          <a:xfrm>
            <a:off x="6382512"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6B55C9"/>
                </a:solidFill>
              </a:rPr>
              <a:t>OPTIONS</a:t>
            </a:r>
            <a:endParaRPr lang="en-US" sz="1300" dirty="0"/>
          </a:p>
        </p:txBody>
      </p:sp>
      <p:sp>
        <p:nvSpPr>
          <p:cNvPr id="21" name="Text 19"/>
          <p:cNvSpPr/>
          <p:nvPr/>
        </p:nvSpPr>
        <p:spPr>
          <a:xfrm>
            <a:off x="6437376"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could you own, review or decide?</a:t>
            </a:r>
            <a:endParaRPr lang="en-US" sz="1750" dirty="0"/>
          </a:p>
        </p:txBody>
      </p:sp>
      <p:sp>
        <p:nvSpPr>
          <p:cNvPr id="22" name="Shape 20"/>
          <p:cNvSpPr/>
          <p:nvPr/>
        </p:nvSpPr>
        <p:spPr>
          <a:xfrm>
            <a:off x="8942832" y="1874520"/>
            <a:ext cx="2487168" cy="3063240"/>
          </a:xfrm>
          <a:prstGeom prst="roundRect">
            <a:avLst>
              <a:gd name="adj" fmla="val 3676"/>
            </a:avLst>
          </a:prstGeom>
          <a:solidFill>
            <a:srgbClr val="FFFFFF"/>
          </a:solidFill>
          <a:ln w="12700">
            <a:solidFill>
              <a:srgbClr val="F4B942"/>
            </a:solidFill>
            <a:prstDash val="solid"/>
          </a:ln>
          <a:effectLst>
            <a:outerShdw sx="100000" sy="100000" kx="0" ky="0" algn="bl" rotWithShape="0" blurRad="25400" dist="50800" dir="2700000">
              <a:srgbClr val="0B1F33">
                <a:alpha val="12000"/>
              </a:srgbClr>
            </a:outerShdw>
          </a:effectLst>
        </p:spPr>
      </p:sp>
      <p:sp>
        <p:nvSpPr>
          <p:cNvPr id="23" name="Shape 21"/>
          <p:cNvSpPr/>
          <p:nvPr/>
        </p:nvSpPr>
        <p:spPr>
          <a:xfrm>
            <a:off x="9784080" y="2121408"/>
            <a:ext cx="804672" cy="804672"/>
          </a:xfrm>
          <a:prstGeom prst="ellipse">
            <a:avLst/>
          </a:prstGeom>
          <a:solidFill>
            <a:srgbClr val="F4B942"/>
          </a:solidFill>
          <a:ln w="12700">
            <a:solidFill>
              <a:srgbClr val="F4B942"/>
            </a:solidFill>
            <a:prstDash val="solid"/>
          </a:ln>
        </p:spPr>
      </p:sp>
      <p:sp>
        <p:nvSpPr>
          <p:cNvPr id="24" name="Text 22"/>
          <p:cNvSpPr/>
          <p:nvPr/>
        </p:nvSpPr>
        <p:spPr>
          <a:xfrm>
            <a:off x="9784080" y="2322576"/>
            <a:ext cx="804672" cy="321869"/>
          </a:xfrm>
          <a:prstGeom prst="rect">
            <a:avLst/>
          </a:prstGeom>
          <a:noFill/>
          <a:ln/>
        </p:spPr>
        <p:txBody>
          <a:bodyPr wrap="square" lIns="0" tIns="0" rIns="0" bIns="0" rtlCol="0" anchor="ctr">
            <a:normAutofit/>
          </a:bodyPr>
          <a:lstStyle/>
          <a:p>
            <a:pPr algn="ctr" indent="0" marL="0">
              <a:buNone/>
            </a:pPr>
            <a:r>
              <a:rPr lang="en-US" sz="2600" b="1" dirty="0">
                <a:solidFill>
                  <a:srgbClr val="FFFFFF"/>
                </a:solidFill>
                <a:latin typeface="Arial" pitchFamily="34" charset="0"/>
                <a:ea typeface="Arial" pitchFamily="34" charset="-122"/>
                <a:cs typeface="Arial" pitchFamily="34" charset="-120"/>
              </a:rPr>
              <a:t>W</a:t>
            </a:r>
            <a:endParaRPr lang="en-US" sz="2600" dirty="0"/>
          </a:p>
        </p:txBody>
      </p:sp>
      <p:sp>
        <p:nvSpPr>
          <p:cNvPr id="25" name="Text 23"/>
          <p:cNvSpPr/>
          <p:nvPr/>
        </p:nvSpPr>
        <p:spPr>
          <a:xfrm>
            <a:off x="9144000" y="3108960"/>
            <a:ext cx="2084832" cy="274320"/>
          </a:xfrm>
          <a:prstGeom prst="rect">
            <a:avLst/>
          </a:prstGeom>
          <a:noFill/>
          <a:ln/>
        </p:spPr>
        <p:txBody>
          <a:bodyPr wrap="square" lIns="0" tIns="0" rIns="0" bIns="0" rtlCol="0" anchor="ctr"/>
          <a:lstStyle/>
          <a:p>
            <a:pPr algn="ctr" indent="0" marL="0">
              <a:buNone/>
            </a:pPr>
            <a:r>
              <a:rPr lang="en-US" sz="1300" b="1" spc="110" kern="0" dirty="0">
                <a:solidFill>
                  <a:srgbClr val="F4B942"/>
                </a:solidFill>
              </a:rPr>
              <a:t>WILL</a:t>
            </a:r>
            <a:endParaRPr lang="en-US" sz="1300" dirty="0"/>
          </a:p>
        </p:txBody>
      </p:sp>
      <p:sp>
        <p:nvSpPr>
          <p:cNvPr id="26" name="Text 24"/>
          <p:cNvSpPr/>
          <p:nvPr/>
        </p:nvSpPr>
        <p:spPr>
          <a:xfrm>
            <a:off x="9198864" y="3657600"/>
            <a:ext cx="1975104" cy="749808"/>
          </a:xfrm>
          <a:prstGeom prst="rect">
            <a:avLst/>
          </a:prstGeom>
          <a:noFill/>
          <a:ln/>
        </p:spPr>
        <p:txBody>
          <a:bodyPr wrap="square" lIns="0" tIns="0" rIns="0" bIns="0" rtlCol="0" anchor="ctr">
            <a:normAutofit/>
          </a:bodyPr>
          <a:lstStyle/>
          <a:p>
            <a:pPr algn="ctr" indent="0" marL="0">
              <a:buNone/>
            </a:pPr>
            <a:r>
              <a:rPr lang="en-US" sz="1750" b="1" dirty="0">
                <a:solidFill>
                  <a:srgbClr val="12233F"/>
                </a:solidFill>
              </a:rPr>
              <a:t>What safe experiment will we try next?</a:t>
            </a:r>
            <a:endParaRPr lang="en-US" sz="1750" dirty="0"/>
          </a:p>
        </p:txBody>
      </p:sp>
      <p:sp>
        <p:nvSpPr>
          <p:cNvPr id="27" name="Shape 25"/>
          <p:cNvSpPr/>
          <p:nvPr/>
        </p:nvSpPr>
        <p:spPr>
          <a:xfrm>
            <a:off x="3218688" y="3054096"/>
            <a:ext cx="128016" cy="493776"/>
          </a:xfrm>
          <a:prstGeom prst="chevron">
            <a:avLst/>
          </a:prstGeom>
          <a:solidFill>
            <a:srgbClr val="728197"/>
          </a:solidFill>
          <a:ln w="12700">
            <a:solidFill>
              <a:srgbClr val="728197">
                <a:alpha val="0"/>
              </a:srgbClr>
            </a:solidFill>
            <a:prstDash val="solid"/>
          </a:ln>
        </p:spPr>
      </p:sp>
      <p:sp>
        <p:nvSpPr>
          <p:cNvPr id="28" name="Shape 26"/>
          <p:cNvSpPr/>
          <p:nvPr/>
        </p:nvSpPr>
        <p:spPr>
          <a:xfrm>
            <a:off x="5980176" y="3054096"/>
            <a:ext cx="128016" cy="493776"/>
          </a:xfrm>
          <a:prstGeom prst="chevron">
            <a:avLst/>
          </a:prstGeom>
          <a:solidFill>
            <a:srgbClr val="728197"/>
          </a:solidFill>
          <a:ln w="12700">
            <a:solidFill>
              <a:srgbClr val="728197">
                <a:alpha val="0"/>
              </a:srgbClr>
            </a:solidFill>
            <a:prstDash val="solid"/>
          </a:ln>
        </p:spPr>
      </p:sp>
      <p:sp>
        <p:nvSpPr>
          <p:cNvPr id="29" name="Shape 27"/>
          <p:cNvSpPr/>
          <p:nvPr/>
        </p:nvSpPr>
        <p:spPr>
          <a:xfrm>
            <a:off x="8741664" y="3054096"/>
            <a:ext cx="128016" cy="493776"/>
          </a:xfrm>
          <a:prstGeom prst="chevron">
            <a:avLst/>
          </a:prstGeom>
          <a:solidFill>
            <a:srgbClr val="728197"/>
          </a:solidFill>
          <a:ln w="12700">
            <a:solidFill>
              <a:srgbClr val="728197">
                <a:alpha val="0"/>
              </a:srgbClr>
            </a:solidFill>
            <a:prstDash val="solid"/>
          </a:ln>
        </p:spPr>
      </p:sp>
      <p:sp>
        <p:nvSpPr>
          <p:cNvPr id="30" name="Shape 28"/>
          <p:cNvSpPr/>
          <p:nvPr/>
        </p:nvSpPr>
        <p:spPr>
          <a:xfrm>
            <a:off x="1280160" y="5285232"/>
            <a:ext cx="9555480" cy="594360"/>
          </a:xfrm>
          <a:prstGeom prst="roundRect">
            <a:avLst>
              <a:gd name="adj" fmla="val 15385"/>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31" name="Text 29"/>
          <p:cNvSpPr/>
          <p:nvPr/>
        </p:nvSpPr>
        <p:spPr>
          <a:xfrm>
            <a:off x="1554480" y="5468112"/>
            <a:ext cx="9006840" cy="237744"/>
          </a:xfrm>
          <a:prstGeom prst="rect">
            <a:avLst/>
          </a:prstGeom>
          <a:noFill/>
          <a:ln/>
        </p:spPr>
        <p:txBody>
          <a:bodyPr wrap="square" lIns="0" tIns="0" rIns="0" bIns="0" rtlCol="0" anchor="ctr">
            <a:normAutofit/>
          </a:bodyPr>
          <a:lstStyle/>
          <a:p>
            <a:pPr algn="ctr" indent="0" marL="0">
              <a:buNone/>
            </a:pPr>
            <a:r>
              <a:rPr lang="en-US" sz="1700" b="1" spc="70" kern="0" dirty="0">
                <a:solidFill>
                  <a:srgbClr val="FFFFFF"/>
                </a:solidFill>
              </a:rPr>
              <a:t>COACHING TURNS RESISTANCE INTO DESIGN INPUT.</a:t>
            </a:r>
            <a:endParaRPr lang="en-US" sz="1700" dirty="0"/>
          </a:p>
        </p:txBody>
      </p:sp>
      <p:sp>
        <p:nvSpPr>
          <p:cNvPr id="32" name="Text 30">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Framework: GROW - Goal, Reality, Options and Will</a:t>
            </a:r>
            <a:endParaRPr lang="en-US" sz="1000" dirty="0"/>
          </a:p>
        </p:txBody>
      </p:sp>
      <p:sp>
        <p:nvSpPr>
          <p:cNvPr id="33" name="Text 31"/>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PRODUCT</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08</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Make the hard conversation safe to practise.</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The simulator builds coaching confidence across six realistic forms of resistance.</a:t>
            </a:r>
            <a:endParaRPr lang="en-US" sz="1500" dirty="0"/>
          </a:p>
        </p:txBody>
      </p:sp>
      <p:sp>
        <p:nvSpPr>
          <p:cNvPr id="7" name="Shape 5"/>
          <p:cNvSpPr/>
          <p:nvPr/>
        </p:nvSpPr>
        <p:spPr>
          <a:xfrm>
            <a:off x="594360" y="1664208"/>
            <a:ext cx="7955280" cy="4407408"/>
          </a:xfrm>
          <a:prstGeom prst="roundRect">
            <a:avLst>
              <a:gd name="adj" fmla="val 2075"/>
            </a:avLst>
          </a:prstGeom>
          <a:solidFill>
            <a:srgbClr val="FFFFFF"/>
          </a:solidFill>
          <a:ln w="12700">
            <a:solidFill>
              <a:srgbClr val="D7E1EA"/>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841248" y="1901952"/>
            <a:ext cx="7461504" cy="347472"/>
          </a:xfrm>
          <a:prstGeom prst="roundRect">
            <a:avLst>
              <a:gd name="adj" fmla="val 26316"/>
            </a:avLst>
          </a:prstGeom>
          <a:solidFill>
            <a:srgbClr val="092F57"/>
          </a:solidFill>
          <a:ln w="12700">
            <a:solidFill>
              <a:srgbClr val="092F57"/>
            </a:solidFill>
            <a:prstDash val="solid"/>
          </a:ln>
        </p:spPr>
      </p:sp>
      <p:sp>
        <p:nvSpPr>
          <p:cNvPr id="9" name="Shape 7"/>
          <p:cNvSpPr/>
          <p:nvPr/>
        </p:nvSpPr>
        <p:spPr>
          <a:xfrm>
            <a:off x="987552" y="1975104"/>
            <a:ext cx="73152" cy="73152"/>
          </a:xfrm>
          <a:prstGeom prst="ellipse">
            <a:avLst/>
          </a:prstGeom>
          <a:solidFill>
            <a:srgbClr val="F5665C"/>
          </a:solidFill>
          <a:ln w="12700">
            <a:solidFill>
              <a:srgbClr val="F5665C"/>
            </a:solidFill>
            <a:prstDash val="solid"/>
          </a:ln>
        </p:spPr>
      </p:sp>
      <p:sp>
        <p:nvSpPr>
          <p:cNvPr id="10" name="Shape 8"/>
          <p:cNvSpPr/>
          <p:nvPr/>
        </p:nvSpPr>
        <p:spPr>
          <a:xfrm>
            <a:off x="1143000" y="1975104"/>
            <a:ext cx="73152" cy="73152"/>
          </a:xfrm>
          <a:prstGeom prst="ellipse">
            <a:avLst/>
          </a:prstGeom>
          <a:solidFill>
            <a:srgbClr val="F4B942"/>
          </a:solidFill>
          <a:ln w="12700">
            <a:solidFill>
              <a:srgbClr val="F4B942"/>
            </a:solidFill>
            <a:prstDash val="solid"/>
          </a:ln>
        </p:spPr>
      </p:sp>
      <p:sp>
        <p:nvSpPr>
          <p:cNvPr id="11" name="Shape 9"/>
          <p:cNvSpPr/>
          <p:nvPr/>
        </p:nvSpPr>
        <p:spPr>
          <a:xfrm>
            <a:off x="1298448" y="1975104"/>
            <a:ext cx="73152" cy="73152"/>
          </a:xfrm>
          <a:prstGeom prst="ellipse">
            <a:avLst/>
          </a:prstGeom>
          <a:solidFill>
            <a:srgbClr val="55D6BE"/>
          </a:solidFill>
          <a:ln w="12700">
            <a:solidFill>
              <a:srgbClr val="55D6BE"/>
            </a:solidFill>
            <a:prstDash val="solid"/>
          </a:ln>
        </p:spPr>
      </p:sp>
      <p:sp>
        <p:nvSpPr>
          <p:cNvPr id="12" name="Text 10"/>
          <p:cNvSpPr/>
          <p:nvPr/>
        </p:nvSpPr>
        <p:spPr>
          <a:xfrm>
            <a:off x="2240280" y="1975104"/>
            <a:ext cx="4663440" cy="164592"/>
          </a:xfrm>
          <a:prstGeom prst="rect">
            <a:avLst/>
          </a:prstGeom>
          <a:noFill/>
          <a:ln/>
        </p:spPr>
        <p:txBody>
          <a:bodyPr wrap="square" lIns="0" tIns="0" rIns="0" bIns="0" rtlCol="0" anchor="ctr"/>
          <a:lstStyle/>
          <a:p>
            <a:pPr algn="ctr" indent="0" marL="0">
              <a:buNone/>
            </a:pPr>
            <a:r>
              <a:rPr lang="en-US" sz="900" b="1" spc="70" kern="0" dirty="0">
                <a:solidFill>
                  <a:srgbClr val="FFFFFF"/>
                </a:solidFill>
              </a:rPr>
              <a:t>AI AGENT JOB REDESIGN COACH - LIVE SIMULATOR</a:t>
            </a:r>
            <a:endParaRPr lang="en-US" sz="900" dirty="0"/>
          </a:p>
        </p:txBody>
      </p:sp>
      <p:sp>
        <p:nvSpPr>
          <p:cNvPr id="13" name="Shape 11"/>
          <p:cNvSpPr/>
          <p:nvPr/>
        </p:nvSpPr>
        <p:spPr>
          <a:xfrm>
            <a:off x="987552" y="2505456"/>
            <a:ext cx="2139696" cy="1042416"/>
          </a:xfrm>
          <a:prstGeom prst="roundRect">
            <a:avLst>
              <a:gd name="adj" fmla="val 5263"/>
            </a:avLst>
          </a:prstGeom>
          <a:solidFill>
            <a:srgbClr val="E9F8F4"/>
          </a:solidFill>
          <a:ln w="19050">
            <a:solidFill>
              <a:srgbClr val="0C8A78"/>
            </a:solidFill>
            <a:prstDash val="solid"/>
          </a:ln>
        </p:spPr>
      </p:sp>
      <p:sp>
        <p:nvSpPr>
          <p:cNvPr id="14" name="Text 12"/>
          <p:cNvSpPr/>
          <p:nvPr/>
        </p:nvSpPr>
        <p:spPr>
          <a:xfrm>
            <a:off x="112471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Sarah</a:t>
            </a:r>
            <a:endParaRPr lang="en-US" sz="1500" dirty="0"/>
          </a:p>
        </p:txBody>
      </p:sp>
      <p:sp>
        <p:nvSpPr>
          <p:cNvPr id="15" name="Text 13"/>
          <p:cNvSpPr/>
          <p:nvPr/>
        </p:nvSpPr>
        <p:spPr>
          <a:xfrm>
            <a:off x="112471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Marketing</a:t>
            </a:r>
            <a:endParaRPr lang="en-US" sz="1050" dirty="0"/>
          </a:p>
        </p:txBody>
      </p:sp>
      <p:sp>
        <p:nvSpPr>
          <p:cNvPr id="16" name="Shape 14"/>
          <p:cNvSpPr/>
          <p:nvPr/>
        </p:nvSpPr>
        <p:spPr>
          <a:xfrm>
            <a:off x="1124712" y="3191256"/>
            <a:ext cx="1810512" cy="310896"/>
          </a:xfrm>
          <a:prstGeom prst="roundRect">
            <a:avLst>
              <a:gd name="adj" fmla="val 47059"/>
            </a:avLst>
          </a:prstGeom>
          <a:solidFill>
            <a:srgbClr val="EEF2F6"/>
          </a:solidFill>
          <a:ln w="12700">
            <a:solidFill>
              <a:srgbClr val="EEF2F6"/>
            </a:solidFill>
            <a:prstDash val="solid"/>
          </a:ln>
        </p:spPr>
      </p:sp>
      <p:sp>
        <p:nvSpPr>
          <p:cNvPr id="17" name="Text 15"/>
          <p:cNvSpPr/>
          <p:nvPr/>
        </p:nvSpPr>
        <p:spPr>
          <a:xfrm>
            <a:off x="1124712" y="3209544"/>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FEAR / IDENTITY</a:t>
            </a:r>
            <a:endParaRPr lang="en-US" sz="900" dirty="0"/>
          </a:p>
        </p:txBody>
      </p:sp>
      <p:sp>
        <p:nvSpPr>
          <p:cNvPr id="18" name="Shape 16"/>
          <p:cNvSpPr/>
          <p:nvPr/>
        </p:nvSpPr>
        <p:spPr>
          <a:xfrm>
            <a:off x="3364992" y="2505456"/>
            <a:ext cx="2139696" cy="1042416"/>
          </a:xfrm>
          <a:prstGeom prst="roundRect">
            <a:avLst>
              <a:gd name="adj" fmla="val 5263"/>
            </a:avLst>
          </a:prstGeom>
          <a:solidFill>
            <a:srgbClr val="FFFFFF"/>
          </a:solidFill>
          <a:ln w="12700">
            <a:solidFill>
              <a:srgbClr val="D7E1EA"/>
            </a:solidFill>
            <a:prstDash val="solid"/>
          </a:ln>
        </p:spPr>
      </p:sp>
      <p:sp>
        <p:nvSpPr>
          <p:cNvPr id="19" name="Text 17"/>
          <p:cNvSpPr/>
          <p:nvPr/>
        </p:nvSpPr>
        <p:spPr>
          <a:xfrm>
            <a:off x="350215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David</a:t>
            </a:r>
            <a:endParaRPr lang="en-US" sz="1500" dirty="0"/>
          </a:p>
        </p:txBody>
      </p:sp>
      <p:sp>
        <p:nvSpPr>
          <p:cNvPr id="20" name="Text 18"/>
          <p:cNvSpPr/>
          <p:nvPr/>
        </p:nvSpPr>
        <p:spPr>
          <a:xfrm>
            <a:off x="350215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Customer Service</a:t>
            </a:r>
            <a:endParaRPr lang="en-US" sz="1050" dirty="0"/>
          </a:p>
        </p:txBody>
      </p:sp>
      <p:sp>
        <p:nvSpPr>
          <p:cNvPr id="21" name="Shape 19"/>
          <p:cNvSpPr/>
          <p:nvPr/>
        </p:nvSpPr>
        <p:spPr>
          <a:xfrm>
            <a:off x="3502152" y="3191256"/>
            <a:ext cx="1810512" cy="310896"/>
          </a:xfrm>
          <a:prstGeom prst="roundRect">
            <a:avLst>
              <a:gd name="adj" fmla="val 47059"/>
            </a:avLst>
          </a:prstGeom>
          <a:solidFill>
            <a:srgbClr val="EEF2F6"/>
          </a:solidFill>
          <a:ln w="12700">
            <a:solidFill>
              <a:srgbClr val="EEF2F6"/>
            </a:solidFill>
            <a:prstDash val="solid"/>
          </a:ln>
        </p:spPr>
      </p:sp>
      <p:sp>
        <p:nvSpPr>
          <p:cNvPr id="22" name="Text 20"/>
          <p:cNvSpPr/>
          <p:nvPr/>
        </p:nvSpPr>
        <p:spPr>
          <a:xfrm>
            <a:off x="3502152" y="3209544"/>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ANGER / TRUST</a:t>
            </a:r>
            <a:endParaRPr lang="en-US" sz="900" dirty="0"/>
          </a:p>
        </p:txBody>
      </p:sp>
      <p:sp>
        <p:nvSpPr>
          <p:cNvPr id="23" name="Shape 21"/>
          <p:cNvSpPr/>
          <p:nvPr/>
        </p:nvSpPr>
        <p:spPr>
          <a:xfrm>
            <a:off x="5742432" y="2505456"/>
            <a:ext cx="2139696" cy="1042416"/>
          </a:xfrm>
          <a:prstGeom prst="roundRect">
            <a:avLst>
              <a:gd name="adj" fmla="val 5263"/>
            </a:avLst>
          </a:prstGeom>
          <a:solidFill>
            <a:srgbClr val="FFFFFF"/>
          </a:solidFill>
          <a:ln w="12700">
            <a:solidFill>
              <a:srgbClr val="D7E1EA"/>
            </a:solidFill>
            <a:prstDash val="solid"/>
          </a:ln>
        </p:spPr>
      </p:sp>
      <p:sp>
        <p:nvSpPr>
          <p:cNvPr id="24" name="Text 22"/>
          <p:cNvSpPr/>
          <p:nvPr/>
        </p:nvSpPr>
        <p:spPr>
          <a:xfrm>
            <a:off x="5879592" y="2624328"/>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Mei Ling</a:t>
            </a:r>
            <a:endParaRPr lang="en-US" sz="1500" dirty="0"/>
          </a:p>
        </p:txBody>
      </p:sp>
      <p:sp>
        <p:nvSpPr>
          <p:cNvPr id="25" name="Text 23"/>
          <p:cNvSpPr/>
          <p:nvPr/>
        </p:nvSpPr>
        <p:spPr>
          <a:xfrm>
            <a:off x="5879592" y="2889504"/>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Data Analyst</a:t>
            </a:r>
            <a:endParaRPr lang="en-US" sz="1050" dirty="0"/>
          </a:p>
        </p:txBody>
      </p:sp>
      <p:sp>
        <p:nvSpPr>
          <p:cNvPr id="26" name="Shape 24"/>
          <p:cNvSpPr/>
          <p:nvPr/>
        </p:nvSpPr>
        <p:spPr>
          <a:xfrm>
            <a:off x="5879592" y="3191256"/>
            <a:ext cx="1810512" cy="310896"/>
          </a:xfrm>
          <a:prstGeom prst="roundRect">
            <a:avLst>
              <a:gd name="adj" fmla="val 47059"/>
            </a:avLst>
          </a:prstGeom>
          <a:solidFill>
            <a:srgbClr val="EEF2F6"/>
          </a:solidFill>
          <a:ln w="12700">
            <a:solidFill>
              <a:srgbClr val="EEF2F6"/>
            </a:solidFill>
            <a:prstDash val="solid"/>
          </a:ln>
        </p:spPr>
      </p:sp>
      <p:sp>
        <p:nvSpPr>
          <p:cNvPr id="27" name="Text 25"/>
          <p:cNvSpPr/>
          <p:nvPr/>
        </p:nvSpPr>
        <p:spPr>
          <a:xfrm>
            <a:off x="5879592" y="3209544"/>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ANXIETY / WITHDRAWAL</a:t>
            </a:r>
            <a:endParaRPr lang="en-US" sz="900" dirty="0"/>
          </a:p>
        </p:txBody>
      </p:sp>
      <p:sp>
        <p:nvSpPr>
          <p:cNvPr id="28" name="Shape 26"/>
          <p:cNvSpPr/>
          <p:nvPr/>
        </p:nvSpPr>
        <p:spPr>
          <a:xfrm>
            <a:off x="987552" y="3758184"/>
            <a:ext cx="2139696" cy="1042416"/>
          </a:xfrm>
          <a:prstGeom prst="roundRect">
            <a:avLst>
              <a:gd name="adj" fmla="val 5263"/>
            </a:avLst>
          </a:prstGeom>
          <a:solidFill>
            <a:srgbClr val="FFFFFF"/>
          </a:solidFill>
          <a:ln w="12700">
            <a:solidFill>
              <a:srgbClr val="D7E1EA"/>
            </a:solidFill>
            <a:prstDash val="solid"/>
          </a:ln>
        </p:spPr>
      </p:sp>
      <p:sp>
        <p:nvSpPr>
          <p:cNvPr id="29" name="Text 27"/>
          <p:cNvSpPr/>
          <p:nvPr/>
        </p:nvSpPr>
        <p:spPr>
          <a:xfrm>
            <a:off x="112471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Arjun</a:t>
            </a:r>
            <a:endParaRPr lang="en-US" sz="1500" dirty="0"/>
          </a:p>
        </p:txBody>
      </p:sp>
      <p:sp>
        <p:nvSpPr>
          <p:cNvPr id="30" name="Text 28"/>
          <p:cNvSpPr/>
          <p:nvPr/>
        </p:nvSpPr>
        <p:spPr>
          <a:xfrm>
            <a:off x="112471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Software Developer</a:t>
            </a:r>
            <a:endParaRPr lang="en-US" sz="1050" dirty="0"/>
          </a:p>
        </p:txBody>
      </p:sp>
      <p:sp>
        <p:nvSpPr>
          <p:cNvPr id="31" name="Shape 29"/>
          <p:cNvSpPr/>
          <p:nvPr/>
        </p:nvSpPr>
        <p:spPr>
          <a:xfrm>
            <a:off x="1124712" y="4443984"/>
            <a:ext cx="1810512" cy="310896"/>
          </a:xfrm>
          <a:prstGeom prst="roundRect">
            <a:avLst>
              <a:gd name="adj" fmla="val 47059"/>
            </a:avLst>
          </a:prstGeom>
          <a:solidFill>
            <a:srgbClr val="EEF2F6"/>
          </a:solidFill>
          <a:ln w="12700">
            <a:solidFill>
              <a:srgbClr val="EEF2F6"/>
            </a:solidFill>
            <a:prstDash val="solid"/>
          </a:ln>
        </p:spPr>
      </p:sp>
      <p:sp>
        <p:nvSpPr>
          <p:cNvPr id="32" name="Text 30"/>
          <p:cNvSpPr/>
          <p:nvPr/>
        </p:nvSpPr>
        <p:spPr>
          <a:xfrm>
            <a:off x="1124712" y="4462272"/>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SCEPTICISM / PRIDE</a:t>
            </a:r>
            <a:endParaRPr lang="en-US" sz="900" dirty="0"/>
          </a:p>
        </p:txBody>
      </p:sp>
      <p:sp>
        <p:nvSpPr>
          <p:cNvPr id="33" name="Shape 31"/>
          <p:cNvSpPr/>
          <p:nvPr/>
        </p:nvSpPr>
        <p:spPr>
          <a:xfrm>
            <a:off x="3364992" y="3758184"/>
            <a:ext cx="2139696" cy="1042416"/>
          </a:xfrm>
          <a:prstGeom prst="roundRect">
            <a:avLst>
              <a:gd name="adj" fmla="val 5263"/>
            </a:avLst>
          </a:prstGeom>
          <a:solidFill>
            <a:srgbClr val="FFFFFF"/>
          </a:solidFill>
          <a:ln w="12700">
            <a:solidFill>
              <a:srgbClr val="D7E1EA"/>
            </a:solidFill>
            <a:prstDash val="solid"/>
          </a:ln>
        </p:spPr>
      </p:sp>
      <p:sp>
        <p:nvSpPr>
          <p:cNvPr id="34" name="Text 32"/>
          <p:cNvSpPr/>
          <p:nvPr/>
        </p:nvSpPr>
        <p:spPr>
          <a:xfrm>
            <a:off x="350215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Aisha</a:t>
            </a:r>
            <a:endParaRPr lang="en-US" sz="1500" dirty="0"/>
          </a:p>
        </p:txBody>
      </p:sp>
      <p:sp>
        <p:nvSpPr>
          <p:cNvPr id="35" name="Text 33"/>
          <p:cNvSpPr/>
          <p:nvPr/>
        </p:nvSpPr>
        <p:spPr>
          <a:xfrm>
            <a:off x="350215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Web Operations</a:t>
            </a:r>
            <a:endParaRPr lang="en-US" sz="1050" dirty="0"/>
          </a:p>
        </p:txBody>
      </p:sp>
      <p:sp>
        <p:nvSpPr>
          <p:cNvPr id="36" name="Shape 34"/>
          <p:cNvSpPr/>
          <p:nvPr/>
        </p:nvSpPr>
        <p:spPr>
          <a:xfrm>
            <a:off x="3502152" y="4443984"/>
            <a:ext cx="1810512" cy="310896"/>
          </a:xfrm>
          <a:prstGeom prst="roundRect">
            <a:avLst>
              <a:gd name="adj" fmla="val 47059"/>
            </a:avLst>
          </a:prstGeom>
          <a:solidFill>
            <a:srgbClr val="EEF2F6"/>
          </a:solidFill>
          <a:ln w="12700">
            <a:solidFill>
              <a:srgbClr val="EEF2F6"/>
            </a:solidFill>
            <a:prstDash val="solid"/>
          </a:ln>
        </p:spPr>
      </p:sp>
      <p:sp>
        <p:nvSpPr>
          <p:cNvPr id="37" name="Text 35"/>
          <p:cNvSpPr/>
          <p:nvPr/>
        </p:nvSpPr>
        <p:spPr>
          <a:xfrm>
            <a:off x="3502152" y="4462272"/>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CONTROL / ACCOUNTABILITY</a:t>
            </a:r>
            <a:endParaRPr lang="en-US" sz="900" dirty="0"/>
          </a:p>
        </p:txBody>
      </p:sp>
      <p:sp>
        <p:nvSpPr>
          <p:cNvPr id="38" name="Shape 36"/>
          <p:cNvSpPr/>
          <p:nvPr/>
        </p:nvSpPr>
        <p:spPr>
          <a:xfrm>
            <a:off x="5742432" y="3758184"/>
            <a:ext cx="2139696" cy="1042416"/>
          </a:xfrm>
          <a:prstGeom prst="roundRect">
            <a:avLst>
              <a:gd name="adj" fmla="val 5263"/>
            </a:avLst>
          </a:prstGeom>
          <a:solidFill>
            <a:srgbClr val="FFFFFF"/>
          </a:solidFill>
          <a:ln w="12700">
            <a:solidFill>
              <a:srgbClr val="D7E1EA"/>
            </a:solidFill>
            <a:prstDash val="solid"/>
          </a:ln>
        </p:spPr>
      </p:sp>
      <p:sp>
        <p:nvSpPr>
          <p:cNvPr id="39" name="Text 37"/>
          <p:cNvSpPr/>
          <p:nvPr/>
        </p:nvSpPr>
        <p:spPr>
          <a:xfrm>
            <a:off x="5879592" y="3877056"/>
            <a:ext cx="1865376" cy="219456"/>
          </a:xfrm>
          <a:prstGeom prst="rect">
            <a:avLst/>
          </a:prstGeom>
          <a:noFill/>
          <a:ln/>
        </p:spPr>
        <p:txBody>
          <a:bodyPr wrap="square" lIns="0" tIns="0" rIns="0" bIns="0" rtlCol="0" anchor="ctr"/>
          <a:lstStyle/>
          <a:p>
            <a:pPr indent="0" marL="0">
              <a:buNone/>
            </a:pPr>
            <a:r>
              <a:rPr lang="en-US" sz="1500" b="1" dirty="0">
                <a:solidFill>
                  <a:srgbClr val="12233F"/>
                </a:solidFill>
              </a:rPr>
              <a:t>Farah</a:t>
            </a:r>
            <a:endParaRPr lang="en-US" sz="1500" dirty="0"/>
          </a:p>
        </p:txBody>
      </p:sp>
      <p:sp>
        <p:nvSpPr>
          <p:cNvPr id="40" name="Text 38"/>
          <p:cNvSpPr/>
          <p:nvPr/>
        </p:nvSpPr>
        <p:spPr>
          <a:xfrm>
            <a:off x="5879592" y="4142232"/>
            <a:ext cx="1865376" cy="182880"/>
          </a:xfrm>
          <a:prstGeom prst="rect">
            <a:avLst/>
          </a:prstGeom>
          <a:noFill/>
          <a:ln/>
        </p:spPr>
        <p:txBody>
          <a:bodyPr wrap="square" lIns="0" tIns="0" rIns="0" bIns="0" rtlCol="0" anchor="ctr">
            <a:normAutofit/>
          </a:bodyPr>
          <a:lstStyle/>
          <a:p>
            <a:pPr indent="0" marL="0">
              <a:buNone/>
            </a:pPr>
            <a:r>
              <a:rPr lang="en-US" sz="1050" b="1" dirty="0">
                <a:solidFill>
                  <a:srgbClr val="0B6E75"/>
                </a:solidFill>
              </a:rPr>
              <a:t>HR Executive</a:t>
            </a:r>
            <a:endParaRPr lang="en-US" sz="1050" dirty="0"/>
          </a:p>
        </p:txBody>
      </p:sp>
      <p:sp>
        <p:nvSpPr>
          <p:cNvPr id="41" name="Shape 39"/>
          <p:cNvSpPr/>
          <p:nvPr/>
        </p:nvSpPr>
        <p:spPr>
          <a:xfrm>
            <a:off x="5879592" y="4443984"/>
            <a:ext cx="1810512" cy="310896"/>
          </a:xfrm>
          <a:prstGeom prst="roundRect">
            <a:avLst>
              <a:gd name="adj" fmla="val 47059"/>
            </a:avLst>
          </a:prstGeom>
          <a:solidFill>
            <a:srgbClr val="EEF2F6"/>
          </a:solidFill>
          <a:ln w="12700">
            <a:solidFill>
              <a:srgbClr val="EEF2F6"/>
            </a:solidFill>
            <a:prstDash val="solid"/>
          </a:ln>
        </p:spPr>
      </p:sp>
      <p:sp>
        <p:nvSpPr>
          <p:cNvPr id="42" name="Text 40"/>
          <p:cNvSpPr/>
          <p:nvPr/>
        </p:nvSpPr>
        <p:spPr>
          <a:xfrm>
            <a:off x="5879592" y="4462272"/>
            <a:ext cx="1810512" cy="201168"/>
          </a:xfrm>
          <a:prstGeom prst="rect">
            <a:avLst/>
          </a:prstGeom>
          <a:noFill/>
          <a:ln/>
        </p:spPr>
        <p:txBody>
          <a:bodyPr wrap="square" lIns="0" tIns="0" rIns="0" bIns="0" rtlCol="0" anchor="ctr">
            <a:normAutofit/>
          </a:bodyPr>
          <a:lstStyle/>
          <a:p>
            <a:pPr algn="ctr" indent="0" marL="0">
              <a:buNone/>
            </a:pPr>
            <a:r>
              <a:rPr lang="en-US" sz="900" b="1" dirty="0">
                <a:solidFill>
                  <a:srgbClr val="12233F"/>
                </a:solidFill>
                <a:latin typeface="Arial" pitchFamily="34" charset="0"/>
                <a:ea typeface="Arial" pitchFamily="34" charset="-122"/>
                <a:cs typeface="Arial" pitchFamily="34" charset="-120"/>
              </a:rPr>
              <a:t>ETHICS / PURPOSE</a:t>
            </a:r>
            <a:endParaRPr lang="en-US" sz="900" dirty="0"/>
          </a:p>
        </p:txBody>
      </p:sp>
      <p:sp>
        <p:nvSpPr>
          <p:cNvPr id="43" name="Shape 41"/>
          <p:cNvSpPr/>
          <p:nvPr/>
        </p:nvSpPr>
        <p:spPr>
          <a:xfrm>
            <a:off x="987552" y="5166360"/>
            <a:ext cx="6894576" cy="438912"/>
          </a:xfrm>
          <a:prstGeom prst="roundRect">
            <a:avLst>
              <a:gd name="adj" fmla="val 12500"/>
            </a:avLst>
          </a:prstGeom>
          <a:solidFill>
            <a:srgbClr val="092F57"/>
          </a:solidFill>
          <a:ln w="12700">
            <a:solidFill>
              <a:srgbClr val="092F57"/>
            </a:solidFill>
            <a:prstDash val="solid"/>
          </a:ln>
        </p:spPr>
      </p:sp>
      <p:sp>
        <p:nvSpPr>
          <p:cNvPr id="44" name="Text 42"/>
          <p:cNvSpPr/>
          <p:nvPr/>
        </p:nvSpPr>
        <p:spPr>
          <a:xfrm>
            <a:off x="1234440" y="5294376"/>
            <a:ext cx="6400800" cy="182880"/>
          </a:xfrm>
          <a:prstGeom prst="rect">
            <a:avLst/>
          </a:prstGeom>
          <a:noFill/>
          <a:ln/>
        </p:spPr>
        <p:txBody>
          <a:bodyPr wrap="square" lIns="0" tIns="0" rIns="0" bIns="0" rtlCol="0" anchor="ctr">
            <a:normAutofit/>
          </a:bodyPr>
          <a:lstStyle/>
          <a:p>
            <a:pPr algn="ctr" indent="0" marL="0">
              <a:buNone/>
            </a:pPr>
            <a:r>
              <a:rPr lang="en-US" sz="1100" b="1" spc="45" kern="0" dirty="0">
                <a:solidFill>
                  <a:srgbClr val="FFFFFF"/>
                </a:solidFill>
              </a:rPr>
              <a:t>PICK A PERSON  &gt;  COACH THE TRANSITION  &gt;  GET GROW FEEDBACK</a:t>
            </a:r>
            <a:endParaRPr lang="en-US" sz="1100" dirty="0"/>
          </a:p>
        </p:txBody>
      </p:sp>
      <p:sp>
        <p:nvSpPr>
          <p:cNvPr id="45" name="Shape 43"/>
          <p:cNvSpPr/>
          <p:nvPr/>
        </p:nvSpPr>
        <p:spPr>
          <a:xfrm>
            <a:off x="8823960" y="1664208"/>
            <a:ext cx="2724912" cy="4407408"/>
          </a:xfrm>
          <a:prstGeom prst="roundRect">
            <a:avLst>
              <a:gd name="adj" fmla="val 3356"/>
            </a:avLst>
          </a:prstGeom>
          <a:solidFill>
            <a:srgbClr val="092F57"/>
          </a:solidFill>
          <a:ln w="12700">
            <a:solidFill>
              <a:srgbClr val="092F57"/>
            </a:solidFill>
            <a:prstDash val="solid"/>
          </a:ln>
          <a:effectLst>
            <a:outerShdw sx="100000" sy="100000" kx="0" ky="0" algn="bl" rotWithShape="0" blurRad="25400" dist="50800" dir="2700000">
              <a:srgbClr val="0B1F33">
                <a:alpha val="12000"/>
              </a:srgbClr>
            </a:outerShdw>
          </a:effectLst>
        </p:spPr>
      </p:sp>
      <p:sp>
        <p:nvSpPr>
          <p:cNvPr id="46" name="Text 44"/>
          <p:cNvSpPr/>
          <p:nvPr/>
        </p:nvSpPr>
        <p:spPr>
          <a:xfrm>
            <a:off x="8979408" y="1901952"/>
            <a:ext cx="2414016" cy="274320"/>
          </a:xfrm>
          <a:prstGeom prst="rect">
            <a:avLst/>
          </a:prstGeom>
          <a:noFill/>
          <a:ln/>
        </p:spPr>
        <p:txBody>
          <a:bodyPr wrap="square" lIns="0" tIns="0" rIns="0" bIns="0" rtlCol="0" anchor="ctr">
            <a:normAutofit/>
          </a:bodyPr>
          <a:lstStyle/>
          <a:p>
            <a:pPr algn="ctr" indent="0" marL="0">
              <a:buNone/>
            </a:pPr>
            <a:r>
              <a:rPr lang="en-US" sz="1300" b="1" spc="70" kern="0" dirty="0">
                <a:solidFill>
                  <a:srgbClr val="55D6BE"/>
                </a:solidFill>
              </a:rPr>
              <a:t>OPEN LIVE SIMULATOR</a:t>
            </a:r>
            <a:endParaRPr lang="en-US" sz="1300" dirty="0"/>
          </a:p>
        </p:txBody>
      </p:sp>
      <p:sp>
        <p:nvSpPr>
          <p:cNvPr id="47" name="Shape 45">
            <a:hlinkClick r:id="rId1" tooltip=""/>
          </p:cNvPr>
          <p:cNvSpPr/>
          <p:nvPr/>
        </p:nvSpPr>
        <p:spPr>
          <a:xfrm>
            <a:off x="9454896" y="2240280"/>
            <a:ext cx="1444752" cy="1444752"/>
          </a:xfrm>
          <a:prstGeom prst="ellipse">
            <a:avLst/>
          </a:prstGeom>
          <a:solidFill>
            <a:srgbClr val="F4B942"/>
          </a:solidFill>
          <a:ln w="50800">
            <a:solidFill>
              <a:srgbClr val="FFFFFF"/>
            </a:solidFill>
            <a:prstDash val="solid"/>
          </a:ln>
          <a:effectLst>
            <a:outerShdw sx="100000" sy="100000" kx="0" ky="0" algn="bl" rotWithShape="0" blurRad="25400" dist="50800" dir="2700000">
              <a:srgbClr val="0B1F33">
                <a:alpha val="12000"/>
              </a:srgbClr>
            </a:outerShdw>
          </a:effectLst>
        </p:spPr>
      </p:sp>
      <p:sp>
        <p:nvSpPr>
          <p:cNvPr id="48" name="Shape 46">
            <a:hlinkClick r:id="rId2" tooltip=""/>
          </p:cNvPr>
          <p:cNvSpPr/>
          <p:nvPr/>
        </p:nvSpPr>
        <p:spPr>
          <a:xfrm rot="5400000">
            <a:off x="9948672" y="2660904"/>
            <a:ext cx="512064" cy="640080"/>
          </a:xfrm>
          <a:prstGeom prst="triangle">
            <a:avLst/>
          </a:prstGeom>
          <a:solidFill>
            <a:srgbClr val="092F57"/>
          </a:solidFill>
          <a:ln w="12700">
            <a:solidFill>
              <a:srgbClr val="092F57">
                <a:alpha val="0"/>
              </a:srgbClr>
            </a:solidFill>
            <a:prstDash val="solid"/>
          </a:ln>
        </p:spPr>
      </p:sp>
      <p:sp>
        <p:nvSpPr>
          <p:cNvPr id="49" name="Text 47">
            <a:hlinkClick r:id="rId3" tooltip=""/>
          </p:cNvPr>
          <p:cNvSpPr/>
          <p:nvPr/>
        </p:nvSpPr>
        <p:spPr>
          <a:xfrm>
            <a:off x="9070848" y="3767328"/>
            <a:ext cx="2231136" cy="228600"/>
          </a:xfrm>
          <a:prstGeom prst="rect">
            <a:avLst/>
          </a:prstGeom>
          <a:noFill/>
          <a:ln/>
        </p:spPr>
        <p:txBody>
          <a:bodyPr wrap="square" lIns="0" tIns="0" rIns="0" bIns="0" rtlCol="0" anchor="ctr"/>
          <a:lstStyle/>
          <a:p>
            <a:pPr algn="ctr" indent="0" marL="0">
              <a:buNone/>
            </a:pPr>
            <a:r>
              <a:rPr lang="en-US" sz="1250" b="1" u="sng" spc="70" kern="0" dirty="0">
                <a:solidFill>
                  <a:srgbClr val="FFFFFF"/>
                </a:solidFill>
                <a:hlinkClick r:id="rId3" invalidUrl="" action="" tgtFrame="" tooltip="" history="1" highlightClick="0" endSnd="0">
                  <a:extLst>
                    <a:ext uri="{A12FA001-AC4F-418D-AE19-62706E023703}">
                      <ahyp:hlinkClr xmlns:ahyp="http://schemas.microsoft.com/office/drawing/2018/hyperlinkcolor" val="tx"/>
                    </a:ext>
                  </a:extLst>
                </a:hlinkClick>
              </a:rPr>
              <a:t>CLICK TO OPEN</a:t>
            </a:r>
            <a:endParaRPr lang="en-US" sz="1250" dirty="0"/>
          </a:p>
        </p:txBody>
      </p:sp>
      <p:sp>
        <p:nvSpPr>
          <p:cNvPr id="50" name="Shape 48">
            <a:hlinkClick r:id="rId4" tooltip=""/>
          </p:cNvPr>
          <p:cNvSpPr/>
          <p:nvPr/>
        </p:nvSpPr>
        <p:spPr>
          <a:xfrm>
            <a:off x="9189720" y="2176272"/>
            <a:ext cx="1975104" cy="1901952"/>
          </a:xfrm>
          <a:prstGeom prst="rect">
            <a:avLst/>
          </a:prstGeom>
          <a:solidFill>
            <a:srgbClr val="FFFFFF">
              <a:alpha val="0"/>
            </a:srgbClr>
          </a:solidFill>
          <a:ln w="12700">
            <a:solidFill>
              <a:srgbClr val="FFFFFF">
                <a:alpha val="0"/>
              </a:srgbClr>
            </a:solidFill>
            <a:prstDash val="solid"/>
          </a:ln>
        </p:spPr>
      </p:sp>
      <p:sp>
        <p:nvSpPr>
          <p:cNvPr id="51" name="Shape 49"/>
          <p:cNvSpPr/>
          <p:nvPr/>
        </p:nvSpPr>
        <p:spPr>
          <a:xfrm>
            <a:off x="9162288" y="4069080"/>
            <a:ext cx="2029968" cy="0"/>
          </a:xfrm>
          <a:prstGeom prst="line">
            <a:avLst/>
          </a:prstGeom>
          <a:noFill/>
          <a:ln w="12700">
            <a:solidFill>
              <a:srgbClr val="5D8194"/>
            </a:solidFill>
            <a:prstDash val="solid"/>
          </a:ln>
        </p:spPr>
      </p:sp>
      <p:sp>
        <p:nvSpPr>
          <p:cNvPr id="52" name="Text 50"/>
          <p:cNvSpPr/>
          <p:nvPr/>
        </p:nvSpPr>
        <p:spPr>
          <a:xfrm>
            <a:off x="9070848" y="4160520"/>
            <a:ext cx="2231136" cy="164592"/>
          </a:xfrm>
          <a:prstGeom prst="rect">
            <a:avLst/>
          </a:prstGeom>
          <a:noFill/>
          <a:ln/>
        </p:spPr>
        <p:txBody>
          <a:bodyPr wrap="square" lIns="0" tIns="0" rIns="0" bIns="0" rtlCol="0" anchor="ctr"/>
          <a:lstStyle/>
          <a:p>
            <a:pPr algn="ctr" indent="0" marL="0">
              <a:buNone/>
            </a:pPr>
            <a:r>
              <a:rPr lang="en-US" sz="1050" b="1" spc="90" kern="0" dirty="0">
                <a:solidFill>
                  <a:srgbClr val="55D6BE"/>
                </a:solidFill>
              </a:rPr>
              <a:t>OR SCAN</a:t>
            </a:r>
            <a:endParaRPr lang="en-US" sz="1050" dirty="0"/>
          </a:p>
        </p:txBody>
      </p:sp>
      <p:sp>
        <p:nvSpPr>
          <p:cNvPr id="53" name="Shape 51"/>
          <p:cNvSpPr/>
          <p:nvPr/>
        </p:nvSpPr>
        <p:spPr>
          <a:xfrm>
            <a:off x="9436608" y="4370832"/>
            <a:ext cx="1481328" cy="1481328"/>
          </a:xfrm>
          <a:prstGeom prst="rect">
            <a:avLst/>
          </a:prstGeom>
          <a:solidFill>
            <a:srgbClr val="FFFFFF"/>
          </a:solidFill>
          <a:ln w="12700">
            <a:solidFill>
              <a:srgbClr val="FFFFFF"/>
            </a:solidFill>
            <a:prstDash val="solid"/>
          </a:ln>
        </p:spPr>
      </p:sp>
      <p:pic>
        <p:nvPicPr>
          <p:cNvPr id="54" name="Image 0" descr="QR code to the live AI Agent Job Redesign Coach">
            <a:hlinkClick r:id="rId6" tooltip=""/>
          </p:cNvPr>
          <p:cNvPicPr>
            <a:picLocks noChangeAspect="1"/>
          </p:cNvPicPr>
          <p:nvPr/>
        </p:nvPicPr>
        <p:blipFill>
          <a:blip r:embed="rId5"/>
          <a:stretch>
            <a:fillRect/>
          </a:stretch>
        </p:blipFill>
        <p:spPr>
          <a:xfrm>
            <a:off x="9500616" y="4434840"/>
            <a:ext cx="1353312" cy="1353312"/>
          </a:xfrm>
          <a:prstGeom prst="rect">
            <a:avLst/>
          </a:prstGeom>
        </p:spPr>
      </p:pic>
      <p:sp>
        <p:nvSpPr>
          <p:cNvPr id="55" name="Text 52">
            <a:hlinkClick r:id="rId7"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Live training simulator - six fictional scenarios; demo mode makes no external API calls</a:t>
            </a:r>
            <a:endParaRPr lang="en-US" sz="1000" dirty="0"/>
          </a:p>
        </p:txBody>
      </p:sp>
      <p:sp>
        <p:nvSpPr>
          <p:cNvPr id="56" name="Text 53"/>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46304" cy="6858000"/>
          </a:xfrm>
          <a:prstGeom prst="rect">
            <a:avLst/>
          </a:prstGeom>
          <a:solidFill>
            <a:srgbClr val="0B6E75"/>
          </a:solidFill>
          <a:ln w="12700">
            <a:solidFill>
              <a:srgbClr val="0B6E75"/>
            </a:solidFill>
            <a:prstDash val="solid"/>
          </a:ln>
        </p:spPr>
      </p:sp>
      <p:sp>
        <p:nvSpPr>
          <p:cNvPr id="3" name="Text 1"/>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0B6E75"/>
                </a:solidFill>
                <a:latin typeface="Arial" pitchFamily="34" charset="0"/>
                <a:ea typeface="Arial" pitchFamily="34" charset="-122"/>
                <a:cs typeface="Arial" pitchFamily="34" charset="-120"/>
              </a:rPr>
              <a:t>THE WORKED EXAMPLE</a:t>
            </a:r>
            <a:endParaRPr lang="en-US" sz="900" dirty="0"/>
          </a:p>
        </p:txBody>
      </p:sp>
      <p:sp>
        <p:nvSpPr>
          <p:cNvPr id="4" name="Text 2"/>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728197"/>
                </a:solidFill>
                <a:latin typeface="Arial" pitchFamily="34" charset="0"/>
                <a:ea typeface="Arial" pitchFamily="34" charset="-122"/>
                <a:cs typeface="Arial" pitchFamily="34" charset="-120"/>
              </a:rPr>
              <a:t>09</a:t>
            </a:r>
            <a:endParaRPr lang="en-US" sz="1000" dirty="0"/>
          </a:p>
        </p:txBody>
      </p:sp>
      <p:sp>
        <p:nvSpPr>
          <p:cNvPr id="5" name="Text 3"/>
          <p:cNvSpPr/>
          <p:nvPr/>
        </p:nvSpPr>
        <p:spPr>
          <a:xfrm>
            <a:off x="658368" y="566928"/>
            <a:ext cx="10744200" cy="594360"/>
          </a:xfrm>
          <a:prstGeom prst="rect">
            <a:avLst/>
          </a:prstGeom>
          <a:noFill/>
          <a:ln/>
        </p:spPr>
        <p:txBody>
          <a:bodyPr wrap="square" lIns="0" tIns="0" rIns="0" bIns="0" rtlCol="0" anchor="ctr">
            <a:normAutofit/>
          </a:bodyPr>
          <a:lstStyle/>
          <a:p>
            <a:pPr indent="0" marL="0">
              <a:buNone/>
            </a:pPr>
            <a:r>
              <a:rPr lang="en-US" sz="2900" b="1" dirty="0">
                <a:solidFill>
                  <a:srgbClr val="12233F"/>
                </a:solidFill>
                <a:latin typeface="Arial" pitchFamily="34" charset="0"/>
                <a:ea typeface="Arial" pitchFamily="34" charset="-122"/>
                <a:cs typeface="Arial" pitchFamily="34" charset="-120"/>
              </a:rPr>
              <a:t>A coaching conversation can reframe fear as ownership.</a:t>
            </a:r>
            <a:endParaRPr lang="en-US" sz="2900" dirty="0"/>
          </a:p>
        </p:txBody>
      </p:sp>
      <p:sp>
        <p:nvSpPr>
          <p:cNvPr id="6" name="Text 4"/>
          <p:cNvSpPr/>
          <p:nvPr/>
        </p:nvSpPr>
        <p:spPr>
          <a:xfrm>
            <a:off x="658368" y="1207008"/>
            <a:ext cx="10424160" cy="310896"/>
          </a:xfrm>
          <a:prstGeom prst="rect">
            <a:avLst/>
          </a:prstGeom>
          <a:noFill/>
          <a:ln/>
        </p:spPr>
        <p:txBody>
          <a:bodyPr wrap="square" lIns="0" tIns="0" rIns="0" bIns="0" rtlCol="0" anchor="ctr">
            <a:normAutofit/>
          </a:bodyPr>
          <a:lstStyle/>
          <a:p>
            <a:pPr indent="0" marL="0">
              <a:buNone/>
            </a:pPr>
            <a:r>
              <a:rPr lang="en-US" sz="1500" dirty="0">
                <a:solidFill>
                  <a:srgbClr val="4F6176"/>
                </a:solidFill>
                <a:latin typeface="Arial" pitchFamily="34" charset="0"/>
                <a:ea typeface="Arial" pitchFamily="34" charset="-122"/>
                <a:cs typeface="Arial" pitchFamily="34" charset="-120"/>
              </a:rPr>
              <a:t>Sarah moves from threatened doer to AI-augmented marketing lead.</a:t>
            </a:r>
            <a:endParaRPr lang="en-US" sz="1500" dirty="0"/>
          </a:p>
        </p:txBody>
      </p:sp>
      <p:sp>
        <p:nvSpPr>
          <p:cNvPr id="7" name="Shape 5"/>
          <p:cNvSpPr/>
          <p:nvPr/>
        </p:nvSpPr>
        <p:spPr>
          <a:xfrm>
            <a:off x="640080" y="1737360"/>
            <a:ext cx="3794760" cy="4352544"/>
          </a:xfrm>
          <a:prstGeom prst="roundRect">
            <a:avLst>
              <a:gd name="adj" fmla="val 2410"/>
            </a:avLst>
          </a:prstGeom>
          <a:solidFill>
            <a:srgbClr val="FFF0EE"/>
          </a:solidFill>
          <a:ln w="12700">
            <a:solidFill>
              <a:srgbClr val="F4B8B3"/>
            </a:solidFill>
            <a:prstDash val="solid"/>
          </a:ln>
          <a:effectLst>
            <a:outerShdw sx="100000" sy="100000" kx="0" ky="0" algn="bl" rotWithShape="0" blurRad="25400" dist="50800" dir="2700000">
              <a:srgbClr val="0B1F33">
                <a:alpha val="12000"/>
              </a:srgbClr>
            </a:outerShdw>
          </a:effectLst>
        </p:spPr>
      </p:sp>
      <p:sp>
        <p:nvSpPr>
          <p:cNvPr id="8" name="Shape 6"/>
          <p:cNvSpPr/>
          <p:nvPr/>
        </p:nvSpPr>
        <p:spPr>
          <a:xfrm>
            <a:off x="932688" y="2039112"/>
            <a:ext cx="896112" cy="310896"/>
          </a:xfrm>
          <a:prstGeom prst="roundRect">
            <a:avLst>
              <a:gd name="adj" fmla="val 47059"/>
            </a:avLst>
          </a:prstGeom>
          <a:solidFill>
            <a:srgbClr val="F5665C"/>
          </a:solidFill>
          <a:ln w="12700">
            <a:solidFill>
              <a:srgbClr val="F5665C"/>
            </a:solidFill>
            <a:prstDash val="solid"/>
          </a:ln>
        </p:spPr>
      </p:sp>
      <p:sp>
        <p:nvSpPr>
          <p:cNvPr id="9" name="Text 7"/>
          <p:cNvSpPr/>
          <p:nvPr/>
        </p:nvSpPr>
        <p:spPr>
          <a:xfrm>
            <a:off x="932688" y="2057400"/>
            <a:ext cx="896112"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REALITY</a:t>
            </a:r>
            <a:endParaRPr lang="en-US" sz="1000" dirty="0"/>
          </a:p>
        </p:txBody>
      </p:sp>
      <p:sp>
        <p:nvSpPr>
          <p:cNvPr id="10" name="Text 8"/>
          <p:cNvSpPr/>
          <p:nvPr/>
        </p:nvSpPr>
        <p:spPr>
          <a:xfrm>
            <a:off x="914400" y="2633472"/>
            <a:ext cx="3246120" cy="1325880"/>
          </a:xfrm>
          <a:prstGeom prst="rect">
            <a:avLst/>
          </a:prstGeom>
          <a:noFill/>
          <a:ln/>
        </p:spPr>
        <p:txBody>
          <a:bodyPr wrap="square" lIns="0" tIns="0" rIns="0" bIns="0" rtlCol="0" anchor="ctr">
            <a:normAutofit/>
          </a:bodyPr>
          <a:lstStyle/>
          <a:p>
            <a:pPr indent="0" marL="0">
              <a:buNone/>
            </a:pPr>
            <a:r>
              <a:rPr lang="en-US" sz="2300" b="1" i="1" dirty="0">
                <a:solidFill>
                  <a:srgbClr val="12233F"/>
                </a:solidFill>
              </a:rPr>
              <a:t>"The agent writes the campaign copy and builds the decks. That is basically my whole job."</a:t>
            </a:r>
            <a:endParaRPr lang="en-US" sz="2300" dirty="0"/>
          </a:p>
        </p:txBody>
      </p:sp>
      <p:sp>
        <p:nvSpPr>
          <p:cNvPr id="11" name="Text 9"/>
          <p:cNvSpPr/>
          <p:nvPr/>
        </p:nvSpPr>
        <p:spPr>
          <a:xfrm>
            <a:off x="960120" y="4315968"/>
            <a:ext cx="3063240" cy="1051560"/>
          </a:xfrm>
          <a:prstGeom prst="rect">
            <a:avLst/>
          </a:prstGeom>
          <a:noFill/>
          <a:ln/>
        </p:spPr>
        <p:txBody>
          <a:bodyPr wrap="square" lIns="0" tIns="0" rIns="0" bIns="0" rtlCol="0" anchor="ctr">
            <a:normAutofit/>
          </a:bodyPr>
          <a:lstStyle/>
          <a:p>
            <a:pPr indent="0" marL="0">
              <a:buNone/>
            </a:pPr>
            <a:r>
              <a:rPr lang="en-US" sz="1600" dirty="0">
                <a:solidFill>
                  <a:srgbClr val="4F6176"/>
                </a:solidFill>
              </a:rPr>
              <a:t>Fear of redundancy</a:t>
            </a:r>
            <a:endParaRPr lang="en-US" sz="1600" dirty="0"/>
          </a:p>
          <a:p>
            <a:pPr indent="0" marL="0">
              <a:buNone/>
            </a:pPr>
            <a:r>
              <a:rPr lang="en-US" sz="1600" dirty="0">
                <a:solidFill>
                  <a:srgbClr val="4F6176"/>
                </a:solidFill>
              </a:rPr>
              <a:t>Loss of identity</a:t>
            </a:r>
            <a:endParaRPr lang="en-US" sz="1600" dirty="0"/>
          </a:p>
          <a:p>
            <a:pPr indent="0" marL="0">
              <a:buNone/>
            </a:pPr>
            <a:r>
              <a:rPr lang="en-US" sz="1600" dirty="0">
                <a:solidFill>
                  <a:srgbClr val="4F6176"/>
                </a:solidFill>
              </a:rPr>
              <a:t>No consultation</a:t>
            </a:r>
            <a:endParaRPr lang="en-US" sz="1600" dirty="0"/>
          </a:p>
          <a:p>
            <a:pPr indent="0" marL="0">
              <a:buNone/>
            </a:pPr>
            <a:r>
              <a:rPr lang="en-US" sz="1600" dirty="0">
                <a:solidFill>
                  <a:srgbClr val="4F6176"/>
                </a:solidFill>
              </a:rPr>
              <a:t>Anxiety about blame</a:t>
            </a:r>
            <a:endParaRPr lang="en-US" sz="1600" dirty="0"/>
          </a:p>
        </p:txBody>
      </p:sp>
      <p:sp>
        <p:nvSpPr>
          <p:cNvPr id="12" name="Shape 10"/>
          <p:cNvSpPr/>
          <p:nvPr/>
        </p:nvSpPr>
        <p:spPr>
          <a:xfrm>
            <a:off x="4663440" y="3127248"/>
            <a:ext cx="685800" cy="1097280"/>
          </a:xfrm>
          <a:prstGeom prst="chevron">
            <a:avLst/>
          </a:prstGeom>
          <a:solidFill>
            <a:srgbClr val="F4B942"/>
          </a:solidFill>
          <a:ln w="12700">
            <a:solidFill>
              <a:srgbClr val="F4B942">
                <a:alpha val="0"/>
              </a:srgbClr>
            </a:solidFill>
            <a:prstDash val="solid"/>
          </a:ln>
        </p:spPr>
      </p:sp>
      <p:sp>
        <p:nvSpPr>
          <p:cNvPr id="13" name="Shape 11"/>
          <p:cNvSpPr/>
          <p:nvPr/>
        </p:nvSpPr>
        <p:spPr>
          <a:xfrm>
            <a:off x="5532120" y="1737360"/>
            <a:ext cx="5943600" cy="4352544"/>
          </a:xfrm>
          <a:prstGeom prst="roundRect">
            <a:avLst>
              <a:gd name="adj" fmla="val 2101"/>
            </a:avLst>
          </a:prstGeom>
          <a:solidFill>
            <a:srgbClr val="E9F8F4"/>
          </a:solidFill>
          <a:ln w="12700">
            <a:solidFill>
              <a:srgbClr val="A9DDD3"/>
            </a:solidFill>
            <a:prstDash val="solid"/>
          </a:ln>
          <a:effectLst>
            <a:outerShdw sx="100000" sy="100000" kx="0" ky="0" algn="bl" rotWithShape="0" blurRad="25400" dist="50800" dir="2700000">
              <a:srgbClr val="0B1F33">
                <a:alpha val="12000"/>
              </a:srgbClr>
            </a:outerShdw>
          </a:effectLst>
        </p:spPr>
      </p:sp>
      <p:sp>
        <p:nvSpPr>
          <p:cNvPr id="14" name="Shape 12"/>
          <p:cNvSpPr/>
          <p:nvPr/>
        </p:nvSpPr>
        <p:spPr>
          <a:xfrm>
            <a:off x="5833872" y="2039112"/>
            <a:ext cx="1536192" cy="310896"/>
          </a:xfrm>
          <a:prstGeom prst="roundRect">
            <a:avLst>
              <a:gd name="adj" fmla="val 47059"/>
            </a:avLst>
          </a:prstGeom>
          <a:solidFill>
            <a:srgbClr val="0C8A78"/>
          </a:solidFill>
          <a:ln w="12700">
            <a:solidFill>
              <a:srgbClr val="0C8A78"/>
            </a:solidFill>
            <a:prstDash val="solid"/>
          </a:ln>
        </p:spPr>
      </p:sp>
      <p:sp>
        <p:nvSpPr>
          <p:cNvPr id="15" name="Text 13"/>
          <p:cNvSpPr/>
          <p:nvPr/>
        </p:nvSpPr>
        <p:spPr>
          <a:xfrm>
            <a:off x="5833872" y="2057400"/>
            <a:ext cx="1536192"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REDESIGNED ROLE</a:t>
            </a:r>
            <a:endParaRPr lang="en-US" sz="1000" dirty="0"/>
          </a:p>
        </p:txBody>
      </p:sp>
      <p:sp>
        <p:nvSpPr>
          <p:cNvPr id="16" name="Text 14"/>
          <p:cNvSpPr/>
          <p:nvPr/>
        </p:nvSpPr>
        <p:spPr>
          <a:xfrm>
            <a:off x="5833872" y="2578608"/>
            <a:ext cx="5303520" cy="502920"/>
          </a:xfrm>
          <a:prstGeom prst="rect">
            <a:avLst/>
          </a:prstGeom>
          <a:noFill/>
          <a:ln/>
        </p:spPr>
        <p:txBody>
          <a:bodyPr wrap="square" lIns="0" tIns="0" rIns="0" bIns="0" rtlCol="0" anchor="ctr">
            <a:normAutofit/>
          </a:bodyPr>
          <a:lstStyle/>
          <a:p>
            <a:pPr algn="ctr" indent="0" marL="0">
              <a:buNone/>
            </a:pPr>
            <a:r>
              <a:rPr lang="en-US" sz="2800" b="1" dirty="0">
                <a:solidFill>
                  <a:srgbClr val="092F57"/>
                </a:solidFill>
              </a:rPr>
              <a:t>AI-Augmented Marketing Lead</a:t>
            </a:r>
            <a:endParaRPr lang="en-US" sz="2800" dirty="0"/>
          </a:p>
        </p:txBody>
      </p:sp>
      <p:sp>
        <p:nvSpPr>
          <p:cNvPr id="17" name="Text 15"/>
          <p:cNvSpPr/>
          <p:nvPr/>
        </p:nvSpPr>
        <p:spPr>
          <a:xfrm>
            <a:off x="5925312" y="3337560"/>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DIRECTION</a:t>
            </a:r>
            <a:endParaRPr lang="en-US" sz="1050" dirty="0"/>
          </a:p>
        </p:txBody>
      </p:sp>
      <p:sp>
        <p:nvSpPr>
          <p:cNvPr id="18" name="Text 16"/>
          <p:cNvSpPr/>
          <p:nvPr/>
        </p:nvSpPr>
        <p:spPr>
          <a:xfrm>
            <a:off x="7095744" y="3328416"/>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Goals, creative angle and brand voice</a:t>
            </a:r>
            <a:endParaRPr lang="en-US" sz="1520" dirty="0"/>
          </a:p>
        </p:txBody>
      </p:sp>
      <p:sp>
        <p:nvSpPr>
          <p:cNvPr id="19" name="Text 17"/>
          <p:cNvSpPr/>
          <p:nvPr/>
        </p:nvSpPr>
        <p:spPr>
          <a:xfrm>
            <a:off x="5925312" y="3767328"/>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CHALLENGE</a:t>
            </a:r>
            <a:endParaRPr lang="en-US" sz="1050" dirty="0"/>
          </a:p>
        </p:txBody>
      </p:sp>
      <p:sp>
        <p:nvSpPr>
          <p:cNvPr id="20" name="Text 18"/>
          <p:cNvSpPr/>
          <p:nvPr/>
        </p:nvSpPr>
        <p:spPr>
          <a:xfrm>
            <a:off x="7095744" y="3758184"/>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Audit assumptions, facts and market fit</a:t>
            </a:r>
            <a:endParaRPr lang="en-US" sz="1520" dirty="0"/>
          </a:p>
        </p:txBody>
      </p:sp>
      <p:sp>
        <p:nvSpPr>
          <p:cNvPr id="21" name="Text 19"/>
          <p:cNvSpPr/>
          <p:nvPr/>
        </p:nvSpPr>
        <p:spPr>
          <a:xfrm>
            <a:off x="5925312" y="4197096"/>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APPROVAL</a:t>
            </a:r>
            <a:endParaRPr lang="en-US" sz="1050" dirty="0"/>
          </a:p>
        </p:txBody>
      </p:sp>
      <p:sp>
        <p:nvSpPr>
          <p:cNvPr id="22" name="Text 20"/>
          <p:cNvSpPr/>
          <p:nvPr/>
        </p:nvSpPr>
        <p:spPr>
          <a:xfrm>
            <a:off x="7095744" y="4187952"/>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Final gate for external content</a:t>
            </a:r>
            <a:endParaRPr lang="en-US" sz="1520" dirty="0"/>
          </a:p>
        </p:txBody>
      </p:sp>
      <p:sp>
        <p:nvSpPr>
          <p:cNvPr id="23" name="Text 21"/>
          <p:cNvSpPr/>
          <p:nvPr/>
        </p:nvSpPr>
        <p:spPr>
          <a:xfrm>
            <a:off x="5925312" y="4626864"/>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INSIGHT</a:t>
            </a:r>
            <a:endParaRPr lang="en-US" sz="1050" dirty="0"/>
          </a:p>
        </p:txBody>
      </p:sp>
      <p:sp>
        <p:nvSpPr>
          <p:cNvPr id="24" name="Text 22"/>
          <p:cNvSpPr/>
          <p:nvPr/>
        </p:nvSpPr>
        <p:spPr>
          <a:xfrm>
            <a:off x="7095744" y="4617720"/>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Feed live client and market context back</a:t>
            </a:r>
            <a:endParaRPr lang="en-US" sz="1520" dirty="0"/>
          </a:p>
        </p:txBody>
      </p:sp>
      <p:sp>
        <p:nvSpPr>
          <p:cNvPr id="25" name="Text 23"/>
          <p:cNvSpPr/>
          <p:nvPr/>
        </p:nvSpPr>
        <p:spPr>
          <a:xfrm>
            <a:off x="5925312" y="5056632"/>
            <a:ext cx="1143000" cy="201168"/>
          </a:xfrm>
          <a:prstGeom prst="rect">
            <a:avLst/>
          </a:prstGeom>
          <a:noFill/>
          <a:ln/>
        </p:spPr>
        <p:txBody>
          <a:bodyPr wrap="square" lIns="0" tIns="0" rIns="0" bIns="0" rtlCol="0" anchor="ctr"/>
          <a:lstStyle/>
          <a:p>
            <a:pPr indent="0" marL="0">
              <a:buNone/>
            </a:pPr>
            <a:r>
              <a:rPr lang="en-US" sz="1050" b="1" spc="70" kern="0" dirty="0">
                <a:solidFill>
                  <a:srgbClr val="0B6E75"/>
                </a:solidFill>
              </a:rPr>
              <a:t>LEARNING</a:t>
            </a:r>
            <a:endParaRPr lang="en-US" sz="1050" dirty="0"/>
          </a:p>
        </p:txBody>
      </p:sp>
      <p:sp>
        <p:nvSpPr>
          <p:cNvPr id="26" name="Text 24"/>
          <p:cNvSpPr/>
          <p:nvPr/>
        </p:nvSpPr>
        <p:spPr>
          <a:xfrm>
            <a:off x="7095744" y="5047488"/>
            <a:ext cx="3794760" cy="228600"/>
          </a:xfrm>
          <a:prstGeom prst="rect">
            <a:avLst/>
          </a:prstGeom>
          <a:noFill/>
          <a:ln/>
        </p:spPr>
        <p:txBody>
          <a:bodyPr wrap="square" lIns="0" tIns="0" rIns="0" bIns="0" rtlCol="0" anchor="ctr">
            <a:normAutofit/>
          </a:bodyPr>
          <a:lstStyle/>
          <a:p>
            <a:pPr indent="0" marL="0">
              <a:buNone/>
            </a:pPr>
            <a:r>
              <a:rPr lang="en-US" sz="1520" dirty="0">
                <a:solidFill>
                  <a:srgbClr val="12233F"/>
                </a:solidFill>
              </a:rPr>
              <a:t>Refine the human-agent workflow</a:t>
            </a:r>
            <a:endParaRPr lang="en-US" sz="1520" dirty="0"/>
          </a:p>
        </p:txBody>
      </p:sp>
      <p:sp>
        <p:nvSpPr>
          <p:cNvPr id="27" name="Text 25"/>
          <p:cNvSpPr/>
          <p:nvPr/>
        </p:nvSpPr>
        <p:spPr>
          <a:xfrm>
            <a:off x="5989320" y="5541264"/>
            <a:ext cx="5074920" cy="292608"/>
          </a:xfrm>
          <a:prstGeom prst="rect">
            <a:avLst/>
          </a:prstGeom>
          <a:noFill/>
          <a:ln/>
        </p:spPr>
        <p:txBody>
          <a:bodyPr wrap="square" lIns="0" tIns="0" rIns="0" bIns="0" rtlCol="0" anchor="ctr"/>
          <a:lstStyle/>
          <a:p>
            <a:pPr algn="ctr" indent="0" marL="0">
              <a:buNone/>
            </a:pPr>
            <a:r>
              <a:rPr lang="en-US" sz="1800" b="1" dirty="0">
                <a:solidFill>
                  <a:srgbClr val="0B6E75"/>
                </a:solidFill>
              </a:rPr>
              <a:t>AI lights the way. The human decides the path.</a:t>
            </a:r>
            <a:endParaRPr lang="en-US" sz="1800" dirty="0"/>
          </a:p>
        </p:txBody>
      </p:sp>
      <p:sp>
        <p:nvSpPr>
          <p:cNvPr id="28" name="Text 26">
            <a:hlinkClick r:id="rId1"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728197"/>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Source: A6 coaching scenario supplied for this presentation; fictional staff and company data</a:t>
            </a:r>
            <a:endParaRPr lang="en-US" sz="1000" dirty="0"/>
          </a:p>
        </p:txBody>
      </p:sp>
      <p:sp>
        <p:nvSpPr>
          <p:cNvPr id="29" name="Text 27"/>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0B6E75"/>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92F57"/>
        </a:solidFill>
      </p:bgPr>
    </p:bg>
    <p:spTree>
      <p:nvGrpSpPr>
        <p:cNvPr id="1" name=""/>
        <p:cNvGrpSpPr/>
        <p:nvPr/>
      </p:nvGrpSpPr>
      <p:grpSpPr>
        <a:xfrm>
          <a:off x="0" y="0"/>
          <a:ext cx="0" cy="0"/>
          <a:chOff x="0" y="0"/>
          <a:chExt cx="0" cy="0"/>
        </a:xfrm>
      </p:grpSpPr>
      <p:sp>
        <p:nvSpPr>
          <p:cNvPr id="2" name="Text 0"/>
          <p:cNvSpPr/>
          <p:nvPr/>
        </p:nvSpPr>
        <p:spPr>
          <a:xfrm>
            <a:off x="658368" y="228600"/>
            <a:ext cx="3474720" cy="219456"/>
          </a:xfrm>
          <a:prstGeom prst="rect">
            <a:avLst/>
          </a:prstGeom>
          <a:noFill/>
          <a:ln/>
        </p:spPr>
        <p:txBody>
          <a:bodyPr wrap="square" lIns="0" tIns="0" rIns="0" bIns="0" rtlCol="0" anchor="ctr"/>
          <a:lstStyle/>
          <a:p>
            <a:pPr indent="0" marL="0">
              <a:buNone/>
            </a:pPr>
            <a:r>
              <a:rPr lang="en-US" sz="900" b="1" spc="170" kern="0" dirty="0">
                <a:solidFill>
                  <a:srgbClr val="55D6BE"/>
                </a:solidFill>
                <a:latin typeface="Arial" pitchFamily="34" charset="0"/>
                <a:ea typeface="Arial" pitchFamily="34" charset="-122"/>
                <a:cs typeface="Arial" pitchFamily="34" charset="-120"/>
              </a:rPr>
              <a:t>THE ASK</a:t>
            </a:r>
            <a:endParaRPr lang="en-US" sz="900" dirty="0"/>
          </a:p>
        </p:txBody>
      </p:sp>
      <p:sp>
        <p:nvSpPr>
          <p:cNvPr id="3" name="Text 1"/>
          <p:cNvSpPr/>
          <p:nvPr/>
        </p:nvSpPr>
        <p:spPr>
          <a:xfrm>
            <a:off x="11109960" y="219456"/>
            <a:ext cx="530352" cy="219456"/>
          </a:xfrm>
          <a:prstGeom prst="rect">
            <a:avLst/>
          </a:prstGeom>
          <a:noFill/>
          <a:ln/>
        </p:spPr>
        <p:txBody>
          <a:bodyPr wrap="square" lIns="0" tIns="0" rIns="0" bIns="0" rtlCol="0" anchor="ctr"/>
          <a:lstStyle/>
          <a:p>
            <a:pPr algn="r" indent="0" marL="0">
              <a:buNone/>
            </a:pPr>
            <a:r>
              <a:rPr lang="en-US" sz="1000" b="1" dirty="0">
                <a:solidFill>
                  <a:srgbClr val="A7C9D2"/>
                </a:solidFill>
                <a:latin typeface="Arial" pitchFamily="34" charset="0"/>
                <a:ea typeface="Arial" pitchFamily="34" charset="-122"/>
                <a:cs typeface="Arial" pitchFamily="34" charset="-120"/>
              </a:rPr>
              <a:t>10</a:t>
            </a:r>
            <a:endParaRPr lang="en-US" sz="1000" dirty="0"/>
          </a:p>
        </p:txBody>
      </p:sp>
      <p:sp>
        <p:nvSpPr>
          <p:cNvPr id="4" name="Text 2"/>
          <p:cNvSpPr/>
          <p:nvPr/>
        </p:nvSpPr>
        <p:spPr>
          <a:xfrm>
            <a:off x="640080" y="822960"/>
            <a:ext cx="7726680" cy="1143000"/>
          </a:xfrm>
          <a:prstGeom prst="rect">
            <a:avLst/>
          </a:prstGeom>
          <a:noFill/>
          <a:ln/>
        </p:spPr>
        <p:txBody>
          <a:bodyPr wrap="square" lIns="0" tIns="0" rIns="0" bIns="0" rtlCol="0" anchor="ctr">
            <a:normAutofit/>
          </a:bodyPr>
          <a:lstStyle/>
          <a:p>
            <a:pPr indent="0" marL="0">
              <a:buNone/>
            </a:pPr>
            <a:r>
              <a:rPr lang="en-US" sz="4400" b="1" dirty="0">
                <a:solidFill>
                  <a:srgbClr val="FFFFFF"/>
                </a:solidFill>
              </a:rPr>
              <a:t>PILOT ONE ROLE</a:t>
            </a:r>
            <a:endParaRPr lang="en-US" sz="4400" dirty="0"/>
          </a:p>
          <a:p>
            <a:pPr indent="0" marL="0">
              <a:buNone/>
            </a:pPr>
            <a:r>
              <a:rPr lang="en-US" sz="4400" b="1" dirty="0">
                <a:solidFill>
                  <a:srgbClr val="FFFFFF"/>
                </a:solidFill>
              </a:rPr>
              <a:t>FOR TWO WEEKS.</a:t>
            </a:r>
            <a:endParaRPr lang="en-US" sz="4400" dirty="0"/>
          </a:p>
        </p:txBody>
      </p:sp>
      <p:sp>
        <p:nvSpPr>
          <p:cNvPr id="5" name="Text 3"/>
          <p:cNvSpPr/>
          <p:nvPr/>
        </p:nvSpPr>
        <p:spPr>
          <a:xfrm>
            <a:off x="658368" y="2148840"/>
            <a:ext cx="7315200" cy="438912"/>
          </a:xfrm>
          <a:prstGeom prst="rect">
            <a:avLst/>
          </a:prstGeom>
          <a:noFill/>
          <a:ln/>
        </p:spPr>
        <p:txBody>
          <a:bodyPr wrap="square" lIns="0" tIns="0" rIns="0" bIns="0" rtlCol="0" anchor="ctr"/>
          <a:lstStyle/>
          <a:p>
            <a:pPr indent="0" marL="0">
              <a:buNone/>
            </a:pPr>
            <a:r>
              <a:rPr lang="en-US" sz="2200" dirty="0">
                <a:solidFill>
                  <a:srgbClr val="C7E3E7"/>
                </a:solidFill>
              </a:rPr>
              <a:t>Small scope. Named owner. Safe stop rules. Measurable evidence.</a:t>
            </a:r>
            <a:endParaRPr lang="en-US" sz="2200" dirty="0"/>
          </a:p>
        </p:txBody>
      </p:sp>
      <p:sp>
        <p:nvSpPr>
          <p:cNvPr id="6" name="Shape 4"/>
          <p:cNvSpPr/>
          <p:nvPr/>
        </p:nvSpPr>
        <p:spPr>
          <a:xfrm>
            <a:off x="658368" y="3035808"/>
            <a:ext cx="2331720" cy="1965960"/>
          </a:xfrm>
          <a:prstGeom prst="roundRect">
            <a:avLst>
              <a:gd name="adj" fmla="val 3721"/>
            </a:avLst>
          </a:prstGeom>
          <a:solidFill>
            <a:srgbClr val="0D3E59"/>
          </a:solidFill>
          <a:ln w="15240">
            <a:solidFill>
              <a:srgbClr val="0C8A78"/>
            </a:solidFill>
            <a:prstDash val="solid"/>
          </a:ln>
        </p:spPr>
      </p:sp>
      <p:sp>
        <p:nvSpPr>
          <p:cNvPr id="7" name="Shape 5"/>
          <p:cNvSpPr/>
          <p:nvPr/>
        </p:nvSpPr>
        <p:spPr>
          <a:xfrm>
            <a:off x="822960" y="3227832"/>
            <a:ext cx="475488" cy="475488"/>
          </a:xfrm>
          <a:prstGeom prst="ellipse">
            <a:avLst/>
          </a:prstGeom>
          <a:solidFill>
            <a:srgbClr val="0C8A78"/>
          </a:solidFill>
          <a:ln w="12700">
            <a:solidFill>
              <a:srgbClr val="0C8A78"/>
            </a:solidFill>
            <a:prstDash val="solid"/>
          </a:ln>
        </p:spPr>
      </p:sp>
      <p:sp>
        <p:nvSpPr>
          <p:cNvPr id="8" name="Text 6"/>
          <p:cNvSpPr/>
          <p:nvPr/>
        </p:nvSpPr>
        <p:spPr>
          <a:xfrm>
            <a:off x="822960"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9" name="Text 7"/>
          <p:cNvSpPr/>
          <p:nvPr/>
        </p:nvSpPr>
        <p:spPr>
          <a:xfrm>
            <a:off x="841248"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55D6BE"/>
                </a:solidFill>
              </a:rPr>
              <a:t>MAP THE WORK</a:t>
            </a:r>
            <a:endParaRPr lang="en-US" sz="1300" dirty="0"/>
          </a:p>
        </p:txBody>
      </p:sp>
      <p:sp>
        <p:nvSpPr>
          <p:cNvPr id="10" name="Text 8"/>
          <p:cNvSpPr/>
          <p:nvPr/>
        </p:nvSpPr>
        <p:spPr>
          <a:xfrm>
            <a:off x="886968"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What should the agent do - and never do?</a:t>
            </a:r>
            <a:endParaRPr lang="en-US" sz="1450" dirty="0"/>
          </a:p>
        </p:txBody>
      </p:sp>
      <p:sp>
        <p:nvSpPr>
          <p:cNvPr id="11" name="Shape 9"/>
          <p:cNvSpPr/>
          <p:nvPr/>
        </p:nvSpPr>
        <p:spPr>
          <a:xfrm>
            <a:off x="3291840" y="3035808"/>
            <a:ext cx="2331720" cy="1965960"/>
          </a:xfrm>
          <a:prstGeom prst="roundRect">
            <a:avLst>
              <a:gd name="adj" fmla="val 3721"/>
            </a:avLst>
          </a:prstGeom>
          <a:solidFill>
            <a:srgbClr val="0D3E59"/>
          </a:solidFill>
          <a:ln w="15240">
            <a:solidFill>
              <a:srgbClr val="0C8A78"/>
            </a:solidFill>
            <a:prstDash val="solid"/>
          </a:ln>
        </p:spPr>
      </p:sp>
      <p:sp>
        <p:nvSpPr>
          <p:cNvPr id="12" name="Shape 10"/>
          <p:cNvSpPr/>
          <p:nvPr/>
        </p:nvSpPr>
        <p:spPr>
          <a:xfrm>
            <a:off x="3456432" y="3227832"/>
            <a:ext cx="475488" cy="475488"/>
          </a:xfrm>
          <a:prstGeom prst="ellipse">
            <a:avLst/>
          </a:prstGeom>
          <a:solidFill>
            <a:srgbClr val="0C8A78"/>
          </a:solidFill>
          <a:ln w="12700">
            <a:solidFill>
              <a:srgbClr val="0C8A78"/>
            </a:solidFill>
            <a:prstDash val="solid"/>
          </a:ln>
        </p:spPr>
      </p:sp>
      <p:sp>
        <p:nvSpPr>
          <p:cNvPr id="13" name="Text 11"/>
          <p:cNvSpPr/>
          <p:nvPr/>
        </p:nvSpPr>
        <p:spPr>
          <a:xfrm>
            <a:off x="3456432"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474720"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55D6BE"/>
                </a:solidFill>
              </a:rPr>
              <a:t>NAME THE OWNER</a:t>
            </a:r>
            <a:endParaRPr lang="en-US" sz="1300" dirty="0"/>
          </a:p>
        </p:txBody>
      </p:sp>
      <p:sp>
        <p:nvSpPr>
          <p:cNvPr id="15" name="Text 13"/>
          <p:cNvSpPr/>
          <p:nvPr/>
        </p:nvSpPr>
        <p:spPr>
          <a:xfrm>
            <a:off x="3520440"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Who reviews, approves, escalates and stops?</a:t>
            </a:r>
            <a:endParaRPr lang="en-US" sz="1450" dirty="0"/>
          </a:p>
        </p:txBody>
      </p:sp>
      <p:sp>
        <p:nvSpPr>
          <p:cNvPr id="16" name="Shape 14"/>
          <p:cNvSpPr/>
          <p:nvPr/>
        </p:nvSpPr>
        <p:spPr>
          <a:xfrm>
            <a:off x="5925312" y="3035808"/>
            <a:ext cx="2331720" cy="1965960"/>
          </a:xfrm>
          <a:prstGeom prst="roundRect">
            <a:avLst>
              <a:gd name="adj" fmla="val 3721"/>
            </a:avLst>
          </a:prstGeom>
          <a:solidFill>
            <a:srgbClr val="163D55"/>
          </a:solidFill>
          <a:ln w="15240">
            <a:solidFill>
              <a:srgbClr val="F4B942"/>
            </a:solidFill>
            <a:prstDash val="solid"/>
          </a:ln>
        </p:spPr>
      </p:sp>
      <p:sp>
        <p:nvSpPr>
          <p:cNvPr id="17" name="Shape 15"/>
          <p:cNvSpPr/>
          <p:nvPr/>
        </p:nvSpPr>
        <p:spPr>
          <a:xfrm>
            <a:off x="6089904" y="3227832"/>
            <a:ext cx="475488" cy="475488"/>
          </a:xfrm>
          <a:prstGeom prst="ellipse">
            <a:avLst/>
          </a:prstGeom>
          <a:solidFill>
            <a:srgbClr val="F4B942"/>
          </a:solidFill>
          <a:ln w="12700">
            <a:solidFill>
              <a:srgbClr val="F4B942"/>
            </a:solidFill>
            <a:prstDash val="solid"/>
          </a:ln>
        </p:spPr>
      </p:sp>
      <p:sp>
        <p:nvSpPr>
          <p:cNvPr id="18" name="Text 16"/>
          <p:cNvSpPr/>
          <p:nvPr/>
        </p:nvSpPr>
        <p:spPr>
          <a:xfrm>
            <a:off x="6089904" y="3346704"/>
            <a:ext cx="475488" cy="190195"/>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9" name="Text 17"/>
          <p:cNvSpPr/>
          <p:nvPr/>
        </p:nvSpPr>
        <p:spPr>
          <a:xfrm>
            <a:off x="6108192" y="3858768"/>
            <a:ext cx="1956816" cy="274320"/>
          </a:xfrm>
          <a:prstGeom prst="rect">
            <a:avLst/>
          </a:prstGeom>
          <a:noFill/>
          <a:ln/>
        </p:spPr>
        <p:txBody>
          <a:bodyPr wrap="square" lIns="0" tIns="0" rIns="0" bIns="0" rtlCol="0" anchor="ctr"/>
          <a:lstStyle/>
          <a:p>
            <a:pPr algn="ctr" indent="0" marL="0">
              <a:buNone/>
            </a:pPr>
            <a:r>
              <a:rPr lang="en-US" sz="1300" b="1" spc="80" kern="0" dirty="0">
                <a:solidFill>
                  <a:srgbClr val="F4B942"/>
                </a:solidFill>
              </a:rPr>
              <a:t>COACH ONE PERSON</a:t>
            </a:r>
            <a:endParaRPr lang="en-US" sz="1300" dirty="0"/>
          </a:p>
        </p:txBody>
      </p:sp>
      <p:sp>
        <p:nvSpPr>
          <p:cNvPr id="20" name="Text 18"/>
          <p:cNvSpPr/>
          <p:nvPr/>
        </p:nvSpPr>
        <p:spPr>
          <a:xfrm>
            <a:off x="6153912" y="4279392"/>
            <a:ext cx="1874520" cy="502920"/>
          </a:xfrm>
          <a:prstGeom prst="rect">
            <a:avLst/>
          </a:prstGeom>
          <a:noFill/>
          <a:ln/>
        </p:spPr>
        <p:txBody>
          <a:bodyPr wrap="square" lIns="0" tIns="0" rIns="0" bIns="0" rtlCol="0" anchor="ctr">
            <a:normAutofit/>
          </a:bodyPr>
          <a:lstStyle/>
          <a:p>
            <a:pPr algn="ctr" indent="0" marL="0">
              <a:buNone/>
            </a:pPr>
            <a:r>
              <a:rPr lang="en-US" sz="1450" dirty="0">
                <a:solidFill>
                  <a:srgbClr val="FFFFFF"/>
                </a:solidFill>
              </a:rPr>
              <a:t>Use GROW and agree a safe two-week experiment.</a:t>
            </a:r>
            <a:endParaRPr lang="en-US" sz="1450" dirty="0"/>
          </a:p>
        </p:txBody>
      </p:sp>
      <p:pic>
        <p:nvPicPr>
          <p:cNvPr id="21" name="Image 0" descr="QR code to the AI Agent Job Redesign Coach">
            <a:hlinkClick r:id="rId2" tooltip=""/>
          </p:cNvPr>
          <p:cNvPicPr>
            <a:picLocks noChangeAspect="1"/>
          </p:cNvPicPr>
          <p:nvPr/>
        </p:nvPicPr>
        <p:blipFill>
          <a:blip r:embed="rId1"/>
          <a:stretch>
            <a:fillRect/>
          </a:stretch>
        </p:blipFill>
        <p:spPr>
          <a:xfrm>
            <a:off x="9281160" y="1124712"/>
            <a:ext cx="1828800" cy="1828800"/>
          </a:xfrm>
          <a:prstGeom prst="rect">
            <a:avLst/>
          </a:prstGeom>
        </p:spPr>
      </p:pic>
      <p:sp>
        <p:nvSpPr>
          <p:cNvPr id="22" name="Text 19"/>
          <p:cNvSpPr/>
          <p:nvPr/>
        </p:nvSpPr>
        <p:spPr>
          <a:xfrm>
            <a:off x="9235440" y="3200400"/>
            <a:ext cx="1920240" cy="256032"/>
          </a:xfrm>
          <a:prstGeom prst="rect">
            <a:avLst/>
          </a:prstGeom>
          <a:noFill/>
          <a:ln/>
        </p:spPr>
        <p:txBody>
          <a:bodyPr wrap="square" lIns="0" tIns="0" rIns="0" bIns="0" rtlCol="0" anchor="ctr"/>
          <a:lstStyle/>
          <a:p>
            <a:pPr algn="ctr" indent="0" marL="0">
              <a:buNone/>
            </a:pPr>
            <a:r>
              <a:rPr lang="en-US" sz="1500" b="1" spc="120" kern="0" dirty="0">
                <a:solidFill>
                  <a:srgbClr val="55D6BE"/>
                </a:solidFill>
              </a:rPr>
              <a:t>PRACTISE NOW</a:t>
            </a:r>
            <a:endParaRPr lang="en-US" sz="1500" dirty="0"/>
          </a:p>
        </p:txBody>
      </p:sp>
      <p:sp>
        <p:nvSpPr>
          <p:cNvPr id="23" name="Text 20"/>
          <p:cNvSpPr/>
          <p:nvPr/>
        </p:nvSpPr>
        <p:spPr>
          <a:xfrm>
            <a:off x="8887968" y="3730752"/>
            <a:ext cx="2606040" cy="219456"/>
          </a:xfrm>
          <a:prstGeom prst="rect">
            <a:avLst/>
          </a:prstGeom>
          <a:noFill/>
          <a:ln/>
        </p:spPr>
        <p:txBody>
          <a:bodyPr wrap="square" lIns="0" tIns="0" rIns="0" bIns="0" rtlCol="0" anchor="ctr">
            <a:normAutofit/>
          </a:bodyPr>
          <a:lstStyle/>
          <a:p>
            <a:pPr algn="ctr" indent="0" marL="0">
              <a:buNone/>
            </a:pPr>
            <a:r>
              <a:rPr lang="en-US" sz="950" dirty="0">
                <a:solidFill>
                  <a:srgbClr val="FFFFFF"/>
                </a:solidFill>
              </a:rPr>
              <a:t>alfredang.github.io/AICoahcing</a:t>
            </a:r>
            <a:endParaRPr lang="en-US" sz="950" dirty="0"/>
          </a:p>
        </p:txBody>
      </p:sp>
      <p:sp>
        <p:nvSpPr>
          <p:cNvPr id="24" name="Text 21"/>
          <p:cNvSpPr/>
          <p:nvPr/>
        </p:nvSpPr>
        <p:spPr>
          <a:xfrm>
            <a:off x="658368" y="5632704"/>
            <a:ext cx="10378440" cy="438912"/>
          </a:xfrm>
          <a:prstGeom prst="rect">
            <a:avLst/>
          </a:prstGeom>
          <a:noFill/>
          <a:ln/>
        </p:spPr>
        <p:txBody>
          <a:bodyPr wrap="square" lIns="0" tIns="0" rIns="0" bIns="0" rtlCol="0" anchor="ctr">
            <a:normAutofit/>
          </a:bodyPr>
          <a:lstStyle/>
          <a:p>
            <a:pPr algn="l" indent="0" marL="0">
              <a:buNone/>
            </a:pPr>
            <a:r>
              <a:rPr lang="en-US" sz="2000" b="1" dirty="0">
                <a:solidFill>
                  <a:srgbClr val="F4B942"/>
                </a:solidFill>
              </a:rPr>
              <a:t>MEASURE: cycle time  |  defect count  |  exception rate  |  role-confidence score</a:t>
            </a:r>
            <a:endParaRPr lang="en-US" sz="2000" dirty="0"/>
          </a:p>
        </p:txBody>
      </p:sp>
      <p:sp>
        <p:nvSpPr>
          <p:cNvPr id="25" name="Text 22">
            <a:hlinkClick r:id="rId3" tooltip=""/>
          </p:cNvPr>
          <p:cNvSpPr/>
          <p:nvPr/>
        </p:nvSpPr>
        <p:spPr>
          <a:xfrm>
            <a:off x="658368" y="6355080"/>
            <a:ext cx="9921240" cy="219456"/>
          </a:xfrm>
          <a:prstGeom prst="rect">
            <a:avLst/>
          </a:prstGeom>
          <a:noFill/>
          <a:ln/>
        </p:spPr>
        <p:txBody>
          <a:bodyPr wrap="square" lIns="0" tIns="0" rIns="0" bIns="0" rtlCol="0" anchor="ctr">
            <a:normAutofit/>
          </a:bodyPr>
          <a:lstStyle/>
          <a:p>
            <a:pPr indent="0" marL="0">
              <a:buNone/>
            </a:pPr>
            <a:r>
              <a:rPr lang="en-US" sz="1000" u="sng" dirty="0">
                <a:solidFill>
                  <a:srgbClr val="A7C9D2"/>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Simulator and slides: github.com/alfredang/AICoahcing</a:t>
            </a:r>
            <a:endParaRPr lang="en-US" sz="1000" dirty="0"/>
          </a:p>
        </p:txBody>
      </p:sp>
      <p:sp>
        <p:nvSpPr>
          <p:cNvPr id="26" name="Text 23"/>
          <p:cNvSpPr/>
          <p:nvPr/>
        </p:nvSpPr>
        <p:spPr>
          <a:xfrm>
            <a:off x="9464040" y="6373368"/>
            <a:ext cx="2176272" cy="201168"/>
          </a:xfrm>
          <a:prstGeom prst="rect">
            <a:avLst/>
          </a:prstGeom>
          <a:noFill/>
          <a:ln/>
        </p:spPr>
        <p:txBody>
          <a:bodyPr wrap="square" lIns="0" tIns="0" rIns="0" bIns="0" rtlCol="0" anchor="ctr"/>
          <a:lstStyle/>
          <a:p>
            <a:pPr algn="r" indent="0" marL="0">
              <a:buNone/>
            </a:pPr>
            <a:r>
              <a:rPr lang="en-US" sz="850" b="1" spc="60" kern="0" dirty="0">
                <a:solidFill>
                  <a:srgbClr val="55D6BE"/>
                </a:solidFill>
                <a:latin typeface="Arial" pitchFamily="34" charset="0"/>
                <a:ea typeface="Arial" pitchFamily="34" charset="-122"/>
                <a:cs typeface="Arial" pitchFamily="34" charset="-120"/>
              </a:rPr>
              <a:t>TERTIARY INFOTECH ACADEMY</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Tertiary Infotech Academy Pte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 Redesign for Managing AI Agents</dc:title>
  <dc:subject>Community of Practice practitioner sharing on work redesign for managing AI agents</dc:subject>
  <dc:creator>Dr Alfred Ang</dc:creator>
  <cp:lastModifiedBy>Dr Alfred Ang</cp:lastModifiedBy>
  <cp:revision>1</cp:revision>
  <dcterms:created xsi:type="dcterms:W3CDTF">2026-08-26T13:09:22Z</dcterms:created>
  <dcterms:modified xsi:type="dcterms:W3CDTF">2026-08-26T13:09:22Z</dcterms:modified>
</cp:coreProperties>
</file>